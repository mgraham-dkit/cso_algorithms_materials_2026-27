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7"/>
  </p:notesMasterIdLst>
  <p:sldIdLst>
    <p:sldId id="256" r:id="rId2"/>
    <p:sldId id="262" r:id="rId3"/>
    <p:sldId id="281" r:id="rId4"/>
    <p:sldId id="285" r:id="rId5"/>
    <p:sldId id="286" r:id="rId6"/>
    <p:sldId id="287" r:id="rId7"/>
    <p:sldId id="288" r:id="rId8"/>
    <p:sldId id="289" r:id="rId9"/>
    <p:sldId id="290" r:id="rId10"/>
    <p:sldId id="291" r:id="rId11"/>
    <p:sldId id="292" r:id="rId12"/>
    <p:sldId id="298" r:id="rId13"/>
    <p:sldId id="299" r:id="rId14"/>
    <p:sldId id="300" r:id="rId15"/>
    <p:sldId id="293" r:id="rId16"/>
    <p:sldId id="294" r:id="rId17"/>
    <p:sldId id="301" r:id="rId18"/>
    <p:sldId id="295" r:id="rId19"/>
    <p:sldId id="296" r:id="rId20"/>
    <p:sldId id="297" r:id="rId21"/>
    <p:sldId id="302" r:id="rId22"/>
    <p:sldId id="303" r:id="rId23"/>
    <p:sldId id="304" r:id="rId24"/>
    <p:sldId id="306" r:id="rId25"/>
    <p:sldId id="307" r:id="rId26"/>
    <p:sldId id="305" r:id="rId27"/>
    <p:sldId id="308" r:id="rId28"/>
    <p:sldId id="309" r:id="rId29"/>
    <p:sldId id="284" r:id="rId30"/>
    <p:sldId id="312" r:id="rId31"/>
    <p:sldId id="283" r:id="rId32"/>
    <p:sldId id="310" r:id="rId33"/>
    <p:sldId id="311" r:id="rId34"/>
    <p:sldId id="263" r:id="rId35"/>
    <p:sldId id="28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35A009A-2D48-45E7-9FCC-97712C542958}">
          <p14:sldIdLst>
            <p14:sldId id="256"/>
          </p14:sldIdLst>
        </p14:section>
        <p14:section name="Introduction" id="{77A18E9D-2182-48D1-8268-F1A34F0C4333}">
          <p14:sldIdLst>
            <p14:sldId id="262"/>
            <p14:sldId id="281"/>
          </p14:sldIdLst>
        </p14:section>
        <p14:section name="Outlining The Two-Pointer Approach" id="{0BA4E6CE-AC35-4575-9C50-AF4B186F7EA8}">
          <p14:sldIdLst>
            <p14:sldId id="285"/>
            <p14:sldId id="286"/>
            <p14:sldId id="287"/>
          </p14:sldIdLst>
        </p14:section>
        <p14:section name="Closing window pattern" id="{5511667A-1A01-40B9-884C-56FFE07E31AF}">
          <p14:sldIdLst>
            <p14:sldId id="288"/>
            <p14:sldId id="289"/>
            <p14:sldId id="290"/>
            <p14:sldId id="291"/>
            <p14:sldId id="292"/>
          </p14:sldIdLst>
        </p14:section>
        <p14:section name="Sliding Window Pattern" id="{FD22D816-F7DF-4259-8846-55890DABB6E6}">
          <p14:sldIdLst>
            <p14:sldId id="298"/>
            <p14:sldId id="299"/>
            <p14:sldId id="300"/>
            <p14:sldId id="293"/>
            <p14:sldId id="294"/>
            <p14:sldId id="301"/>
            <p14:sldId id="295"/>
            <p14:sldId id="296"/>
            <p14:sldId id="297"/>
          </p14:sldIdLst>
        </p14:section>
        <p14:section name="Read-Write Pattern" id="{35410E0C-D1E6-4B12-94C1-DBD57A863BAD}">
          <p14:sldIdLst>
            <p14:sldId id="302"/>
            <p14:sldId id="303"/>
            <p14:sldId id="304"/>
            <p14:sldId id="306"/>
            <p14:sldId id="307"/>
            <p14:sldId id="305"/>
            <p14:sldId id="308"/>
            <p14:sldId id="309"/>
          </p14:sldIdLst>
        </p14:section>
        <p14:section name="When to Use and Exercises" id="{77FA79B5-6565-4C68-9FDD-D87A00E06158}">
          <p14:sldIdLst>
            <p14:sldId id="284"/>
            <p14:sldId id="312"/>
            <p14:sldId id="283"/>
            <p14:sldId id="310"/>
            <p14:sldId id="311"/>
          </p14:sldIdLst>
        </p14:section>
        <p14:section name="REWRITE: Summary" id="{EF2CE5A9-5D47-4861-929D-9F35D548C0F2}">
          <p14:sldIdLst>
            <p14:sldId id="263"/>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62A39F"/>
    <a:srgbClr val="FFA015"/>
    <a:srgbClr val="38D1E0"/>
    <a:srgbClr val="FFF3CD"/>
    <a:srgbClr val="FFB7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200" autoAdjust="0"/>
  </p:normalViewPr>
  <p:slideViewPr>
    <p:cSldViewPr snapToGrid="0">
      <p:cViewPr varScale="1">
        <p:scale>
          <a:sx n="71" d="100"/>
          <a:sy n="71" d="100"/>
        </p:scale>
        <p:origin x="867"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60EE8D-D51E-4102-A059-0B33F32EC08B}" type="datetimeFigureOut">
              <a:rPr lang="en-IE" smtClean="0"/>
              <a:t>09/10/2026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454E79-9ED1-4AEE-A15D-4C49D8A8EBF0}" type="slidenum">
              <a:rPr lang="en-IE" smtClean="0"/>
              <a:t>‹#›</a:t>
            </a:fld>
            <a:endParaRPr lang="en-IE"/>
          </a:p>
        </p:txBody>
      </p:sp>
    </p:spTree>
    <p:extLst>
      <p:ext uri="{BB962C8B-B14F-4D97-AF65-F5344CB8AC3E}">
        <p14:creationId xmlns:p14="http://schemas.microsoft.com/office/powerpoint/2010/main" val="3305450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*Remember, this is calculated using big O rules:</a:t>
            </a:r>
          </a:p>
          <a:p>
            <a:r>
              <a:rPr lang="en-IE" dirty="0"/>
              <a:t>(n-1) + (n-2) + … + 1 + 0 = n(n-1)/2</a:t>
            </a:r>
          </a:p>
          <a:p>
            <a:r>
              <a:rPr lang="en-IE" dirty="0"/>
              <a:t>n(n-1) = n</a:t>
            </a:r>
            <a:r>
              <a:rPr lang="en-IE" baseline="30000" dirty="0"/>
              <a:t>2</a:t>
            </a:r>
            <a:r>
              <a:rPr lang="en-IE" dirty="0"/>
              <a:t> + n</a:t>
            </a:r>
          </a:p>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(n</a:t>
            </a:r>
            <a:r>
              <a:rPr lang="en-IE" baseline="30000" dirty="0"/>
              <a:t>2</a:t>
            </a:r>
            <a:r>
              <a:rPr lang="en-IE" dirty="0"/>
              <a:t> + n)/2 -&gt; eliminate constants (per big O rules – constant increase is a fixed change; as n changes that constant cost is not noticeable in performance) -&gt; n</a:t>
            </a:r>
            <a:r>
              <a:rPr lang="en-IE" baseline="30000" dirty="0"/>
              <a:t>2</a:t>
            </a:r>
            <a:r>
              <a:rPr lang="en-IE" dirty="0"/>
              <a:t> + n</a:t>
            </a:r>
          </a:p>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n</a:t>
            </a:r>
            <a:r>
              <a:rPr lang="en-IE" baseline="30000" dirty="0"/>
              <a:t>2</a:t>
            </a:r>
            <a:r>
              <a:rPr lang="en-IE" dirty="0"/>
              <a:t> + n -&gt; eliminate lower order terms (per big O rules – linear increase is not enough to really change the classification of the algorithm, as n changes, the linear increase is not felt nearly as much as the quadratic) -&gt; n</a:t>
            </a:r>
            <a:r>
              <a:rPr lang="en-IE" baseline="30000" dirty="0"/>
              <a:t>2</a:t>
            </a:r>
            <a:endParaRPr lang="en-I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E" dirty="0"/>
          </a:p>
          <a:p>
            <a:endParaRPr lang="en-IE" dirty="0"/>
          </a:p>
        </p:txBody>
      </p:sp>
      <p:sp>
        <p:nvSpPr>
          <p:cNvPr id="4" name="Slide Number Placeholder 3"/>
          <p:cNvSpPr>
            <a:spLocks noGrp="1"/>
          </p:cNvSpPr>
          <p:nvPr>
            <p:ph type="sldNum" sz="quarter" idx="5"/>
          </p:nvPr>
        </p:nvSpPr>
        <p:spPr/>
        <p:txBody>
          <a:bodyPr/>
          <a:lstStyle/>
          <a:p>
            <a:fld id="{30454E79-9ED1-4AEE-A15D-4C49D8A8EBF0}" type="slidenum">
              <a:rPr lang="en-IE" smtClean="0"/>
              <a:t>4</a:t>
            </a:fld>
            <a:endParaRPr lang="en-IE"/>
          </a:p>
        </p:txBody>
      </p:sp>
    </p:spTree>
    <p:extLst>
      <p:ext uri="{BB962C8B-B14F-4D97-AF65-F5344CB8AC3E}">
        <p14:creationId xmlns:p14="http://schemas.microsoft.com/office/powerpoint/2010/main" val="1233331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30454E79-9ED1-4AEE-A15D-4C49D8A8EBF0}" type="slidenum">
              <a:rPr lang="en-IE" smtClean="0"/>
              <a:t>9</a:t>
            </a:fld>
            <a:endParaRPr lang="en-IE"/>
          </a:p>
        </p:txBody>
      </p:sp>
    </p:spTree>
    <p:extLst>
      <p:ext uri="{BB962C8B-B14F-4D97-AF65-F5344CB8AC3E}">
        <p14:creationId xmlns:p14="http://schemas.microsoft.com/office/powerpoint/2010/main" val="1512878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If sorting is needed, the costs would change!</a:t>
            </a:r>
          </a:p>
          <a:p>
            <a:r>
              <a:rPr lang="en-IE" dirty="0"/>
              <a:t>Time cost: </a:t>
            </a:r>
          </a:p>
          <a:p>
            <a:pPr marL="171450" indent="-171450">
              <a:buFont typeface="Arial" panose="020B0604020202020204" pitchFamily="34" charset="0"/>
              <a:buChar char="•"/>
            </a:pPr>
            <a:r>
              <a:rPr lang="en-IE" dirty="0"/>
              <a:t>O(n log n) if the sort cost is O(n log n)</a:t>
            </a:r>
          </a:p>
          <a:p>
            <a:pPr marL="171450" indent="-171450">
              <a:buFont typeface="Arial" panose="020B0604020202020204" pitchFamily="34" charset="0"/>
              <a:buChar char="•"/>
            </a:pPr>
            <a:r>
              <a:rPr lang="en-IE" dirty="0"/>
              <a:t>Time cost essentially matches the cost of the chosen sorting algorithm, as sorting is always going to be more expensive </a:t>
            </a:r>
          </a:p>
          <a:p>
            <a:endParaRPr lang="en-IE" dirty="0"/>
          </a:p>
          <a:p>
            <a:r>
              <a:rPr lang="en-IE" dirty="0"/>
              <a:t>Space cost:</a:t>
            </a:r>
          </a:p>
          <a:p>
            <a:pPr marL="171450" indent="-171450">
              <a:buFont typeface="Arial" panose="020B0604020202020204" pitchFamily="34" charset="0"/>
              <a:buChar char="•"/>
            </a:pPr>
            <a:r>
              <a:rPr lang="en-IE" dirty="0"/>
              <a:t>If the action needs to be “pure” – i.e. have no side effects, the data must be duplicated so that the duplicate (not the original) can be sorted</a:t>
            </a:r>
          </a:p>
          <a:p>
            <a:pPr marL="171450" indent="-171450">
              <a:buFont typeface="Arial" panose="020B0604020202020204" pitchFamily="34" charset="0"/>
              <a:buChar char="•"/>
            </a:pPr>
            <a:r>
              <a:rPr lang="en-IE" dirty="0"/>
              <a:t>Space cost for duplication: O(n)</a:t>
            </a:r>
          </a:p>
          <a:p>
            <a:pPr marL="171450" indent="-171450">
              <a:buFont typeface="Arial" panose="020B0604020202020204" pitchFamily="34" charset="0"/>
              <a:buChar char="•"/>
            </a:pPr>
            <a:r>
              <a:rPr lang="en-IE" dirty="0"/>
              <a:t>No time cost increase as duplication time cost = O(n), which would not impact the categorisation of the original algorithm implementation</a:t>
            </a:r>
          </a:p>
        </p:txBody>
      </p:sp>
      <p:sp>
        <p:nvSpPr>
          <p:cNvPr id="4" name="Slide Number Placeholder 3"/>
          <p:cNvSpPr>
            <a:spLocks noGrp="1"/>
          </p:cNvSpPr>
          <p:nvPr>
            <p:ph type="sldNum" sz="quarter" idx="5"/>
          </p:nvPr>
        </p:nvSpPr>
        <p:spPr/>
        <p:txBody>
          <a:bodyPr/>
          <a:lstStyle/>
          <a:p>
            <a:fld id="{30454E79-9ED1-4AEE-A15D-4C49D8A8EBF0}" type="slidenum">
              <a:rPr lang="en-IE" smtClean="0"/>
              <a:t>11</a:t>
            </a:fld>
            <a:endParaRPr lang="en-IE"/>
          </a:p>
        </p:txBody>
      </p:sp>
    </p:spTree>
    <p:extLst>
      <p:ext uri="{BB962C8B-B14F-4D97-AF65-F5344CB8AC3E}">
        <p14:creationId xmlns:p14="http://schemas.microsoft.com/office/powerpoint/2010/main" val="1284010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30454E79-9ED1-4AEE-A15D-4C49D8A8EBF0}" type="slidenum">
              <a:rPr lang="en-IE" smtClean="0"/>
              <a:t>14</a:t>
            </a:fld>
            <a:endParaRPr lang="en-IE"/>
          </a:p>
        </p:txBody>
      </p:sp>
    </p:spTree>
    <p:extLst>
      <p:ext uri="{BB962C8B-B14F-4D97-AF65-F5344CB8AC3E}">
        <p14:creationId xmlns:p14="http://schemas.microsoft.com/office/powerpoint/2010/main" val="2870538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CFA0C-BDEA-B29F-8087-A887A7CEE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F562B-DE5F-D757-B958-177BB5B0D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CEE81-3A68-7E9E-2E07-CE06BC128D39}"/>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BE94D97C-D7A4-3CE7-C5AA-881217576C6D}"/>
              </a:ext>
            </a:extLst>
          </p:cNvPr>
          <p:cNvSpPr>
            <a:spLocks noGrp="1"/>
          </p:cNvSpPr>
          <p:nvPr>
            <p:ph type="sldNum" sz="quarter" idx="5"/>
          </p:nvPr>
        </p:nvSpPr>
        <p:spPr/>
        <p:txBody>
          <a:bodyPr/>
          <a:lstStyle/>
          <a:p>
            <a:fld id="{30454E79-9ED1-4AEE-A15D-4C49D8A8EBF0}" type="slidenum">
              <a:rPr lang="en-IE" smtClean="0"/>
              <a:t>18</a:t>
            </a:fld>
            <a:endParaRPr lang="en-IE"/>
          </a:p>
        </p:txBody>
      </p:sp>
    </p:spTree>
    <p:extLst>
      <p:ext uri="{BB962C8B-B14F-4D97-AF65-F5344CB8AC3E}">
        <p14:creationId xmlns:p14="http://schemas.microsoft.com/office/powerpoint/2010/main" val="1608984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936FD-54F4-43CA-D06B-63F477DB8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038F6-56EC-C2C6-42A2-BA2DE25B4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D0CF8C-A764-0C95-FEFD-4CFA2C5DC4AC}"/>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C0689DE3-1E1C-D4DD-C568-C26D17A8452C}"/>
              </a:ext>
            </a:extLst>
          </p:cNvPr>
          <p:cNvSpPr>
            <a:spLocks noGrp="1"/>
          </p:cNvSpPr>
          <p:nvPr>
            <p:ph type="sldNum" sz="quarter" idx="5"/>
          </p:nvPr>
        </p:nvSpPr>
        <p:spPr/>
        <p:txBody>
          <a:bodyPr/>
          <a:lstStyle/>
          <a:p>
            <a:fld id="{30454E79-9ED1-4AEE-A15D-4C49D8A8EBF0}" type="slidenum">
              <a:rPr lang="en-IE" smtClean="0"/>
              <a:t>20</a:t>
            </a:fld>
            <a:endParaRPr lang="en-IE"/>
          </a:p>
        </p:txBody>
      </p:sp>
    </p:spTree>
    <p:extLst>
      <p:ext uri="{BB962C8B-B14F-4D97-AF65-F5344CB8AC3E}">
        <p14:creationId xmlns:p14="http://schemas.microsoft.com/office/powerpoint/2010/main" val="2932316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Note: </a:t>
            </a:r>
            <a:r>
              <a:rPr lang="en-IE" dirty="0" err="1"/>
              <a:t>arraycopy</a:t>
            </a:r>
            <a:r>
              <a:rPr lang="en-IE" dirty="0"/>
              <a:t>() is a more efficient way to copy chunks of data than manual copying, but it still performs an O(n) loop through the data. It’s more efficient because the underlying code is done in C++, a lower-level action that can carry out block copies. Despite this, it is still considered O(n) due to the n iteration.</a:t>
            </a:r>
          </a:p>
        </p:txBody>
      </p:sp>
      <p:sp>
        <p:nvSpPr>
          <p:cNvPr id="4" name="Slide Number Placeholder 3"/>
          <p:cNvSpPr>
            <a:spLocks noGrp="1"/>
          </p:cNvSpPr>
          <p:nvPr>
            <p:ph type="sldNum" sz="quarter" idx="5"/>
          </p:nvPr>
        </p:nvSpPr>
        <p:spPr/>
        <p:txBody>
          <a:bodyPr/>
          <a:lstStyle/>
          <a:p>
            <a:fld id="{30454E79-9ED1-4AEE-A15D-4C49D8A8EBF0}" type="slidenum">
              <a:rPr lang="en-IE" smtClean="0"/>
              <a:t>21</a:t>
            </a:fld>
            <a:endParaRPr lang="en-IE"/>
          </a:p>
        </p:txBody>
      </p:sp>
    </p:spTree>
    <p:extLst>
      <p:ext uri="{BB962C8B-B14F-4D97-AF65-F5344CB8AC3E}">
        <p14:creationId xmlns:p14="http://schemas.microsoft.com/office/powerpoint/2010/main" val="1954051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1B082-AE50-3B55-7666-3D1D34C5A0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BE1E0-5AD2-4A97-9EEC-F301C06AE0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80F70-9CE8-2521-3D0E-6A59BBDBB352}"/>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086C945D-6419-66FA-5D64-F7A0A5ACFEF5}"/>
              </a:ext>
            </a:extLst>
          </p:cNvPr>
          <p:cNvSpPr>
            <a:spLocks noGrp="1"/>
          </p:cNvSpPr>
          <p:nvPr>
            <p:ph type="sldNum" sz="quarter" idx="5"/>
          </p:nvPr>
        </p:nvSpPr>
        <p:spPr/>
        <p:txBody>
          <a:bodyPr/>
          <a:lstStyle/>
          <a:p>
            <a:fld id="{30454E79-9ED1-4AEE-A15D-4C49D8A8EBF0}" type="slidenum">
              <a:rPr lang="en-IE" smtClean="0"/>
              <a:t>22</a:t>
            </a:fld>
            <a:endParaRPr lang="en-IE"/>
          </a:p>
        </p:txBody>
      </p:sp>
    </p:spTree>
    <p:extLst>
      <p:ext uri="{BB962C8B-B14F-4D97-AF65-F5344CB8AC3E}">
        <p14:creationId xmlns:p14="http://schemas.microsoft.com/office/powerpoint/2010/main" val="781932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6EBED-1ED3-7502-0EB8-A98FBC9CD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E3992-5F62-D4BD-0505-654D22E4C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58FCC4-F2CE-F262-45F9-675599467571}"/>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BDA2698E-B16C-8F47-F7A8-0E6A4F175A71}"/>
              </a:ext>
            </a:extLst>
          </p:cNvPr>
          <p:cNvSpPr>
            <a:spLocks noGrp="1"/>
          </p:cNvSpPr>
          <p:nvPr>
            <p:ph type="sldNum" sz="quarter" idx="5"/>
          </p:nvPr>
        </p:nvSpPr>
        <p:spPr/>
        <p:txBody>
          <a:bodyPr/>
          <a:lstStyle/>
          <a:p>
            <a:fld id="{30454E79-9ED1-4AEE-A15D-4C49D8A8EBF0}" type="slidenum">
              <a:rPr lang="en-IE" smtClean="0"/>
              <a:t>23</a:t>
            </a:fld>
            <a:endParaRPr lang="en-IE"/>
          </a:p>
        </p:txBody>
      </p:sp>
    </p:spTree>
    <p:extLst>
      <p:ext uri="{BB962C8B-B14F-4D97-AF65-F5344CB8AC3E}">
        <p14:creationId xmlns:p14="http://schemas.microsoft.com/office/powerpoint/2010/main" val="285503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006BE-3886-2503-ED09-96C790ABD8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5A3C4-A0D1-5B8D-C45B-2929EBBF64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50E30-AC24-C733-A4F1-6DDF01F68415}"/>
              </a:ext>
            </a:extLst>
          </p:cNvPr>
          <p:cNvSpPr>
            <a:spLocks noGrp="1"/>
          </p:cNvSpPr>
          <p:nvPr>
            <p:ph type="body" idx="1"/>
          </p:nvPr>
        </p:nvSpPr>
        <p:spPr/>
        <p:txBody>
          <a:bodyPr/>
          <a:lstStyle/>
          <a:p>
            <a:r>
              <a:rPr lang="en-IE" dirty="0"/>
              <a:t>Both versions have an O(n) operations to replace all “ghost” data, but it never overpowers (and therefore increases) the cost of the deduplication itself</a:t>
            </a:r>
          </a:p>
        </p:txBody>
      </p:sp>
      <p:sp>
        <p:nvSpPr>
          <p:cNvPr id="4" name="Slide Number Placeholder 3">
            <a:extLst>
              <a:ext uri="{FF2B5EF4-FFF2-40B4-BE49-F238E27FC236}">
                <a16:creationId xmlns:a16="http://schemas.microsoft.com/office/drawing/2014/main" id="{1104EF50-B4A8-22A9-A525-5E0BEED8E374}"/>
              </a:ext>
            </a:extLst>
          </p:cNvPr>
          <p:cNvSpPr>
            <a:spLocks noGrp="1"/>
          </p:cNvSpPr>
          <p:nvPr>
            <p:ph type="sldNum" sz="quarter" idx="5"/>
          </p:nvPr>
        </p:nvSpPr>
        <p:spPr/>
        <p:txBody>
          <a:bodyPr/>
          <a:lstStyle/>
          <a:p>
            <a:fld id="{30454E79-9ED1-4AEE-A15D-4C49D8A8EBF0}" type="slidenum">
              <a:rPr lang="en-IE" smtClean="0"/>
              <a:t>28</a:t>
            </a:fld>
            <a:endParaRPr lang="en-IE"/>
          </a:p>
        </p:txBody>
      </p:sp>
    </p:spTree>
    <p:extLst>
      <p:ext uri="{BB962C8B-B14F-4D97-AF65-F5344CB8AC3E}">
        <p14:creationId xmlns:p14="http://schemas.microsoft.com/office/powerpoint/2010/main" val="2618709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4DF7971-A8A5-4EFB-A052-05F80CCF0C20}" type="datetimeFigureOut">
              <a:rPr lang="en-IE" smtClean="0"/>
              <a:t>09/10/2026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8F4CC90-D474-4644-BD1E-E795A352ADA7}" type="slidenum">
              <a:rPr lang="en-IE" smtClean="0"/>
              <a:t>‹#›</a:t>
            </a:fld>
            <a:endParaRPr lang="en-I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521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DF7971-A8A5-4EFB-A052-05F80CCF0C20}" type="datetimeFigureOut">
              <a:rPr lang="en-IE" smtClean="0"/>
              <a:t>09/10/2026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8F4CC90-D474-4644-BD1E-E795A352ADA7}" type="slidenum">
              <a:rPr lang="en-IE" smtClean="0"/>
              <a:t>‹#›</a:t>
            </a:fld>
            <a:endParaRPr lang="en-IE"/>
          </a:p>
        </p:txBody>
      </p:sp>
    </p:spTree>
    <p:extLst>
      <p:ext uri="{BB962C8B-B14F-4D97-AF65-F5344CB8AC3E}">
        <p14:creationId xmlns:p14="http://schemas.microsoft.com/office/powerpoint/2010/main" val="589845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DF7971-A8A5-4EFB-A052-05F80CCF0C20}" type="datetimeFigureOut">
              <a:rPr lang="en-IE" smtClean="0"/>
              <a:t>09/10/2026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8F4CC90-D474-4644-BD1E-E795A352ADA7}" type="slidenum">
              <a:rPr lang="en-IE" smtClean="0"/>
              <a:t>‹#›</a:t>
            </a:fld>
            <a:endParaRPr lang="en-I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338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4DF7971-A8A5-4EFB-A052-05F80CCF0C20}" type="datetimeFigureOut">
              <a:rPr lang="en-IE" smtClean="0"/>
              <a:t>09/10/2026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B8F4CC90-D474-4644-BD1E-E795A352ADA7}" type="slidenum">
              <a:rPr lang="en-IE" smtClean="0"/>
              <a:t>‹#›</a:t>
            </a:fld>
            <a:endParaRPr lang="en-IE"/>
          </a:p>
        </p:txBody>
      </p:sp>
    </p:spTree>
    <p:extLst>
      <p:ext uri="{BB962C8B-B14F-4D97-AF65-F5344CB8AC3E}">
        <p14:creationId xmlns:p14="http://schemas.microsoft.com/office/powerpoint/2010/main" val="3803353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4DF7971-A8A5-4EFB-A052-05F80CCF0C20}" type="datetimeFigureOut">
              <a:rPr lang="en-IE" smtClean="0"/>
              <a:t>09/10/2026</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B8F4CC90-D474-4644-BD1E-E795A352ADA7}" type="slidenum">
              <a:rPr lang="en-IE" smtClean="0"/>
              <a:t>‹#›</a:t>
            </a:fld>
            <a:endParaRPr lang="en-IE"/>
          </a:p>
        </p:txBody>
      </p:sp>
    </p:spTree>
    <p:extLst>
      <p:ext uri="{BB962C8B-B14F-4D97-AF65-F5344CB8AC3E}">
        <p14:creationId xmlns:p14="http://schemas.microsoft.com/office/powerpoint/2010/main" val="282550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DF7971-A8A5-4EFB-A052-05F80CCF0C20}" type="datetimeFigureOut">
              <a:rPr lang="en-IE" smtClean="0"/>
              <a:t>09/10/2026</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B8F4CC90-D474-4644-BD1E-E795A352ADA7}" type="slidenum">
              <a:rPr lang="en-IE" smtClean="0"/>
              <a:t>‹#›</a:t>
            </a:fld>
            <a:endParaRPr lang="en-IE"/>
          </a:p>
        </p:txBody>
      </p:sp>
    </p:spTree>
    <p:extLst>
      <p:ext uri="{BB962C8B-B14F-4D97-AF65-F5344CB8AC3E}">
        <p14:creationId xmlns:p14="http://schemas.microsoft.com/office/powerpoint/2010/main" val="1711609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4DF7971-A8A5-4EFB-A052-05F80CCF0C20}" type="datetimeFigureOut">
              <a:rPr lang="en-IE" smtClean="0"/>
              <a:t>09/10/2026</a:t>
            </a:fld>
            <a:endParaRPr lang="en-IE"/>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E"/>
          </a:p>
        </p:txBody>
      </p:sp>
      <p:sp>
        <p:nvSpPr>
          <p:cNvPr id="9" name="Slide Number Placeholder 8"/>
          <p:cNvSpPr>
            <a:spLocks noGrp="1"/>
          </p:cNvSpPr>
          <p:nvPr>
            <p:ph type="sldNum" sz="quarter" idx="12"/>
          </p:nvPr>
        </p:nvSpPr>
        <p:spPr/>
        <p:txBody>
          <a:bodyPr/>
          <a:lstStyle/>
          <a:p>
            <a:fld id="{B8F4CC90-D474-4644-BD1E-E795A352ADA7}" type="slidenum">
              <a:rPr lang="en-IE" smtClean="0"/>
              <a:t>‹#›</a:t>
            </a:fld>
            <a:endParaRPr lang="en-IE"/>
          </a:p>
        </p:txBody>
      </p:sp>
    </p:spTree>
    <p:extLst>
      <p:ext uri="{BB962C8B-B14F-4D97-AF65-F5344CB8AC3E}">
        <p14:creationId xmlns:p14="http://schemas.microsoft.com/office/powerpoint/2010/main" val="3530715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4DF7971-A8A5-4EFB-A052-05F80CCF0C20}" type="datetimeFigureOut">
              <a:rPr lang="en-IE" smtClean="0"/>
              <a:t>09/10/2026</a:t>
            </a:fld>
            <a:endParaRPr lang="en-IE"/>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E"/>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8F4CC90-D474-4644-BD1E-E795A352ADA7}" type="slidenum">
              <a:rPr lang="en-IE" smtClean="0"/>
              <a:t>‹#›</a:t>
            </a:fld>
            <a:endParaRPr lang="en-IE"/>
          </a:p>
        </p:txBody>
      </p:sp>
    </p:spTree>
    <p:extLst>
      <p:ext uri="{BB962C8B-B14F-4D97-AF65-F5344CB8AC3E}">
        <p14:creationId xmlns:p14="http://schemas.microsoft.com/office/powerpoint/2010/main" val="745985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DF7971-A8A5-4EFB-A052-05F80CCF0C20}" type="datetimeFigureOut">
              <a:rPr lang="en-IE" smtClean="0"/>
              <a:t>09/10/2026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B8F4CC90-D474-4644-BD1E-E795A352ADA7}" type="slidenum">
              <a:rPr lang="en-IE" smtClean="0"/>
              <a:t>‹#›</a:t>
            </a:fld>
            <a:endParaRPr lang="en-IE"/>
          </a:p>
        </p:txBody>
      </p:sp>
    </p:spTree>
    <p:extLst>
      <p:ext uri="{BB962C8B-B14F-4D97-AF65-F5344CB8AC3E}">
        <p14:creationId xmlns:p14="http://schemas.microsoft.com/office/powerpoint/2010/main" val="3919922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DF7971-A8A5-4EFB-A052-05F80CCF0C20}" type="datetimeFigureOut">
              <a:rPr lang="en-IE" smtClean="0"/>
              <a:t>09/10/2026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8F4CC90-D474-4644-BD1E-E795A352ADA7}" type="slidenum">
              <a:rPr lang="en-IE" smtClean="0"/>
              <a:t>‹#›</a:t>
            </a:fld>
            <a:endParaRPr lang="en-IE"/>
          </a:p>
        </p:txBody>
      </p:sp>
    </p:spTree>
    <p:extLst>
      <p:ext uri="{BB962C8B-B14F-4D97-AF65-F5344CB8AC3E}">
        <p14:creationId xmlns:p14="http://schemas.microsoft.com/office/powerpoint/2010/main" val="1196551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DF7971-A8A5-4EFB-A052-05F80CCF0C20}" type="datetimeFigureOut">
              <a:rPr lang="en-IE" smtClean="0"/>
              <a:t>09/10/2026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8F4CC90-D474-4644-BD1E-E795A352ADA7}" type="slidenum">
              <a:rPr lang="en-IE" smtClean="0"/>
              <a:t>‹#›</a:t>
            </a:fld>
            <a:endParaRPr lang="en-IE"/>
          </a:p>
        </p:txBody>
      </p:sp>
    </p:spTree>
    <p:extLst>
      <p:ext uri="{BB962C8B-B14F-4D97-AF65-F5344CB8AC3E}">
        <p14:creationId xmlns:p14="http://schemas.microsoft.com/office/powerpoint/2010/main" val="2482246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4DF7971-A8A5-4EFB-A052-05F80CCF0C20}" type="datetimeFigureOut">
              <a:rPr lang="en-IE" smtClean="0"/>
              <a:t>09/10/2026</a:t>
            </a:fld>
            <a:endParaRPr lang="en-IE"/>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E"/>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8F4CC90-D474-4644-BD1E-E795A352ADA7}" type="slidenum">
              <a:rPr lang="en-IE" smtClean="0"/>
              <a:t>‹#›</a:t>
            </a:fld>
            <a:endParaRPr lang="en-IE"/>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2399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72661-1468-9909-8474-0F1549364CEE}"/>
              </a:ext>
            </a:extLst>
          </p:cNvPr>
          <p:cNvSpPr>
            <a:spLocks noGrp="1"/>
          </p:cNvSpPr>
          <p:nvPr>
            <p:ph type="ctrTitle"/>
          </p:nvPr>
        </p:nvSpPr>
        <p:spPr/>
        <p:txBody>
          <a:bodyPr/>
          <a:lstStyle/>
          <a:p>
            <a:r>
              <a:rPr lang="en-IE" dirty="0"/>
              <a:t>The Two-Pointer Technique</a:t>
            </a:r>
          </a:p>
        </p:txBody>
      </p:sp>
      <p:sp>
        <p:nvSpPr>
          <p:cNvPr id="3" name="Subtitle 2">
            <a:extLst>
              <a:ext uri="{FF2B5EF4-FFF2-40B4-BE49-F238E27FC236}">
                <a16:creationId xmlns:a16="http://schemas.microsoft.com/office/drawing/2014/main" id="{0A2F5FEF-77BC-9ABD-D02C-26D95A85D850}"/>
              </a:ext>
            </a:extLst>
          </p:cNvPr>
          <p:cNvSpPr>
            <a:spLocks noGrp="1"/>
          </p:cNvSpPr>
          <p:nvPr>
            <p:ph type="subTitle" idx="1"/>
          </p:nvPr>
        </p:nvSpPr>
        <p:spPr/>
        <p:txBody>
          <a:bodyPr/>
          <a:lstStyle/>
          <a:p>
            <a:r>
              <a:rPr lang="en-IE" dirty="0"/>
              <a:t>Two Positions, One Overall Strategy</a:t>
            </a:r>
          </a:p>
        </p:txBody>
      </p:sp>
    </p:spTree>
    <p:extLst>
      <p:ext uri="{BB962C8B-B14F-4D97-AF65-F5344CB8AC3E}">
        <p14:creationId xmlns:p14="http://schemas.microsoft.com/office/powerpoint/2010/main" val="2246850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64A77-BA69-EC2D-75F0-3E9F9349CA15}"/>
              </a:ext>
            </a:extLst>
          </p:cNvPr>
          <p:cNvSpPr>
            <a:spLocks noGrp="1"/>
          </p:cNvSpPr>
          <p:nvPr>
            <p:ph type="title"/>
          </p:nvPr>
        </p:nvSpPr>
        <p:spPr/>
        <p:txBody>
          <a:bodyPr/>
          <a:lstStyle/>
          <a:p>
            <a:r>
              <a:rPr lang="en-IE" dirty="0"/>
              <a:t>Introducing the Two-Pointer Technique</a:t>
            </a:r>
          </a:p>
        </p:txBody>
      </p:sp>
      <p:sp>
        <p:nvSpPr>
          <p:cNvPr id="3" name="Content Placeholder 2">
            <a:extLst>
              <a:ext uri="{FF2B5EF4-FFF2-40B4-BE49-F238E27FC236}">
                <a16:creationId xmlns:a16="http://schemas.microsoft.com/office/drawing/2014/main" id="{3CE9F46D-4068-E356-58C4-7B81FC301464}"/>
              </a:ext>
            </a:extLst>
          </p:cNvPr>
          <p:cNvSpPr>
            <a:spLocks noGrp="1"/>
          </p:cNvSpPr>
          <p:nvPr>
            <p:ph idx="1"/>
          </p:nvPr>
        </p:nvSpPr>
        <p:spPr/>
        <p:txBody>
          <a:bodyPr>
            <a:normAutofit lnSpcReduction="10000"/>
          </a:bodyPr>
          <a:lstStyle/>
          <a:p>
            <a:pPr lvl="1"/>
            <a:r>
              <a:rPr lang="en-IE" sz="3200" dirty="0"/>
              <a:t>Two-point is an </a:t>
            </a:r>
            <a:r>
              <a:rPr lang="en-IE" sz="3200" dirty="0">
                <a:solidFill>
                  <a:srgbClr val="FF0000"/>
                </a:solidFill>
              </a:rPr>
              <a:t>optimised technique </a:t>
            </a:r>
            <a:r>
              <a:rPr lang="en-IE" sz="3200" dirty="0"/>
              <a:t>for algorithm design</a:t>
            </a:r>
          </a:p>
          <a:p>
            <a:pPr lvl="2"/>
            <a:r>
              <a:rPr lang="en-IE" sz="2800" dirty="0"/>
              <a:t>Attempts to improve efficiency by </a:t>
            </a:r>
            <a:r>
              <a:rPr lang="en-IE" sz="2800" dirty="0">
                <a:solidFill>
                  <a:srgbClr val="FF0000"/>
                </a:solidFill>
              </a:rPr>
              <a:t>avoiding redundant calculations</a:t>
            </a:r>
          </a:p>
          <a:p>
            <a:pPr lvl="2"/>
            <a:r>
              <a:rPr lang="en-IE" sz="2800" dirty="0"/>
              <a:t>Creates a “clever” algorithm that tries to find short-cuts</a:t>
            </a:r>
          </a:p>
          <a:p>
            <a:pPr lvl="2"/>
            <a:endParaRPr lang="en-IE" sz="2800" dirty="0"/>
          </a:p>
          <a:p>
            <a:pPr lvl="1"/>
            <a:endParaRPr lang="en-IE" sz="2800" dirty="0"/>
          </a:p>
          <a:p>
            <a:pPr lvl="1"/>
            <a:r>
              <a:rPr lang="en-IE" sz="3200" dirty="0"/>
              <a:t>Example: Identifying the most frequent element</a:t>
            </a:r>
          </a:p>
          <a:p>
            <a:pPr lvl="2"/>
            <a:r>
              <a:rPr lang="en-IE" sz="2800" dirty="0"/>
              <a:t>Counts the length of “runs” of data, instead of counting the number of appearances of each element</a:t>
            </a:r>
          </a:p>
        </p:txBody>
      </p:sp>
    </p:spTree>
    <p:extLst>
      <p:ext uri="{BB962C8B-B14F-4D97-AF65-F5344CB8AC3E}">
        <p14:creationId xmlns:p14="http://schemas.microsoft.com/office/powerpoint/2010/main" val="4006937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3DB23-E1CD-01C8-8739-487DA80B40F1}"/>
              </a:ext>
            </a:extLst>
          </p:cNvPr>
          <p:cNvSpPr>
            <a:spLocks noGrp="1"/>
          </p:cNvSpPr>
          <p:nvPr>
            <p:ph type="title"/>
          </p:nvPr>
        </p:nvSpPr>
        <p:spPr/>
        <p:txBody>
          <a:bodyPr/>
          <a:lstStyle/>
          <a:p>
            <a:r>
              <a:rPr lang="en-IE" dirty="0"/>
              <a:t>Characteristics of Two-Pointer Solutions</a:t>
            </a:r>
          </a:p>
        </p:txBody>
      </p:sp>
      <p:sp>
        <p:nvSpPr>
          <p:cNvPr id="3" name="Content Placeholder 2">
            <a:extLst>
              <a:ext uri="{FF2B5EF4-FFF2-40B4-BE49-F238E27FC236}">
                <a16:creationId xmlns:a16="http://schemas.microsoft.com/office/drawing/2014/main" id="{133645DD-5E8F-F4B1-86F8-E4704D682D56}"/>
              </a:ext>
            </a:extLst>
          </p:cNvPr>
          <p:cNvSpPr>
            <a:spLocks noGrp="1"/>
          </p:cNvSpPr>
          <p:nvPr>
            <p:ph idx="1"/>
          </p:nvPr>
        </p:nvSpPr>
        <p:spPr/>
        <p:txBody>
          <a:bodyPr>
            <a:normAutofit lnSpcReduction="10000"/>
          </a:bodyPr>
          <a:lstStyle/>
          <a:p>
            <a:pPr lvl="1"/>
            <a:r>
              <a:rPr lang="en-IE" sz="3200" dirty="0"/>
              <a:t>Unlike exhaustive search (e.g. brute force), two-pointer approaches </a:t>
            </a:r>
            <a:r>
              <a:rPr lang="en-IE" sz="3200" dirty="0">
                <a:solidFill>
                  <a:srgbClr val="FF0000"/>
                </a:solidFill>
              </a:rPr>
              <a:t>avoid repeated work</a:t>
            </a:r>
          </a:p>
          <a:p>
            <a:pPr lvl="1"/>
            <a:endParaRPr lang="en-IE" sz="3200" dirty="0">
              <a:solidFill>
                <a:srgbClr val="FF0000"/>
              </a:solidFill>
            </a:endParaRPr>
          </a:p>
          <a:p>
            <a:pPr lvl="1"/>
            <a:r>
              <a:rPr lang="en-IE" sz="2800" dirty="0"/>
              <a:t>General concept: Two pointers strategically move through the data</a:t>
            </a:r>
          </a:p>
          <a:p>
            <a:pPr lvl="1"/>
            <a:endParaRPr lang="en-IE" sz="2800" dirty="0"/>
          </a:p>
          <a:p>
            <a:pPr lvl="1"/>
            <a:r>
              <a:rPr lang="en-IE" sz="2800" dirty="0"/>
              <a:t>Different variants exist to solve different types of problem</a:t>
            </a:r>
          </a:p>
          <a:p>
            <a:pPr lvl="2"/>
            <a:r>
              <a:rPr lang="en-IE" sz="2400" dirty="0">
                <a:solidFill>
                  <a:srgbClr val="FF0000"/>
                </a:solidFill>
              </a:rPr>
              <a:t>Closing window: </a:t>
            </a:r>
            <a:r>
              <a:rPr lang="en-IE" sz="2400" dirty="0">
                <a:solidFill>
                  <a:schemeClr val="tx1"/>
                </a:solidFill>
              </a:rPr>
              <a:t>pointers move towards each other</a:t>
            </a:r>
          </a:p>
          <a:p>
            <a:pPr lvl="2"/>
            <a:r>
              <a:rPr lang="en-IE" sz="2400" dirty="0">
                <a:solidFill>
                  <a:srgbClr val="FF0000"/>
                </a:solidFill>
              </a:rPr>
              <a:t>Sliding window: </a:t>
            </a:r>
            <a:r>
              <a:rPr lang="en-IE" sz="2400" dirty="0">
                <a:solidFill>
                  <a:schemeClr val="tx1"/>
                </a:solidFill>
              </a:rPr>
              <a:t>pointers move in sync across data</a:t>
            </a:r>
            <a:endParaRPr lang="en-IE" sz="2400" dirty="0">
              <a:solidFill>
                <a:srgbClr val="FF0000"/>
              </a:solidFill>
            </a:endParaRPr>
          </a:p>
          <a:p>
            <a:pPr lvl="2"/>
            <a:r>
              <a:rPr lang="en-IE" sz="2400" dirty="0">
                <a:solidFill>
                  <a:srgbClr val="FF0000"/>
                </a:solidFill>
              </a:rPr>
              <a:t>Read/write: </a:t>
            </a:r>
            <a:r>
              <a:rPr lang="en-IE" sz="2400" dirty="0">
                <a:solidFill>
                  <a:schemeClr val="tx1"/>
                </a:solidFill>
              </a:rPr>
              <a:t>pointers have different roles and move at different rates</a:t>
            </a:r>
          </a:p>
          <a:p>
            <a:pPr lvl="2"/>
            <a:endParaRPr lang="en-IE" sz="2800" dirty="0"/>
          </a:p>
          <a:p>
            <a:pPr lvl="1"/>
            <a:endParaRPr lang="en-IE" sz="3200" dirty="0"/>
          </a:p>
        </p:txBody>
      </p:sp>
    </p:spTree>
    <p:extLst>
      <p:ext uri="{BB962C8B-B14F-4D97-AF65-F5344CB8AC3E}">
        <p14:creationId xmlns:p14="http://schemas.microsoft.com/office/powerpoint/2010/main" val="1096509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54AB2-E4AB-39CB-D269-A35941E9DCBA}"/>
              </a:ext>
            </a:extLst>
          </p:cNvPr>
          <p:cNvSpPr>
            <a:spLocks noGrp="1"/>
          </p:cNvSpPr>
          <p:nvPr>
            <p:ph type="title"/>
          </p:nvPr>
        </p:nvSpPr>
        <p:spPr/>
        <p:txBody>
          <a:bodyPr/>
          <a:lstStyle/>
          <a:p>
            <a:r>
              <a:rPr lang="en-IE" dirty="0"/>
              <a:t>Let’s Start With a Sample Problem</a:t>
            </a:r>
          </a:p>
        </p:txBody>
      </p:sp>
      <p:sp>
        <p:nvSpPr>
          <p:cNvPr id="3" name="Content Placeholder 2">
            <a:extLst>
              <a:ext uri="{FF2B5EF4-FFF2-40B4-BE49-F238E27FC236}">
                <a16:creationId xmlns:a16="http://schemas.microsoft.com/office/drawing/2014/main" id="{2F22A54A-7277-4885-E755-F9CC9A9DDCC3}"/>
              </a:ext>
            </a:extLst>
          </p:cNvPr>
          <p:cNvSpPr>
            <a:spLocks noGrp="1"/>
          </p:cNvSpPr>
          <p:nvPr>
            <p:ph idx="1"/>
          </p:nvPr>
        </p:nvSpPr>
        <p:spPr>
          <a:xfrm>
            <a:off x="1097280" y="1845734"/>
            <a:ext cx="4998720" cy="4023360"/>
          </a:xfrm>
        </p:spPr>
        <p:txBody>
          <a:bodyPr>
            <a:normAutofit lnSpcReduction="10000"/>
          </a:bodyPr>
          <a:lstStyle/>
          <a:p>
            <a:pPr lvl="1"/>
            <a:r>
              <a:rPr lang="en-IE" sz="3600" dirty="0"/>
              <a:t>Sample problem:</a:t>
            </a:r>
          </a:p>
          <a:p>
            <a:pPr lvl="2"/>
            <a:r>
              <a:rPr lang="en-IE" sz="3200" dirty="0"/>
              <a:t>Given a sorted array, find two values that add up (sum) to a specific target</a:t>
            </a:r>
          </a:p>
          <a:p>
            <a:pPr lvl="2"/>
            <a:endParaRPr lang="en-IE" sz="3200" dirty="0"/>
          </a:p>
          <a:p>
            <a:pPr lvl="1"/>
            <a:r>
              <a:rPr lang="en-IE" sz="3600" dirty="0"/>
              <a:t>Example:</a:t>
            </a:r>
          </a:p>
          <a:p>
            <a:pPr lvl="2"/>
            <a:r>
              <a:rPr lang="en-IE" sz="3200" dirty="0"/>
              <a:t>[1, 3, 4, 6, 8], target = 10</a:t>
            </a:r>
          </a:p>
          <a:p>
            <a:pPr lvl="2"/>
            <a:r>
              <a:rPr lang="en-IE" sz="3200" dirty="0">
                <a:solidFill>
                  <a:schemeClr val="accent5"/>
                </a:solidFill>
              </a:rPr>
              <a:t>Expected pair: 4 + 6</a:t>
            </a:r>
          </a:p>
        </p:txBody>
      </p:sp>
      <p:sp>
        <p:nvSpPr>
          <p:cNvPr id="4" name="Content Placeholder 2">
            <a:extLst>
              <a:ext uri="{FF2B5EF4-FFF2-40B4-BE49-F238E27FC236}">
                <a16:creationId xmlns:a16="http://schemas.microsoft.com/office/drawing/2014/main" id="{B48ED2CB-E622-661E-4AD6-8252B4C102CA}"/>
              </a:ext>
            </a:extLst>
          </p:cNvPr>
          <p:cNvSpPr txBox="1">
            <a:spLocks/>
          </p:cNvSpPr>
          <p:nvPr/>
        </p:nvSpPr>
        <p:spPr>
          <a:xfrm>
            <a:off x="6096000" y="1845734"/>
            <a:ext cx="5059680" cy="4023360"/>
          </a:xfrm>
          <a:prstGeom prst="rect">
            <a:avLst/>
          </a:prstGeom>
        </p:spPr>
        <p:txBody>
          <a:bodyPr vert="horz" lIns="0" tIns="45720" rIns="0" bIns="45720" rtlCol="0">
            <a:normAutofit fontScale="70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IE" sz="3600" dirty="0">
                <a:solidFill>
                  <a:srgbClr val="FF0000"/>
                </a:solidFill>
              </a:rPr>
              <a:t>Brute force idea: </a:t>
            </a:r>
            <a:br>
              <a:rPr lang="en-IE" sz="3600" dirty="0">
                <a:solidFill>
                  <a:srgbClr val="FF0000"/>
                </a:solidFill>
              </a:rPr>
            </a:br>
            <a:r>
              <a:rPr lang="en-IE" sz="3600" dirty="0">
                <a:solidFill>
                  <a:srgbClr val="FF0000"/>
                </a:solidFill>
              </a:rPr>
              <a:t>Try every possible pair</a:t>
            </a:r>
          </a:p>
          <a:p>
            <a:pPr lvl="2"/>
            <a:r>
              <a:rPr lang="en-IE" sz="3200" dirty="0"/>
              <a:t>For each element in data:</a:t>
            </a:r>
          </a:p>
          <a:p>
            <a:pPr lvl="3"/>
            <a:r>
              <a:rPr lang="en-IE" sz="3200" dirty="0"/>
              <a:t>Calculate result of it plus each element after it</a:t>
            </a:r>
          </a:p>
          <a:p>
            <a:pPr lvl="3"/>
            <a:r>
              <a:rPr lang="en-IE" sz="3200" dirty="0"/>
              <a:t>1+3, 1+4, 1+6, 1+8</a:t>
            </a:r>
          </a:p>
          <a:p>
            <a:pPr lvl="3"/>
            <a:r>
              <a:rPr lang="en-IE" sz="3200" dirty="0"/>
              <a:t>3+4, 3+6, 3+8</a:t>
            </a:r>
          </a:p>
          <a:p>
            <a:pPr lvl="3"/>
            <a:r>
              <a:rPr lang="en-IE" sz="3200" dirty="0"/>
              <a:t>…</a:t>
            </a:r>
          </a:p>
          <a:p>
            <a:pPr lvl="1"/>
            <a:endParaRPr lang="en-IE" sz="3600" dirty="0"/>
          </a:p>
          <a:p>
            <a:pPr lvl="1"/>
            <a:r>
              <a:rPr lang="en-IE" sz="3600" dirty="0">
                <a:solidFill>
                  <a:srgbClr val="FF0000"/>
                </a:solidFill>
              </a:rPr>
              <a:t>Uses nested loops </a:t>
            </a:r>
          </a:p>
          <a:p>
            <a:pPr lvl="2"/>
            <a:r>
              <a:rPr lang="en-IE" sz="3200" dirty="0"/>
              <a:t>Checks n * n pairs at worst*</a:t>
            </a:r>
            <a:endParaRPr lang="en-IE" sz="3200" dirty="0">
              <a:solidFill>
                <a:srgbClr val="FF0000"/>
              </a:solidFill>
            </a:endParaRPr>
          </a:p>
          <a:p>
            <a:pPr lvl="2"/>
            <a:r>
              <a:rPr lang="en-IE" sz="3200" dirty="0">
                <a:solidFill>
                  <a:srgbClr val="FF0000"/>
                </a:solidFill>
              </a:rPr>
              <a:t>O(n</a:t>
            </a:r>
            <a:r>
              <a:rPr lang="en-IE" sz="3200" baseline="30000" dirty="0">
                <a:solidFill>
                  <a:srgbClr val="FF0000"/>
                </a:solidFill>
              </a:rPr>
              <a:t>2</a:t>
            </a:r>
            <a:r>
              <a:rPr lang="en-IE" sz="3200" dirty="0">
                <a:solidFill>
                  <a:srgbClr val="FF0000"/>
                </a:solidFill>
              </a:rPr>
              <a:t>)</a:t>
            </a:r>
          </a:p>
        </p:txBody>
      </p:sp>
      <p:sp>
        <p:nvSpPr>
          <p:cNvPr id="7" name="Flowchart: Predefined Process 6">
            <a:extLst>
              <a:ext uri="{FF2B5EF4-FFF2-40B4-BE49-F238E27FC236}">
                <a16:creationId xmlns:a16="http://schemas.microsoft.com/office/drawing/2014/main" id="{F29417CE-A361-0C93-D392-F1ABCD842A02}"/>
              </a:ext>
            </a:extLst>
          </p:cNvPr>
          <p:cNvSpPr/>
          <p:nvPr/>
        </p:nvSpPr>
        <p:spPr>
          <a:xfrm>
            <a:off x="8411135" y="5466229"/>
            <a:ext cx="2844053" cy="665630"/>
          </a:xfrm>
          <a:prstGeom prst="flowChartPredefinedProcess">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sz="2400" dirty="0">
                <a:solidFill>
                  <a:srgbClr val="FF0000"/>
                </a:solidFill>
                <a:latin typeface="Aharoni" panose="02010803020104030203" pitchFamily="2" charset="-79"/>
                <a:cs typeface="Aharoni" panose="02010803020104030203" pitchFamily="2" charset="-79"/>
              </a:rPr>
              <a:t>Expensive</a:t>
            </a:r>
          </a:p>
        </p:txBody>
      </p:sp>
    </p:spTree>
    <p:extLst>
      <p:ext uri="{BB962C8B-B14F-4D97-AF65-F5344CB8AC3E}">
        <p14:creationId xmlns:p14="http://schemas.microsoft.com/office/powerpoint/2010/main" val="2378124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7EDCC-4CD8-85EB-C8F2-1B751F282C7E}"/>
              </a:ext>
            </a:extLst>
          </p:cNvPr>
          <p:cNvSpPr>
            <a:spLocks noGrp="1"/>
          </p:cNvSpPr>
          <p:nvPr>
            <p:ph type="title"/>
          </p:nvPr>
        </p:nvSpPr>
        <p:spPr/>
        <p:txBody>
          <a:bodyPr/>
          <a:lstStyle/>
          <a:p>
            <a:r>
              <a:rPr lang="en-IE" dirty="0"/>
              <a:t>Identify the Repetition</a:t>
            </a:r>
          </a:p>
        </p:txBody>
      </p:sp>
      <p:sp>
        <p:nvSpPr>
          <p:cNvPr id="3" name="Content Placeholder 2">
            <a:extLst>
              <a:ext uri="{FF2B5EF4-FFF2-40B4-BE49-F238E27FC236}">
                <a16:creationId xmlns:a16="http://schemas.microsoft.com/office/drawing/2014/main" id="{51A23FEE-28D6-6E14-54D7-77A3CE0FE8B6}"/>
              </a:ext>
            </a:extLst>
          </p:cNvPr>
          <p:cNvSpPr>
            <a:spLocks noGrp="1"/>
          </p:cNvSpPr>
          <p:nvPr>
            <p:ph idx="1"/>
          </p:nvPr>
        </p:nvSpPr>
        <p:spPr/>
        <p:txBody>
          <a:bodyPr>
            <a:normAutofit lnSpcReduction="10000"/>
          </a:bodyPr>
          <a:lstStyle/>
          <a:p>
            <a:pPr lvl="1"/>
            <a:r>
              <a:rPr lang="en-IE" sz="3200" dirty="0"/>
              <a:t>We’re not comparing the same pairs each time</a:t>
            </a:r>
          </a:p>
          <a:p>
            <a:pPr lvl="2"/>
            <a:r>
              <a:rPr lang="en-IE" sz="2800" dirty="0"/>
              <a:t>This is because the inner loop starts AFTER our current value</a:t>
            </a:r>
          </a:p>
          <a:p>
            <a:pPr lvl="2"/>
            <a:endParaRPr lang="en-IE" sz="2800" dirty="0"/>
          </a:p>
          <a:p>
            <a:pPr lvl="1"/>
            <a:r>
              <a:rPr lang="en-IE" sz="3200" dirty="0"/>
              <a:t>Repetition: We use the values on the right many times</a:t>
            </a:r>
          </a:p>
          <a:p>
            <a:pPr lvl="2"/>
            <a:r>
              <a:rPr lang="en-IE" sz="2800" dirty="0"/>
              <a:t>8 is added to every value in the array</a:t>
            </a:r>
          </a:p>
          <a:p>
            <a:pPr lvl="2"/>
            <a:endParaRPr lang="en-IE" sz="2800" dirty="0"/>
          </a:p>
          <a:p>
            <a:pPr lvl="1"/>
            <a:r>
              <a:rPr lang="en-IE" sz="3200" dirty="0"/>
              <a:t>Is there a way to eliminate a value early?</a:t>
            </a:r>
          </a:p>
          <a:p>
            <a:pPr lvl="2"/>
            <a:r>
              <a:rPr lang="en-IE" sz="2800" dirty="0"/>
              <a:t>If the data is unpredictable, no</a:t>
            </a:r>
          </a:p>
          <a:p>
            <a:pPr lvl="2"/>
            <a:r>
              <a:rPr lang="en-IE" sz="2800" dirty="0"/>
              <a:t>If the data is </a:t>
            </a:r>
            <a:r>
              <a:rPr lang="en-IE" sz="2800" b="1" i="1" dirty="0"/>
              <a:t>sorted</a:t>
            </a:r>
            <a:r>
              <a:rPr lang="en-IE" sz="2800" dirty="0"/>
              <a:t>, yes!</a:t>
            </a:r>
          </a:p>
        </p:txBody>
      </p:sp>
    </p:spTree>
    <p:extLst>
      <p:ext uri="{BB962C8B-B14F-4D97-AF65-F5344CB8AC3E}">
        <p14:creationId xmlns:p14="http://schemas.microsoft.com/office/powerpoint/2010/main" val="206993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898BD-CDE1-2676-BBA2-3C2DD008FA87}"/>
              </a:ext>
            </a:extLst>
          </p:cNvPr>
          <p:cNvSpPr>
            <a:spLocks noGrp="1"/>
          </p:cNvSpPr>
          <p:nvPr>
            <p:ph type="title"/>
          </p:nvPr>
        </p:nvSpPr>
        <p:spPr/>
        <p:txBody>
          <a:bodyPr/>
          <a:lstStyle/>
          <a:p>
            <a:r>
              <a:rPr lang="en-IE" dirty="0"/>
              <a:t>The Benefit of Sorted Data</a:t>
            </a:r>
          </a:p>
        </p:txBody>
      </p:sp>
      <p:sp>
        <p:nvSpPr>
          <p:cNvPr id="3" name="Content Placeholder 2">
            <a:extLst>
              <a:ext uri="{FF2B5EF4-FFF2-40B4-BE49-F238E27FC236}">
                <a16:creationId xmlns:a16="http://schemas.microsoft.com/office/drawing/2014/main" id="{17887529-3190-4EEF-EE3A-C5D39E0D9DCA}"/>
              </a:ext>
            </a:extLst>
          </p:cNvPr>
          <p:cNvSpPr>
            <a:spLocks noGrp="1"/>
          </p:cNvSpPr>
          <p:nvPr>
            <p:ph idx="1"/>
          </p:nvPr>
        </p:nvSpPr>
        <p:spPr/>
        <p:txBody>
          <a:bodyPr>
            <a:normAutofit/>
          </a:bodyPr>
          <a:lstStyle/>
          <a:p>
            <a:pPr lvl="1"/>
            <a:r>
              <a:rPr lang="en-IE" sz="3600" dirty="0"/>
              <a:t>Sorted data guarantees the data is ascending</a:t>
            </a:r>
          </a:p>
          <a:p>
            <a:pPr lvl="2"/>
            <a:r>
              <a:rPr lang="en-IE" sz="3200" dirty="0"/>
              <a:t>Data trends up as you move to the right in the dataset</a:t>
            </a:r>
          </a:p>
          <a:p>
            <a:pPr lvl="2"/>
            <a:r>
              <a:rPr lang="en-IE" sz="3200" dirty="0"/>
              <a:t>[1, 3, 4, 6, 8], 1 &lt;= 3 &lt;= 4 &lt;= 6 &lt;= 8</a:t>
            </a:r>
          </a:p>
          <a:p>
            <a:pPr lvl="2"/>
            <a:endParaRPr lang="en-IE" sz="3200" dirty="0"/>
          </a:p>
          <a:p>
            <a:pPr lvl="1"/>
            <a:r>
              <a:rPr lang="en-IE" sz="3600" dirty="0"/>
              <a:t>This predictability provides a pattern we can follow</a:t>
            </a:r>
          </a:p>
          <a:p>
            <a:pPr lvl="2"/>
            <a:r>
              <a:rPr lang="en-IE" sz="3200" dirty="0"/>
              <a:t>Move to right-&gt; increase/stay the same</a:t>
            </a:r>
          </a:p>
          <a:p>
            <a:pPr lvl="2"/>
            <a:r>
              <a:rPr lang="en-IE" sz="3200" dirty="0"/>
              <a:t>Move to left  -&gt; decrease/stay the same</a:t>
            </a:r>
          </a:p>
        </p:txBody>
      </p:sp>
      <p:sp>
        <p:nvSpPr>
          <p:cNvPr id="4" name="Rectangle: Rounded Corners 3">
            <a:extLst>
              <a:ext uri="{FF2B5EF4-FFF2-40B4-BE49-F238E27FC236}">
                <a16:creationId xmlns:a16="http://schemas.microsoft.com/office/drawing/2014/main" id="{71352802-A3D3-D7E5-F3B3-EEFA2B526914}"/>
              </a:ext>
            </a:extLst>
          </p:cNvPr>
          <p:cNvSpPr/>
          <p:nvPr/>
        </p:nvSpPr>
        <p:spPr>
          <a:xfrm>
            <a:off x="8451476" y="4766435"/>
            <a:ext cx="3523131" cy="11026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Note: This also applies for descending sorts, with data trending down moving to the right</a:t>
            </a:r>
          </a:p>
        </p:txBody>
      </p:sp>
    </p:spTree>
    <p:extLst>
      <p:ext uri="{BB962C8B-B14F-4D97-AF65-F5344CB8AC3E}">
        <p14:creationId xmlns:p14="http://schemas.microsoft.com/office/powerpoint/2010/main" val="3238458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133ED-545D-9960-7D01-09F034612819}"/>
              </a:ext>
            </a:extLst>
          </p:cNvPr>
          <p:cNvSpPr>
            <a:spLocks noGrp="1"/>
          </p:cNvSpPr>
          <p:nvPr>
            <p:ph type="title"/>
          </p:nvPr>
        </p:nvSpPr>
        <p:spPr/>
        <p:txBody>
          <a:bodyPr/>
          <a:lstStyle/>
          <a:p>
            <a:r>
              <a:rPr lang="en-IE" dirty="0"/>
              <a:t>The “Closing Window” Pattern: </a:t>
            </a:r>
            <a:br>
              <a:rPr lang="en-IE" dirty="0"/>
            </a:br>
            <a:r>
              <a:rPr lang="en-IE" dirty="0"/>
              <a:t>Pointers Moving Towards Each Other</a:t>
            </a:r>
          </a:p>
        </p:txBody>
      </p:sp>
      <p:sp>
        <p:nvSpPr>
          <p:cNvPr id="33" name="Rounded Rectangle 21">
            <a:extLst>
              <a:ext uri="{FF2B5EF4-FFF2-40B4-BE49-F238E27FC236}">
                <a16:creationId xmlns:a16="http://schemas.microsoft.com/office/drawing/2014/main" id="{43581EB5-D03F-E3D1-A421-033730ED7E3D}"/>
              </a:ext>
            </a:extLst>
          </p:cNvPr>
          <p:cNvSpPr/>
          <p:nvPr/>
        </p:nvSpPr>
        <p:spPr>
          <a:xfrm>
            <a:off x="914400" y="3657600"/>
            <a:ext cx="4754880" cy="822960"/>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sz="1700" b="1" dirty="0">
                <a:solidFill>
                  <a:schemeClr val="tx2">
                    <a:lumMod val="75000"/>
                  </a:schemeClr>
                </a:solidFill>
                <a:latin typeface="Aptos"/>
              </a:rPr>
              <a:t>left = 0</a:t>
            </a:r>
          </a:p>
          <a:p>
            <a:pPr>
              <a:spcAft>
                <a:spcPts val="700"/>
              </a:spcAft>
            </a:pPr>
            <a:r>
              <a:rPr sz="1700" b="0" dirty="0">
                <a:solidFill>
                  <a:srgbClr val="F5F8FC"/>
                </a:solidFill>
                <a:latin typeface="Aptos"/>
              </a:rPr>
              <a:t>Start at the first array element.</a:t>
            </a:r>
          </a:p>
        </p:txBody>
      </p:sp>
      <p:sp>
        <p:nvSpPr>
          <p:cNvPr id="35" name="Rounded Rectangle 22">
            <a:extLst>
              <a:ext uri="{FF2B5EF4-FFF2-40B4-BE49-F238E27FC236}">
                <a16:creationId xmlns:a16="http://schemas.microsoft.com/office/drawing/2014/main" id="{B1C9F821-4643-9248-2AE7-0A464A93D6F7}"/>
              </a:ext>
            </a:extLst>
          </p:cNvPr>
          <p:cNvSpPr/>
          <p:nvPr/>
        </p:nvSpPr>
        <p:spPr>
          <a:xfrm>
            <a:off x="6400800" y="3657600"/>
            <a:ext cx="4754880" cy="822960"/>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sz="1700" b="1" dirty="0">
                <a:solidFill>
                  <a:srgbClr val="FFA015"/>
                </a:solidFill>
                <a:latin typeface="Aptos"/>
              </a:rPr>
              <a:t>right = </a:t>
            </a:r>
            <a:r>
              <a:rPr sz="1700" b="1" dirty="0" err="1">
                <a:solidFill>
                  <a:srgbClr val="FFA015"/>
                </a:solidFill>
                <a:latin typeface="Aptos"/>
              </a:rPr>
              <a:t>nums.length</a:t>
            </a:r>
            <a:r>
              <a:rPr sz="1700" b="1" dirty="0">
                <a:solidFill>
                  <a:srgbClr val="FFA015"/>
                </a:solidFill>
                <a:latin typeface="Aptos"/>
              </a:rPr>
              <a:t> - 1</a:t>
            </a:r>
          </a:p>
          <a:p>
            <a:pPr>
              <a:spcAft>
                <a:spcPts val="700"/>
              </a:spcAft>
            </a:pPr>
            <a:r>
              <a:rPr sz="1700" b="0" dirty="0">
                <a:solidFill>
                  <a:srgbClr val="F5F8FC"/>
                </a:solidFill>
                <a:latin typeface="Aptos"/>
              </a:rPr>
              <a:t>Start at the last array element.</a:t>
            </a:r>
          </a:p>
        </p:txBody>
      </p:sp>
      <p:sp>
        <p:nvSpPr>
          <p:cNvPr id="37" name="TextBox 36">
            <a:extLst>
              <a:ext uri="{FF2B5EF4-FFF2-40B4-BE49-F238E27FC236}">
                <a16:creationId xmlns:a16="http://schemas.microsoft.com/office/drawing/2014/main" id="{91EBEC8E-C86E-9E91-AC85-53090511C8AD}"/>
              </a:ext>
            </a:extLst>
          </p:cNvPr>
          <p:cNvSpPr txBox="1"/>
          <p:nvPr/>
        </p:nvSpPr>
        <p:spPr>
          <a:xfrm>
            <a:off x="1066800" y="4713732"/>
            <a:ext cx="10058400" cy="1046440"/>
          </a:xfrm>
          <a:prstGeom prst="rect">
            <a:avLst/>
          </a:prstGeom>
          <a:noFill/>
        </p:spPr>
        <p:txBody>
          <a:bodyPr wrap="square" lIns="45720" rIns="45720" anchor="t">
            <a:spAutoFit/>
          </a:bodyPr>
          <a:lstStyle/>
          <a:p>
            <a:pPr marL="285750" indent="-285750" algn="l">
              <a:buFont typeface="Arial" panose="020B0604020202020204" pitchFamily="34" charset="0"/>
              <a:buChar char="•"/>
            </a:pPr>
            <a:r>
              <a:rPr sz="2200" dirty="0"/>
              <a:t>At each step</a:t>
            </a:r>
            <a:r>
              <a:rPr lang="en-IE" sz="2200" dirty="0"/>
              <a:t>: I</a:t>
            </a:r>
            <a:r>
              <a:rPr sz="2200" dirty="0" err="1"/>
              <a:t>nspect</a:t>
            </a:r>
            <a:r>
              <a:rPr sz="2200" dirty="0"/>
              <a:t> the two values</a:t>
            </a:r>
            <a:r>
              <a:rPr lang="en-IE" sz="2200" dirty="0"/>
              <a:t>;</a:t>
            </a:r>
            <a:r>
              <a:rPr sz="2200" dirty="0"/>
              <a:t> make a decision</a:t>
            </a:r>
            <a:r>
              <a:rPr lang="en-IE" sz="2200" dirty="0"/>
              <a:t>; </a:t>
            </a:r>
            <a:r>
              <a:rPr sz="2200" dirty="0"/>
              <a:t>move one pointer inward.</a:t>
            </a:r>
            <a:endParaRPr lang="en-IE" sz="2200" dirty="0"/>
          </a:p>
          <a:p>
            <a:pPr marL="742950" lvl="1" indent="-285750">
              <a:buFont typeface="Arial" panose="020B0604020202020204" pitchFamily="34" charset="0"/>
              <a:buChar char="•"/>
            </a:pPr>
            <a:r>
              <a:rPr lang="en-IE" sz="2000" dirty="0"/>
              <a:t>Moving left increases/stays the same</a:t>
            </a:r>
          </a:p>
          <a:p>
            <a:pPr marL="742950" lvl="1" indent="-285750">
              <a:buFont typeface="Arial" panose="020B0604020202020204" pitchFamily="34" charset="0"/>
              <a:buChar char="•"/>
            </a:pPr>
            <a:r>
              <a:rPr lang="en-IE" sz="2000" dirty="0"/>
              <a:t>Moving right decreases/stays the same</a:t>
            </a:r>
            <a:endParaRPr sz="2000" dirty="0"/>
          </a:p>
        </p:txBody>
      </p:sp>
      <p:grpSp>
        <p:nvGrpSpPr>
          <p:cNvPr id="44" name="Group 43">
            <a:extLst>
              <a:ext uri="{FF2B5EF4-FFF2-40B4-BE49-F238E27FC236}">
                <a16:creationId xmlns:a16="http://schemas.microsoft.com/office/drawing/2014/main" id="{5DAEEC3C-A8BB-7CD3-84C8-BB1E987CFBF8}"/>
              </a:ext>
            </a:extLst>
          </p:cNvPr>
          <p:cNvGrpSpPr/>
          <p:nvPr/>
        </p:nvGrpSpPr>
        <p:grpSpPr>
          <a:xfrm>
            <a:off x="3078032" y="1970532"/>
            <a:ext cx="5870448" cy="1453896"/>
            <a:chOff x="3078032" y="1970532"/>
            <a:chExt cx="5870448" cy="1453896"/>
          </a:xfrm>
        </p:grpSpPr>
        <p:sp>
          <p:nvSpPr>
            <p:cNvPr id="5" name="Rounded Rectangle 7">
              <a:extLst>
                <a:ext uri="{FF2B5EF4-FFF2-40B4-BE49-F238E27FC236}">
                  <a16:creationId xmlns:a16="http://schemas.microsoft.com/office/drawing/2014/main" id="{6BC30FC1-24CB-C862-8302-D8E8ADEAA9AB}"/>
                </a:ext>
              </a:extLst>
            </p:cNvPr>
            <p:cNvSpPr/>
            <p:nvPr/>
          </p:nvSpPr>
          <p:spPr>
            <a:xfrm>
              <a:off x="3123752" y="2299716"/>
              <a:ext cx="1097280" cy="822960"/>
            </a:xfrm>
            <a:prstGeom prst="roundRect">
              <a:avLst/>
            </a:prstGeom>
            <a:solidFill>
              <a:schemeClr val="accent6"/>
            </a:solidFill>
            <a:ln>
              <a:solidFill>
                <a:srgbClr val="08708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1</a:t>
              </a:r>
            </a:p>
          </p:txBody>
        </p:sp>
        <p:sp>
          <p:nvSpPr>
            <p:cNvPr id="7" name="TextBox 6">
              <a:extLst>
                <a:ext uri="{FF2B5EF4-FFF2-40B4-BE49-F238E27FC236}">
                  <a16:creationId xmlns:a16="http://schemas.microsoft.com/office/drawing/2014/main" id="{2AAD19A9-F0BD-89FE-4757-E3822D42EBBA}"/>
                </a:ext>
              </a:extLst>
            </p:cNvPr>
            <p:cNvSpPr txBox="1"/>
            <p:nvPr/>
          </p:nvSpPr>
          <p:spPr>
            <a:xfrm>
              <a:off x="3123752" y="3195828"/>
              <a:ext cx="1097280" cy="228600"/>
            </a:xfrm>
            <a:prstGeom prst="rect">
              <a:avLst/>
            </a:prstGeom>
            <a:noFill/>
          </p:spPr>
          <p:txBody>
            <a:bodyPr wrap="square" lIns="45720" rIns="45720" anchor="t">
              <a:spAutoFit/>
            </a:bodyPr>
            <a:lstStyle/>
            <a:p>
              <a:pPr algn="ctr"/>
              <a:r>
                <a:rPr sz="1000" b="0">
                  <a:solidFill>
                    <a:srgbClr val="B0BED2"/>
                  </a:solidFill>
                  <a:latin typeface="Aptos"/>
                </a:rPr>
                <a:t>0</a:t>
              </a:r>
            </a:p>
          </p:txBody>
        </p:sp>
        <p:sp>
          <p:nvSpPr>
            <p:cNvPr id="9" name="TextBox 8">
              <a:extLst>
                <a:ext uri="{FF2B5EF4-FFF2-40B4-BE49-F238E27FC236}">
                  <a16:creationId xmlns:a16="http://schemas.microsoft.com/office/drawing/2014/main" id="{99A5810E-4C2F-A4BD-7D8B-6F4A09F81498}"/>
                </a:ext>
              </a:extLst>
            </p:cNvPr>
            <p:cNvSpPr txBox="1"/>
            <p:nvPr/>
          </p:nvSpPr>
          <p:spPr>
            <a:xfrm>
              <a:off x="3078032" y="1970532"/>
              <a:ext cx="1188720" cy="369332"/>
            </a:xfrm>
            <a:prstGeom prst="rect">
              <a:avLst/>
            </a:prstGeom>
            <a:noFill/>
          </p:spPr>
          <p:txBody>
            <a:bodyPr wrap="square" lIns="45720" rIns="45720" anchor="t">
              <a:spAutoFit/>
            </a:bodyPr>
            <a:lstStyle/>
            <a:p>
              <a:pPr algn="ctr"/>
              <a:r>
                <a:rPr b="1" dirty="0">
                  <a:solidFill>
                    <a:srgbClr val="38D1E0"/>
                  </a:solidFill>
                  <a:latin typeface="Aptos"/>
                </a:rPr>
                <a:t>LEFT</a:t>
              </a:r>
            </a:p>
          </p:txBody>
        </p:sp>
        <p:sp>
          <p:nvSpPr>
            <p:cNvPr id="13" name="Rounded Rectangle 11">
              <a:extLst>
                <a:ext uri="{FF2B5EF4-FFF2-40B4-BE49-F238E27FC236}">
                  <a16:creationId xmlns:a16="http://schemas.microsoft.com/office/drawing/2014/main" id="{92BCFA27-960C-C691-7F35-EE7CB514A6FF}"/>
                </a:ext>
              </a:extLst>
            </p:cNvPr>
            <p:cNvSpPr/>
            <p:nvPr/>
          </p:nvSpPr>
          <p:spPr>
            <a:xfrm>
              <a:off x="4294184"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3</a:t>
              </a:r>
            </a:p>
          </p:txBody>
        </p:sp>
        <p:sp>
          <p:nvSpPr>
            <p:cNvPr id="15" name="TextBox 14">
              <a:extLst>
                <a:ext uri="{FF2B5EF4-FFF2-40B4-BE49-F238E27FC236}">
                  <a16:creationId xmlns:a16="http://schemas.microsoft.com/office/drawing/2014/main" id="{A3E3F9BF-0F87-BD71-D0B2-0C6E13292084}"/>
                </a:ext>
              </a:extLst>
            </p:cNvPr>
            <p:cNvSpPr txBox="1"/>
            <p:nvPr/>
          </p:nvSpPr>
          <p:spPr>
            <a:xfrm>
              <a:off x="4294184" y="3195828"/>
              <a:ext cx="1097280" cy="228600"/>
            </a:xfrm>
            <a:prstGeom prst="rect">
              <a:avLst/>
            </a:prstGeom>
            <a:noFill/>
          </p:spPr>
          <p:txBody>
            <a:bodyPr wrap="square" lIns="45720" rIns="45720" anchor="t">
              <a:spAutoFit/>
            </a:bodyPr>
            <a:lstStyle/>
            <a:p>
              <a:pPr algn="ctr"/>
              <a:r>
                <a:rPr sz="1000" b="0">
                  <a:solidFill>
                    <a:srgbClr val="B0BED2"/>
                  </a:solidFill>
                  <a:latin typeface="Aptos"/>
                </a:rPr>
                <a:t>1</a:t>
              </a:r>
            </a:p>
          </p:txBody>
        </p:sp>
        <p:sp>
          <p:nvSpPr>
            <p:cNvPr id="17" name="Rounded Rectangle 13">
              <a:extLst>
                <a:ext uri="{FF2B5EF4-FFF2-40B4-BE49-F238E27FC236}">
                  <a16:creationId xmlns:a16="http://schemas.microsoft.com/office/drawing/2014/main" id="{54B6E88D-A09F-60A1-CD18-E95023DB8CFF}"/>
                </a:ext>
              </a:extLst>
            </p:cNvPr>
            <p:cNvSpPr/>
            <p:nvPr/>
          </p:nvSpPr>
          <p:spPr>
            <a:xfrm>
              <a:off x="5464616"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4</a:t>
              </a:r>
            </a:p>
          </p:txBody>
        </p:sp>
        <p:sp>
          <p:nvSpPr>
            <p:cNvPr id="19" name="TextBox 18">
              <a:extLst>
                <a:ext uri="{FF2B5EF4-FFF2-40B4-BE49-F238E27FC236}">
                  <a16:creationId xmlns:a16="http://schemas.microsoft.com/office/drawing/2014/main" id="{EACFB02C-35C6-8D0D-7DBA-47FD7A9E1FFC}"/>
                </a:ext>
              </a:extLst>
            </p:cNvPr>
            <p:cNvSpPr txBox="1"/>
            <p:nvPr/>
          </p:nvSpPr>
          <p:spPr>
            <a:xfrm>
              <a:off x="5464616" y="3195828"/>
              <a:ext cx="1097280" cy="228600"/>
            </a:xfrm>
            <a:prstGeom prst="rect">
              <a:avLst/>
            </a:prstGeom>
            <a:noFill/>
          </p:spPr>
          <p:txBody>
            <a:bodyPr wrap="square" lIns="45720" rIns="45720" anchor="t">
              <a:spAutoFit/>
            </a:bodyPr>
            <a:lstStyle/>
            <a:p>
              <a:pPr algn="ctr"/>
              <a:r>
                <a:rPr sz="1000" b="0">
                  <a:solidFill>
                    <a:srgbClr val="B0BED2"/>
                  </a:solidFill>
                  <a:latin typeface="Aptos"/>
                </a:rPr>
                <a:t>2</a:t>
              </a:r>
            </a:p>
          </p:txBody>
        </p:sp>
        <p:sp>
          <p:nvSpPr>
            <p:cNvPr id="21" name="Rounded Rectangle 15">
              <a:extLst>
                <a:ext uri="{FF2B5EF4-FFF2-40B4-BE49-F238E27FC236}">
                  <a16:creationId xmlns:a16="http://schemas.microsoft.com/office/drawing/2014/main" id="{BE682A9E-1A95-8258-35DE-D45C88091044}"/>
                </a:ext>
              </a:extLst>
            </p:cNvPr>
            <p:cNvSpPr/>
            <p:nvPr/>
          </p:nvSpPr>
          <p:spPr>
            <a:xfrm>
              <a:off x="6635048"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6</a:t>
              </a:r>
            </a:p>
          </p:txBody>
        </p:sp>
        <p:sp>
          <p:nvSpPr>
            <p:cNvPr id="23" name="TextBox 22">
              <a:extLst>
                <a:ext uri="{FF2B5EF4-FFF2-40B4-BE49-F238E27FC236}">
                  <a16:creationId xmlns:a16="http://schemas.microsoft.com/office/drawing/2014/main" id="{81B595A2-EF0B-C74F-1634-DCF44993AE4B}"/>
                </a:ext>
              </a:extLst>
            </p:cNvPr>
            <p:cNvSpPr txBox="1"/>
            <p:nvPr/>
          </p:nvSpPr>
          <p:spPr>
            <a:xfrm>
              <a:off x="6635048" y="3195828"/>
              <a:ext cx="1097280" cy="228600"/>
            </a:xfrm>
            <a:prstGeom prst="rect">
              <a:avLst/>
            </a:prstGeom>
            <a:noFill/>
          </p:spPr>
          <p:txBody>
            <a:bodyPr wrap="square" lIns="45720" rIns="45720" anchor="t">
              <a:spAutoFit/>
            </a:bodyPr>
            <a:lstStyle/>
            <a:p>
              <a:pPr algn="ctr"/>
              <a:r>
                <a:rPr sz="1000" b="0">
                  <a:solidFill>
                    <a:srgbClr val="B0BED2"/>
                  </a:solidFill>
                  <a:latin typeface="Aptos"/>
                </a:rPr>
                <a:t>3</a:t>
              </a:r>
            </a:p>
          </p:txBody>
        </p:sp>
        <p:sp>
          <p:nvSpPr>
            <p:cNvPr id="25" name="Rounded Rectangle 17">
              <a:extLst>
                <a:ext uri="{FF2B5EF4-FFF2-40B4-BE49-F238E27FC236}">
                  <a16:creationId xmlns:a16="http://schemas.microsoft.com/office/drawing/2014/main" id="{50A90D9E-EDFD-AA64-9CC2-1B7EAA390559}"/>
                </a:ext>
              </a:extLst>
            </p:cNvPr>
            <p:cNvSpPr/>
            <p:nvPr/>
          </p:nvSpPr>
          <p:spPr>
            <a:xfrm>
              <a:off x="7805480" y="2299716"/>
              <a:ext cx="1097280" cy="822960"/>
            </a:xfrm>
            <a:prstGeom prst="roundRect">
              <a:avLst/>
            </a:prstGeom>
            <a:solidFill>
              <a:srgbClr val="FFC000"/>
            </a:solidFill>
            <a:ln>
              <a:solidFill>
                <a:srgbClr val="965B1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8</a:t>
              </a:r>
            </a:p>
          </p:txBody>
        </p:sp>
        <p:sp>
          <p:nvSpPr>
            <p:cNvPr id="27" name="TextBox 26">
              <a:extLst>
                <a:ext uri="{FF2B5EF4-FFF2-40B4-BE49-F238E27FC236}">
                  <a16:creationId xmlns:a16="http://schemas.microsoft.com/office/drawing/2014/main" id="{471882C9-C40C-A53F-9F1A-5CFC9C1FD6B8}"/>
                </a:ext>
              </a:extLst>
            </p:cNvPr>
            <p:cNvSpPr txBox="1"/>
            <p:nvPr/>
          </p:nvSpPr>
          <p:spPr>
            <a:xfrm>
              <a:off x="7805480" y="3195828"/>
              <a:ext cx="1097280" cy="228600"/>
            </a:xfrm>
            <a:prstGeom prst="rect">
              <a:avLst/>
            </a:prstGeom>
            <a:noFill/>
          </p:spPr>
          <p:txBody>
            <a:bodyPr wrap="square" lIns="45720" rIns="45720" anchor="t">
              <a:spAutoFit/>
            </a:bodyPr>
            <a:lstStyle/>
            <a:p>
              <a:pPr algn="ctr"/>
              <a:r>
                <a:rPr sz="1000" b="0">
                  <a:solidFill>
                    <a:srgbClr val="B0BED2"/>
                  </a:solidFill>
                  <a:latin typeface="Aptos"/>
                </a:rPr>
                <a:t>4</a:t>
              </a:r>
            </a:p>
          </p:txBody>
        </p:sp>
        <p:sp>
          <p:nvSpPr>
            <p:cNvPr id="29" name="TextBox 28">
              <a:extLst>
                <a:ext uri="{FF2B5EF4-FFF2-40B4-BE49-F238E27FC236}">
                  <a16:creationId xmlns:a16="http://schemas.microsoft.com/office/drawing/2014/main" id="{087F7599-28B6-32E0-FE3E-35196F25F427}"/>
                </a:ext>
              </a:extLst>
            </p:cNvPr>
            <p:cNvSpPr txBox="1"/>
            <p:nvPr/>
          </p:nvSpPr>
          <p:spPr>
            <a:xfrm>
              <a:off x="7759760" y="1970532"/>
              <a:ext cx="1188720" cy="369332"/>
            </a:xfrm>
            <a:prstGeom prst="rect">
              <a:avLst/>
            </a:prstGeom>
            <a:noFill/>
          </p:spPr>
          <p:txBody>
            <a:bodyPr wrap="square" lIns="45720" rIns="45720" anchor="t">
              <a:spAutoFit/>
            </a:bodyPr>
            <a:lstStyle/>
            <a:p>
              <a:pPr algn="ctr"/>
              <a:r>
                <a:rPr b="1" dirty="0">
                  <a:solidFill>
                    <a:srgbClr val="FFB74D"/>
                  </a:solidFill>
                  <a:latin typeface="Aptos"/>
                </a:rPr>
                <a:t>RIGHT</a:t>
              </a:r>
            </a:p>
          </p:txBody>
        </p:sp>
        <p:sp>
          <p:nvSpPr>
            <p:cNvPr id="31" name="TextBox 30">
              <a:extLst>
                <a:ext uri="{FF2B5EF4-FFF2-40B4-BE49-F238E27FC236}">
                  <a16:creationId xmlns:a16="http://schemas.microsoft.com/office/drawing/2014/main" id="{8785E160-BE3E-3B17-BD42-FC9CAE2071AC}"/>
                </a:ext>
              </a:extLst>
            </p:cNvPr>
            <p:cNvSpPr txBox="1"/>
            <p:nvPr/>
          </p:nvSpPr>
          <p:spPr>
            <a:xfrm>
              <a:off x="7759760" y="2189988"/>
              <a:ext cx="1188720" cy="201168"/>
            </a:xfrm>
            <a:prstGeom prst="rect">
              <a:avLst/>
            </a:prstGeom>
            <a:noFill/>
          </p:spPr>
          <p:txBody>
            <a:bodyPr wrap="square" lIns="45720" rIns="45720" anchor="t">
              <a:spAutoFit/>
            </a:bodyPr>
            <a:lstStyle/>
            <a:p>
              <a:pPr algn="ctr"/>
              <a:r>
                <a:rPr sz="1400" b="1" dirty="0">
                  <a:solidFill>
                    <a:srgbClr val="FFB74D"/>
                  </a:solidFill>
                  <a:latin typeface="Aptos"/>
                </a:rPr>
                <a:t>↓</a:t>
              </a:r>
            </a:p>
          </p:txBody>
        </p:sp>
        <p:cxnSp>
          <p:nvCxnSpPr>
            <p:cNvPr id="41" name="Straight Arrow Connector 40">
              <a:extLst>
                <a:ext uri="{FF2B5EF4-FFF2-40B4-BE49-F238E27FC236}">
                  <a16:creationId xmlns:a16="http://schemas.microsoft.com/office/drawing/2014/main" id="{FC199819-764C-D791-64AD-AB466D05994A}"/>
                </a:ext>
              </a:extLst>
            </p:cNvPr>
            <p:cNvCxnSpPr>
              <a:cxnSpLocks/>
            </p:cNvCxnSpPr>
            <p:nvPr/>
          </p:nvCxnSpPr>
          <p:spPr>
            <a:xfrm>
              <a:off x="3664314" y="2283577"/>
              <a:ext cx="0" cy="190679"/>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DC098F4-22AA-82D0-9C86-387D850852BC}"/>
                </a:ext>
              </a:extLst>
            </p:cNvPr>
            <p:cNvCxnSpPr>
              <a:cxnSpLocks/>
            </p:cNvCxnSpPr>
            <p:nvPr/>
          </p:nvCxnSpPr>
          <p:spPr>
            <a:xfrm>
              <a:off x="8354120" y="2283576"/>
              <a:ext cx="0" cy="19067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36086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1B16B-8819-D8D1-D8A9-E600E2070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36FEE-910E-CE7D-C720-B2FFDCC827D4}"/>
              </a:ext>
            </a:extLst>
          </p:cNvPr>
          <p:cNvSpPr>
            <a:spLocks noGrp="1"/>
          </p:cNvSpPr>
          <p:nvPr>
            <p:ph type="title"/>
          </p:nvPr>
        </p:nvSpPr>
        <p:spPr/>
        <p:txBody>
          <a:bodyPr>
            <a:normAutofit/>
          </a:bodyPr>
          <a:lstStyle/>
          <a:p>
            <a:r>
              <a:rPr lang="en-IE" dirty="0"/>
              <a:t>Worked Example of the </a:t>
            </a:r>
            <a:br>
              <a:rPr lang="en-IE" dirty="0"/>
            </a:br>
            <a:r>
              <a:rPr lang="en-IE" dirty="0"/>
              <a:t>“Closing Window”</a:t>
            </a:r>
          </a:p>
        </p:txBody>
      </p:sp>
      <p:sp>
        <p:nvSpPr>
          <p:cNvPr id="33" name="Rounded Rectangle 21">
            <a:extLst>
              <a:ext uri="{FF2B5EF4-FFF2-40B4-BE49-F238E27FC236}">
                <a16:creationId xmlns:a16="http://schemas.microsoft.com/office/drawing/2014/main" id="{7B4AA70E-5E8A-E5B5-E111-4F3925F98D68}"/>
              </a:ext>
            </a:extLst>
          </p:cNvPr>
          <p:cNvSpPr/>
          <p:nvPr/>
        </p:nvSpPr>
        <p:spPr>
          <a:xfrm>
            <a:off x="953396" y="2004679"/>
            <a:ext cx="5824725" cy="569116"/>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1700" b="0" dirty="0">
                <a:solidFill>
                  <a:srgbClr val="F5F8FC"/>
                </a:solidFill>
                <a:latin typeface="Aptos"/>
              </a:rPr>
              <a:t>Stage 1: Total the data from the end positions</a:t>
            </a:r>
            <a:endParaRPr sz="1700" b="0" dirty="0">
              <a:solidFill>
                <a:srgbClr val="F5F8FC"/>
              </a:solidFill>
              <a:latin typeface="Aptos"/>
            </a:endParaRPr>
          </a:p>
        </p:txBody>
      </p:sp>
      <p:sp>
        <p:nvSpPr>
          <p:cNvPr id="37" name="TextBox 36">
            <a:extLst>
              <a:ext uri="{FF2B5EF4-FFF2-40B4-BE49-F238E27FC236}">
                <a16:creationId xmlns:a16="http://schemas.microsoft.com/office/drawing/2014/main" id="{8C808228-1233-813A-D835-9BE7107D2ED9}"/>
              </a:ext>
            </a:extLst>
          </p:cNvPr>
          <p:cNvSpPr txBox="1"/>
          <p:nvPr/>
        </p:nvSpPr>
        <p:spPr>
          <a:xfrm>
            <a:off x="1066800" y="4713732"/>
            <a:ext cx="10058400" cy="1585049"/>
          </a:xfrm>
          <a:prstGeom prst="rect">
            <a:avLst/>
          </a:prstGeom>
          <a:noFill/>
        </p:spPr>
        <p:txBody>
          <a:bodyPr wrap="square" lIns="45720" rIns="45720" anchor="t">
            <a:spAutoFit/>
          </a:bodyPr>
          <a:lstStyle/>
          <a:p>
            <a:pPr marL="285750" indent="-285750" algn="l">
              <a:buFont typeface="Arial" panose="020B0604020202020204" pitchFamily="34" charset="0"/>
              <a:buChar char="•"/>
            </a:pPr>
            <a:r>
              <a:rPr lang="en-IE" sz="2200" dirty="0"/>
              <a:t>Question: Why not move the right pointer in (i.e. to the left)?</a:t>
            </a:r>
          </a:p>
          <a:p>
            <a:pPr marL="742950" lvl="1" indent="-285750">
              <a:buFont typeface="Arial" panose="020B0604020202020204" pitchFamily="34" charset="0"/>
              <a:buChar char="•"/>
            </a:pPr>
            <a:r>
              <a:rPr lang="en-IE" sz="2000" dirty="0"/>
              <a:t>That decreases the total even more, as our larger value will probably get smaller</a:t>
            </a:r>
          </a:p>
          <a:p>
            <a:pPr marL="742950" lvl="1" indent="-285750">
              <a:buFont typeface="Arial" panose="020B0604020202020204" pitchFamily="34" charset="0"/>
              <a:buChar char="•"/>
            </a:pPr>
            <a:endParaRPr lang="en-IE" sz="1100" dirty="0"/>
          </a:p>
          <a:p>
            <a:pPr marL="285750" indent="-285750">
              <a:buFont typeface="Arial" panose="020B0604020202020204" pitchFamily="34" charset="0"/>
              <a:buChar char="•"/>
            </a:pPr>
            <a:r>
              <a:rPr lang="en-IE" sz="2200" dirty="0"/>
              <a:t>Movements are dictated by the sort – we’re not guessing, we know which direction to move</a:t>
            </a:r>
            <a:endParaRPr sz="2200" dirty="0"/>
          </a:p>
        </p:txBody>
      </p:sp>
      <p:grpSp>
        <p:nvGrpSpPr>
          <p:cNvPr id="3" name="Group 2">
            <a:extLst>
              <a:ext uri="{FF2B5EF4-FFF2-40B4-BE49-F238E27FC236}">
                <a16:creationId xmlns:a16="http://schemas.microsoft.com/office/drawing/2014/main" id="{887C0C53-22E9-CC39-7C85-D26B8125B594}"/>
              </a:ext>
            </a:extLst>
          </p:cNvPr>
          <p:cNvGrpSpPr/>
          <p:nvPr/>
        </p:nvGrpSpPr>
        <p:grpSpPr>
          <a:xfrm>
            <a:off x="907677" y="2548747"/>
            <a:ext cx="5870448" cy="1453896"/>
            <a:chOff x="3078032" y="1970532"/>
            <a:chExt cx="5870448" cy="1453896"/>
          </a:xfrm>
        </p:grpSpPr>
        <p:sp>
          <p:nvSpPr>
            <p:cNvPr id="5" name="Rounded Rectangle 7">
              <a:extLst>
                <a:ext uri="{FF2B5EF4-FFF2-40B4-BE49-F238E27FC236}">
                  <a16:creationId xmlns:a16="http://schemas.microsoft.com/office/drawing/2014/main" id="{7722F240-A85D-2C20-37C4-6C35C551D202}"/>
                </a:ext>
              </a:extLst>
            </p:cNvPr>
            <p:cNvSpPr/>
            <p:nvPr/>
          </p:nvSpPr>
          <p:spPr>
            <a:xfrm>
              <a:off x="3123752" y="2299716"/>
              <a:ext cx="1097280" cy="822960"/>
            </a:xfrm>
            <a:prstGeom prst="roundRect">
              <a:avLst/>
            </a:prstGeom>
            <a:solidFill>
              <a:schemeClr val="accent6"/>
            </a:solidFill>
            <a:ln>
              <a:solidFill>
                <a:srgbClr val="08708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1</a:t>
              </a:r>
            </a:p>
          </p:txBody>
        </p:sp>
        <p:sp>
          <p:nvSpPr>
            <p:cNvPr id="7" name="TextBox 6">
              <a:extLst>
                <a:ext uri="{FF2B5EF4-FFF2-40B4-BE49-F238E27FC236}">
                  <a16:creationId xmlns:a16="http://schemas.microsoft.com/office/drawing/2014/main" id="{6A1BDB6E-3F9B-0956-4C82-14A270E790C7}"/>
                </a:ext>
              </a:extLst>
            </p:cNvPr>
            <p:cNvSpPr txBox="1"/>
            <p:nvPr/>
          </p:nvSpPr>
          <p:spPr>
            <a:xfrm>
              <a:off x="3123752" y="3195828"/>
              <a:ext cx="1097280" cy="228600"/>
            </a:xfrm>
            <a:prstGeom prst="rect">
              <a:avLst/>
            </a:prstGeom>
            <a:noFill/>
          </p:spPr>
          <p:txBody>
            <a:bodyPr wrap="square" lIns="45720" rIns="45720" anchor="t">
              <a:spAutoFit/>
            </a:bodyPr>
            <a:lstStyle/>
            <a:p>
              <a:pPr algn="ctr"/>
              <a:r>
                <a:rPr sz="1000" b="0">
                  <a:solidFill>
                    <a:srgbClr val="B0BED2"/>
                  </a:solidFill>
                  <a:latin typeface="Aptos"/>
                </a:rPr>
                <a:t>0</a:t>
              </a:r>
            </a:p>
          </p:txBody>
        </p:sp>
        <p:sp>
          <p:nvSpPr>
            <p:cNvPr id="9" name="TextBox 8">
              <a:extLst>
                <a:ext uri="{FF2B5EF4-FFF2-40B4-BE49-F238E27FC236}">
                  <a16:creationId xmlns:a16="http://schemas.microsoft.com/office/drawing/2014/main" id="{6B611A1C-BE6B-FDC8-A78E-50171BD51AB9}"/>
                </a:ext>
              </a:extLst>
            </p:cNvPr>
            <p:cNvSpPr txBox="1"/>
            <p:nvPr/>
          </p:nvSpPr>
          <p:spPr>
            <a:xfrm>
              <a:off x="3078032" y="1970532"/>
              <a:ext cx="1188720" cy="369332"/>
            </a:xfrm>
            <a:prstGeom prst="rect">
              <a:avLst/>
            </a:prstGeom>
            <a:noFill/>
          </p:spPr>
          <p:txBody>
            <a:bodyPr wrap="square" lIns="45720" rIns="45720" anchor="t">
              <a:spAutoFit/>
            </a:bodyPr>
            <a:lstStyle/>
            <a:p>
              <a:pPr algn="ctr"/>
              <a:r>
                <a:rPr b="1" dirty="0">
                  <a:solidFill>
                    <a:srgbClr val="38D1E0"/>
                  </a:solidFill>
                  <a:latin typeface="Aptos"/>
                </a:rPr>
                <a:t>LEFT</a:t>
              </a:r>
            </a:p>
          </p:txBody>
        </p:sp>
        <p:sp>
          <p:nvSpPr>
            <p:cNvPr id="13" name="Rounded Rectangle 11">
              <a:extLst>
                <a:ext uri="{FF2B5EF4-FFF2-40B4-BE49-F238E27FC236}">
                  <a16:creationId xmlns:a16="http://schemas.microsoft.com/office/drawing/2014/main" id="{D643B160-C220-6003-F8C3-3BE2F5F8623E}"/>
                </a:ext>
              </a:extLst>
            </p:cNvPr>
            <p:cNvSpPr/>
            <p:nvPr/>
          </p:nvSpPr>
          <p:spPr>
            <a:xfrm>
              <a:off x="4294184"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3</a:t>
              </a:r>
            </a:p>
          </p:txBody>
        </p:sp>
        <p:sp>
          <p:nvSpPr>
            <p:cNvPr id="15" name="TextBox 14">
              <a:extLst>
                <a:ext uri="{FF2B5EF4-FFF2-40B4-BE49-F238E27FC236}">
                  <a16:creationId xmlns:a16="http://schemas.microsoft.com/office/drawing/2014/main" id="{771E3081-267E-769B-C81B-286D82A26969}"/>
                </a:ext>
              </a:extLst>
            </p:cNvPr>
            <p:cNvSpPr txBox="1"/>
            <p:nvPr/>
          </p:nvSpPr>
          <p:spPr>
            <a:xfrm>
              <a:off x="4294184" y="3195828"/>
              <a:ext cx="1097280" cy="228600"/>
            </a:xfrm>
            <a:prstGeom prst="rect">
              <a:avLst/>
            </a:prstGeom>
            <a:noFill/>
          </p:spPr>
          <p:txBody>
            <a:bodyPr wrap="square" lIns="45720" rIns="45720" anchor="t">
              <a:spAutoFit/>
            </a:bodyPr>
            <a:lstStyle/>
            <a:p>
              <a:pPr algn="ctr"/>
              <a:r>
                <a:rPr sz="1000" b="0">
                  <a:solidFill>
                    <a:srgbClr val="B0BED2"/>
                  </a:solidFill>
                  <a:latin typeface="Aptos"/>
                </a:rPr>
                <a:t>1</a:t>
              </a:r>
            </a:p>
          </p:txBody>
        </p:sp>
        <p:sp>
          <p:nvSpPr>
            <p:cNvPr id="17" name="Rounded Rectangle 13">
              <a:extLst>
                <a:ext uri="{FF2B5EF4-FFF2-40B4-BE49-F238E27FC236}">
                  <a16:creationId xmlns:a16="http://schemas.microsoft.com/office/drawing/2014/main" id="{E57FC8A7-938E-4E13-15BA-1FDDB612E7A3}"/>
                </a:ext>
              </a:extLst>
            </p:cNvPr>
            <p:cNvSpPr/>
            <p:nvPr/>
          </p:nvSpPr>
          <p:spPr>
            <a:xfrm>
              <a:off x="5464616"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4</a:t>
              </a:r>
            </a:p>
          </p:txBody>
        </p:sp>
        <p:sp>
          <p:nvSpPr>
            <p:cNvPr id="19" name="TextBox 18">
              <a:extLst>
                <a:ext uri="{FF2B5EF4-FFF2-40B4-BE49-F238E27FC236}">
                  <a16:creationId xmlns:a16="http://schemas.microsoft.com/office/drawing/2014/main" id="{421531B2-3974-E919-C068-8035FBE035EB}"/>
                </a:ext>
              </a:extLst>
            </p:cNvPr>
            <p:cNvSpPr txBox="1"/>
            <p:nvPr/>
          </p:nvSpPr>
          <p:spPr>
            <a:xfrm>
              <a:off x="5464616" y="3195828"/>
              <a:ext cx="1097280" cy="228600"/>
            </a:xfrm>
            <a:prstGeom prst="rect">
              <a:avLst/>
            </a:prstGeom>
            <a:noFill/>
          </p:spPr>
          <p:txBody>
            <a:bodyPr wrap="square" lIns="45720" rIns="45720" anchor="t">
              <a:spAutoFit/>
            </a:bodyPr>
            <a:lstStyle/>
            <a:p>
              <a:pPr algn="ctr"/>
              <a:r>
                <a:rPr sz="1000" b="0">
                  <a:solidFill>
                    <a:srgbClr val="B0BED2"/>
                  </a:solidFill>
                  <a:latin typeface="Aptos"/>
                </a:rPr>
                <a:t>2</a:t>
              </a:r>
            </a:p>
          </p:txBody>
        </p:sp>
        <p:sp>
          <p:nvSpPr>
            <p:cNvPr id="21" name="Rounded Rectangle 15">
              <a:extLst>
                <a:ext uri="{FF2B5EF4-FFF2-40B4-BE49-F238E27FC236}">
                  <a16:creationId xmlns:a16="http://schemas.microsoft.com/office/drawing/2014/main" id="{C923B066-1A28-9E6F-7F3C-B7C11649E33D}"/>
                </a:ext>
              </a:extLst>
            </p:cNvPr>
            <p:cNvSpPr/>
            <p:nvPr/>
          </p:nvSpPr>
          <p:spPr>
            <a:xfrm>
              <a:off x="6635048"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6</a:t>
              </a:r>
            </a:p>
          </p:txBody>
        </p:sp>
        <p:sp>
          <p:nvSpPr>
            <p:cNvPr id="23" name="TextBox 22">
              <a:extLst>
                <a:ext uri="{FF2B5EF4-FFF2-40B4-BE49-F238E27FC236}">
                  <a16:creationId xmlns:a16="http://schemas.microsoft.com/office/drawing/2014/main" id="{64A49057-B7CD-34CB-10E8-3E4148DC8F00}"/>
                </a:ext>
              </a:extLst>
            </p:cNvPr>
            <p:cNvSpPr txBox="1"/>
            <p:nvPr/>
          </p:nvSpPr>
          <p:spPr>
            <a:xfrm>
              <a:off x="6635048" y="3195828"/>
              <a:ext cx="1097280" cy="228600"/>
            </a:xfrm>
            <a:prstGeom prst="rect">
              <a:avLst/>
            </a:prstGeom>
            <a:noFill/>
          </p:spPr>
          <p:txBody>
            <a:bodyPr wrap="square" lIns="45720" rIns="45720" anchor="t">
              <a:spAutoFit/>
            </a:bodyPr>
            <a:lstStyle/>
            <a:p>
              <a:pPr algn="ctr"/>
              <a:r>
                <a:rPr sz="1000" b="0">
                  <a:solidFill>
                    <a:srgbClr val="B0BED2"/>
                  </a:solidFill>
                  <a:latin typeface="Aptos"/>
                </a:rPr>
                <a:t>3</a:t>
              </a:r>
            </a:p>
          </p:txBody>
        </p:sp>
        <p:sp>
          <p:nvSpPr>
            <p:cNvPr id="25" name="Rounded Rectangle 17">
              <a:extLst>
                <a:ext uri="{FF2B5EF4-FFF2-40B4-BE49-F238E27FC236}">
                  <a16:creationId xmlns:a16="http://schemas.microsoft.com/office/drawing/2014/main" id="{04C2839C-20EA-64B6-9045-714BBC481541}"/>
                </a:ext>
              </a:extLst>
            </p:cNvPr>
            <p:cNvSpPr/>
            <p:nvPr/>
          </p:nvSpPr>
          <p:spPr>
            <a:xfrm>
              <a:off x="7805480" y="2299716"/>
              <a:ext cx="1097280" cy="822960"/>
            </a:xfrm>
            <a:prstGeom prst="roundRect">
              <a:avLst/>
            </a:prstGeom>
            <a:solidFill>
              <a:srgbClr val="FFC000"/>
            </a:solidFill>
            <a:ln>
              <a:solidFill>
                <a:srgbClr val="965B1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8</a:t>
              </a:r>
            </a:p>
          </p:txBody>
        </p:sp>
        <p:sp>
          <p:nvSpPr>
            <p:cNvPr id="27" name="TextBox 26">
              <a:extLst>
                <a:ext uri="{FF2B5EF4-FFF2-40B4-BE49-F238E27FC236}">
                  <a16:creationId xmlns:a16="http://schemas.microsoft.com/office/drawing/2014/main" id="{C15BBAB5-5EFE-6F69-255F-6F0E4A4C1B5B}"/>
                </a:ext>
              </a:extLst>
            </p:cNvPr>
            <p:cNvSpPr txBox="1"/>
            <p:nvPr/>
          </p:nvSpPr>
          <p:spPr>
            <a:xfrm>
              <a:off x="7805480" y="3195828"/>
              <a:ext cx="1097280" cy="228600"/>
            </a:xfrm>
            <a:prstGeom prst="rect">
              <a:avLst/>
            </a:prstGeom>
            <a:noFill/>
          </p:spPr>
          <p:txBody>
            <a:bodyPr wrap="square" lIns="45720" rIns="45720" anchor="t">
              <a:spAutoFit/>
            </a:bodyPr>
            <a:lstStyle/>
            <a:p>
              <a:pPr algn="ctr"/>
              <a:r>
                <a:rPr sz="1000" b="0">
                  <a:solidFill>
                    <a:srgbClr val="B0BED2"/>
                  </a:solidFill>
                  <a:latin typeface="Aptos"/>
                </a:rPr>
                <a:t>4</a:t>
              </a:r>
            </a:p>
          </p:txBody>
        </p:sp>
        <p:sp>
          <p:nvSpPr>
            <p:cNvPr id="29" name="TextBox 28">
              <a:extLst>
                <a:ext uri="{FF2B5EF4-FFF2-40B4-BE49-F238E27FC236}">
                  <a16:creationId xmlns:a16="http://schemas.microsoft.com/office/drawing/2014/main" id="{A8E283B5-6424-BCDC-3D19-57FC1F1A713C}"/>
                </a:ext>
              </a:extLst>
            </p:cNvPr>
            <p:cNvSpPr txBox="1"/>
            <p:nvPr/>
          </p:nvSpPr>
          <p:spPr>
            <a:xfrm>
              <a:off x="7759760" y="1970532"/>
              <a:ext cx="1188720" cy="369332"/>
            </a:xfrm>
            <a:prstGeom prst="rect">
              <a:avLst/>
            </a:prstGeom>
            <a:noFill/>
          </p:spPr>
          <p:txBody>
            <a:bodyPr wrap="square" lIns="45720" rIns="45720" anchor="t">
              <a:spAutoFit/>
            </a:bodyPr>
            <a:lstStyle/>
            <a:p>
              <a:pPr algn="ctr"/>
              <a:r>
                <a:rPr b="1" dirty="0">
                  <a:solidFill>
                    <a:srgbClr val="FFB74D"/>
                  </a:solidFill>
                  <a:latin typeface="Aptos"/>
                </a:rPr>
                <a:t>RIGHT</a:t>
              </a:r>
            </a:p>
          </p:txBody>
        </p:sp>
        <p:cxnSp>
          <p:nvCxnSpPr>
            <p:cNvPr id="41" name="Straight Arrow Connector 40">
              <a:extLst>
                <a:ext uri="{FF2B5EF4-FFF2-40B4-BE49-F238E27FC236}">
                  <a16:creationId xmlns:a16="http://schemas.microsoft.com/office/drawing/2014/main" id="{F92E5771-8DC9-3247-8278-32C2B16EAC24}"/>
                </a:ext>
              </a:extLst>
            </p:cNvPr>
            <p:cNvCxnSpPr>
              <a:cxnSpLocks/>
            </p:cNvCxnSpPr>
            <p:nvPr/>
          </p:nvCxnSpPr>
          <p:spPr>
            <a:xfrm>
              <a:off x="3664314" y="2283577"/>
              <a:ext cx="0" cy="190679"/>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A452315-F337-7ACE-9787-14DB90AC990C}"/>
                </a:ext>
              </a:extLst>
            </p:cNvPr>
            <p:cNvCxnSpPr>
              <a:cxnSpLocks/>
            </p:cNvCxnSpPr>
            <p:nvPr/>
          </p:nvCxnSpPr>
          <p:spPr>
            <a:xfrm>
              <a:off x="8354120" y="2283576"/>
              <a:ext cx="0" cy="19067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6" name="Rounded Rectangle 22">
            <a:extLst>
              <a:ext uri="{FF2B5EF4-FFF2-40B4-BE49-F238E27FC236}">
                <a16:creationId xmlns:a16="http://schemas.microsoft.com/office/drawing/2014/main" id="{BD24162C-E295-FE08-549D-C2DC47CF376C}"/>
              </a:ext>
            </a:extLst>
          </p:cNvPr>
          <p:cNvSpPr/>
          <p:nvPr/>
        </p:nvSpPr>
        <p:spPr>
          <a:xfrm>
            <a:off x="6992470" y="2004679"/>
            <a:ext cx="4132730" cy="1769364"/>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1700" b="1" dirty="0">
                <a:solidFill>
                  <a:schemeClr val="bg1">
                    <a:lumMod val="95000"/>
                  </a:schemeClr>
                </a:solidFill>
                <a:latin typeface="Aptos"/>
              </a:rPr>
              <a:t>Data[left] + data[right]:</a:t>
            </a:r>
          </a:p>
          <a:p>
            <a:pPr algn="ctr">
              <a:spcAft>
                <a:spcPts val="700"/>
              </a:spcAft>
            </a:pPr>
            <a:r>
              <a:rPr lang="en-IE" sz="1700" b="1" dirty="0">
                <a:solidFill>
                  <a:schemeClr val="bg1">
                    <a:lumMod val="95000"/>
                  </a:schemeClr>
                </a:solidFill>
                <a:latin typeface="Aptos"/>
              </a:rPr>
              <a:t>1  + 8 = 9</a:t>
            </a:r>
          </a:p>
          <a:p>
            <a:pPr>
              <a:spcAft>
                <a:spcPts val="700"/>
              </a:spcAft>
            </a:pPr>
            <a:r>
              <a:rPr lang="en-IE" sz="1700" b="1" dirty="0">
                <a:solidFill>
                  <a:srgbClr val="FFC000"/>
                </a:solidFill>
                <a:latin typeface="Aptos"/>
              </a:rPr>
              <a:t>9 is smaller than our target, 10</a:t>
            </a:r>
          </a:p>
          <a:p>
            <a:pPr>
              <a:spcAft>
                <a:spcPts val="700"/>
              </a:spcAft>
            </a:pPr>
            <a:r>
              <a:rPr lang="en-IE" sz="1700" b="0" dirty="0">
                <a:solidFill>
                  <a:schemeClr val="bg1">
                    <a:lumMod val="95000"/>
                  </a:schemeClr>
                </a:solidFill>
                <a:latin typeface="Aptos"/>
              </a:rPr>
              <a:t>We need a larger sum, so move left to the right by 1</a:t>
            </a:r>
            <a:endParaRPr sz="1700" b="0" dirty="0">
              <a:solidFill>
                <a:schemeClr val="bg1">
                  <a:lumMod val="95000"/>
                </a:schemeClr>
              </a:solidFill>
              <a:latin typeface="Aptos"/>
            </a:endParaRPr>
          </a:p>
        </p:txBody>
      </p:sp>
    </p:spTree>
    <p:extLst>
      <p:ext uri="{BB962C8B-B14F-4D97-AF65-F5344CB8AC3E}">
        <p14:creationId xmlns:p14="http://schemas.microsoft.com/office/powerpoint/2010/main" val="4255772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2559-052F-C8CB-CD28-C6543502A633}"/>
              </a:ext>
            </a:extLst>
          </p:cNvPr>
          <p:cNvSpPr>
            <a:spLocks noGrp="1"/>
          </p:cNvSpPr>
          <p:nvPr>
            <p:ph type="title"/>
          </p:nvPr>
        </p:nvSpPr>
        <p:spPr/>
        <p:txBody>
          <a:bodyPr/>
          <a:lstStyle/>
          <a:p>
            <a:r>
              <a:rPr lang="en-IE" dirty="0"/>
              <a:t>Repeat the Process…</a:t>
            </a:r>
          </a:p>
        </p:txBody>
      </p:sp>
      <p:grpSp>
        <p:nvGrpSpPr>
          <p:cNvPr id="58" name="Group 57">
            <a:extLst>
              <a:ext uri="{FF2B5EF4-FFF2-40B4-BE49-F238E27FC236}">
                <a16:creationId xmlns:a16="http://schemas.microsoft.com/office/drawing/2014/main" id="{3E350FCD-0E00-396E-5FFB-DA70E3457DC4}"/>
              </a:ext>
            </a:extLst>
          </p:cNvPr>
          <p:cNvGrpSpPr/>
          <p:nvPr/>
        </p:nvGrpSpPr>
        <p:grpSpPr>
          <a:xfrm>
            <a:off x="777241" y="2269882"/>
            <a:ext cx="6595557" cy="3537109"/>
            <a:chOff x="777241" y="1839563"/>
            <a:chExt cx="6595557" cy="3537109"/>
          </a:xfrm>
        </p:grpSpPr>
        <p:sp>
          <p:nvSpPr>
            <p:cNvPr id="15" name="Rounded Rectangle 11">
              <a:extLst>
                <a:ext uri="{FF2B5EF4-FFF2-40B4-BE49-F238E27FC236}">
                  <a16:creationId xmlns:a16="http://schemas.microsoft.com/office/drawing/2014/main" id="{1F658E09-3D01-DA5C-750D-3F38B7F348E1}"/>
                </a:ext>
              </a:extLst>
            </p:cNvPr>
            <p:cNvSpPr/>
            <p:nvPr/>
          </p:nvSpPr>
          <p:spPr>
            <a:xfrm>
              <a:off x="777241" y="2194560"/>
              <a:ext cx="6342978" cy="658368"/>
            </a:xfrm>
            <a:prstGeom prst="roundRect">
              <a:avLst/>
            </a:prstGeom>
            <a:solidFill>
              <a:schemeClr val="bg1">
                <a:lumMod val="85000"/>
              </a:schemeClr>
            </a:solidFill>
            <a:ln>
              <a:solidFill>
                <a:srgbClr val="19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Rounded Rectangle 16">
              <a:extLst>
                <a:ext uri="{FF2B5EF4-FFF2-40B4-BE49-F238E27FC236}">
                  <a16:creationId xmlns:a16="http://schemas.microsoft.com/office/drawing/2014/main" id="{B3F27A22-087F-58E5-C2A1-DC86BF1FD967}"/>
                </a:ext>
              </a:extLst>
            </p:cNvPr>
            <p:cNvSpPr/>
            <p:nvPr/>
          </p:nvSpPr>
          <p:spPr>
            <a:xfrm>
              <a:off x="777241" y="3035808"/>
              <a:ext cx="6342978" cy="658368"/>
            </a:xfrm>
            <a:prstGeom prst="roundRect">
              <a:avLst/>
            </a:prstGeom>
            <a:solidFill>
              <a:schemeClr val="bg1">
                <a:lumMod val="8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Rounded Rectangle 21">
              <a:extLst>
                <a:ext uri="{FF2B5EF4-FFF2-40B4-BE49-F238E27FC236}">
                  <a16:creationId xmlns:a16="http://schemas.microsoft.com/office/drawing/2014/main" id="{11C4247D-7D74-4B31-EE85-285E22BCD838}"/>
                </a:ext>
              </a:extLst>
            </p:cNvPr>
            <p:cNvSpPr/>
            <p:nvPr/>
          </p:nvSpPr>
          <p:spPr>
            <a:xfrm>
              <a:off x="777241" y="3877056"/>
              <a:ext cx="6342978" cy="658368"/>
            </a:xfrm>
            <a:prstGeom prst="roundRect">
              <a:avLst/>
            </a:prstGeom>
            <a:solidFill>
              <a:schemeClr val="bg1">
                <a:lumMod val="85000"/>
              </a:schemeClr>
            </a:solidFill>
            <a:ln>
              <a:solidFill>
                <a:srgbClr val="19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Rounded Rectangle 26">
              <a:extLst>
                <a:ext uri="{FF2B5EF4-FFF2-40B4-BE49-F238E27FC236}">
                  <a16:creationId xmlns:a16="http://schemas.microsoft.com/office/drawing/2014/main" id="{F22867A4-9F27-C85D-B1FC-5D582ECEC5B5}"/>
                </a:ext>
              </a:extLst>
            </p:cNvPr>
            <p:cNvSpPr/>
            <p:nvPr/>
          </p:nvSpPr>
          <p:spPr>
            <a:xfrm>
              <a:off x="777241" y="4718304"/>
              <a:ext cx="6342978" cy="658368"/>
            </a:xfrm>
            <a:prstGeom prst="roundRect">
              <a:avLst/>
            </a:prstGeom>
            <a:solidFill>
              <a:schemeClr val="bg1">
                <a:lumMod val="8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a:extLst>
                <a:ext uri="{FF2B5EF4-FFF2-40B4-BE49-F238E27FC236}">
                  <a16:creationId xmlns:a16="http://schemas.microsoft.com/office/drawing/2014/main" id="{A1E0E87E-ABCF-B334-66EE-6006322821EF}"/>
                </a:ext>
              </a:extLst>
            </p:cNvPr>
            <p:cNvSpPr txBox="1"/>
            <p:nvPr/>
          </p:nvSpPr>
          <p:spPr>
            <a:xfrm>
              <a:off x="831031" y="1839563"/>
              <a:ext cx="1920240" cy="307777"/>
            </a:xfrm>
            <a:prstGeom prst="rect">
              <a:avLst/>
            </a:prstGeom>
            <a:noFill/>
          </p:spPr>
          <p:txBody>
            <a:bodyPr wrap="square" lIns="45720" rIns="45720" anchor="t">
              <a:spAutoFit/>
            </a:bodyPr>
            <a:lstStyle/>
            <a:p>
              <a:pPr algn="l"/>
              <a:r>
                <a:rPr sz="1400" b="1" dirty="0"/>
                <a:t>VALUES</a:t>
              </a:r>
            </a:p>
          </p:txBody>
        </p:sp>
        <p:sp>
          <p:nvSpPr>
            <p:cNvPr id="9" name="TextBox 8">
              <a:extLst>
                <a:ext uri="{FF2B5EF4-FFF2-40B4-BE49-F238E27FC236}">
                  <a16:creationId xmlns:a16="http://schemas.microsoft.com/office/drawing/2014/main" id="{AA71BD6A-270F-0C85-3E70-8AF00B750536}"/>
                </a:ext>
              </a:extLst>
            </p:cNvPr>
            <p:cNvSpPr txBox="1"/>
            <p:nvPr/>
          </p:nvSpPr>
          <p:spPr>
            <a:xfrm>
              <a:off x="2112522" y="1839563"/>
              <a:ext cx="2011680" cy="307777"/>
            </a:xfrm>
            <a:prstGeom prst="rect">
              <a:avLst/>
            </a:prstGeom>
            <a:noFill/>
          </p:spPr>
          <p:txBody>
            <a:bodyPr wrap="square" lIns="45720" rIns="45720" anchor="t">
              <a:spAutoFit/>
            </a:bodyPr>
            <a:lstStyle/>
            <a:p>
              <a:pPr algn="l"/>
              <a:r>
                <a:rPr sz="1400" b="1" dirty="0"/>
                <a:t>COMPAR</a:t>
              </a:r>
              <a:r>
                <a:rPr lang="en-IE" sz="1400" b="1" dirty="0"/>
                <a:t>ISON</a:t>
              </a:r>
              <a:endParaRPr sz="1400" b="1" dirty="0"/>
            </a:p>
          </p:txBody>
        </p:sp>
        <p:sp>
          <p:nvSpPr>
            <p:cNvPr id="11" name="TextBox 10">
              <a:extLst>
                <a:ext uri="{FF2B5EF4-FFF2-40B4-BE49-F238E27FC236}">
                  <a16:creationId xmlns:a16="http://schemas.microsoft.com/office/drawing/2014/main" id="{53AA34AD-ECAB-3E78-EAA2-C754F0D6034B}"/>
                </a:ext>
              </a:extLst>
            </p:cNvPr>
            <p:cNvSpPr txBox="1"/>
            <p:nvPr/>
          </p:nvSpPr>
          <p:spPr>
            <a:xfrm>
              <a:off x="3663519" y="1839563"/>
              <a:ext cx="2331720" cy="307777"/>
            </a:xfrm>
            <a:prstGeom prst="rect">
              <a:avLst/>
            </a:prstGeom>
            <a:noFill/>
          </p:spPr>
          <p:txBody>
            <a:bodyPr wrap="square" lIns="45720" rIns="45720" anchor="t">
              <a:spAutoFit/>
            </a:bodyPr>
            <a:lstStyle/>
            <a:p>
              <a:pPr algn="l"/>
              <a:r>
                <a:rPr lang="en-IE" sz="1400" b="1" dirty="0"/>
                <a:t>REQUIRED </a:t>
              </a:r>
              <a:r>
                <a:rPr sz="1400" b="1" dirty="0"/>
                <a:t>ACTION</a:t>
              </a:r>
            </a:p>
          </p:txBody>
        </p:sp>
        <p:sp>
          <p:nvSpPr>
            <p:cNvPr id="13" name="TextBox 12">
              <a:extLst>
                <a:ext uri="{FF2B5EF4-FFF2-40B4-BE49-F238E27FC236}">
                  <a16:creationId xmlns:a16="http://schemas.microsoft.com/office/drawing/2014/main" id="{9BCDF295-CB3A-A0EE-4100-65F1B77591B9}"/>
                </a:ext>
              </a:extLst>
            </p:cNvPr>
            <p:cNvSpPr txBox="1"/>
            <p:nvPr/>
          </p:nvSpPr>
          <p:spPr>
            <a:xfrm>
              <a:off x="5543998" y="1840482"/>
              <a:ext cx="1828800" cy="307777"/>
            </a:xfrm>
            <a:prstGeom prst="rect">
              <a:avLst/>
            </a:prstGeom>
            <a:noFill/>
          </p:spPr>
          <p:txBody>
            <a:bodyPr wrap="square" lIns="45720" rIns="45720" anchor="t">
              <a:spAutoFit/>
            </a:bodyPr>
            <a:lstStyle/>
            <a:p>
              <a:pPr algn="l"/>
              <a:r>
                <a:rPr sz="1400" b="1" dirty="0"/>
                <a:t>OUTCOME</a:t>
              </a:r>
            </a:p>
          </p:txBody>
        </p:sp>
        <p:sp>
          <p:nvSpPr>
            <p:cNvPr id="17" name="TextBox 16">
              <a:extLst>
                <a:ext uri="{FF2B5EF4-FFF2-40B4-BE49-F238E27FC236}">
                  <a16:creationId xmlns:a16="http://schemas.microsoft.com/office/drawing/2014/main" id="{187B2B39-A973-AAB1-722C-E8EF83106F45}"/>
                </a:ext>
              </a:extLst>
            </p:cNvPr>
            <p:cNvSpPr txBox="1"/>
            <p:nvPr/>
          </p:nvSpPr>
          <p:spPr>
            <a:xfrm>
              <a:off x="974376" y="2331720"/>
              <a:ext cx="1737360" cy="400110"/>
            </a:xfrm>
            <a:prstGeom prst="rect">
              <a:avLst/>
            </a:prstGeom>
            <a:noFill/>
          </p:spPr>
          <p:txBody>
            <a:bodyPr wrap="square" lIns="45720" rIns="45720" anchor="t">
              <a:spAutoFit/>
            </a:bodyPr>
            <a:lstStyle/>
            <a:p>
              <a:pPr algn="l"/>
              <a:r>
                <a:rPr sz="2000" b="1" dirty="0">
                  <a:solidFill>
                    <a:schemeClr val="bg1"/>
                  </a:solidFill>
                </a:rPr>
                <a:t>1 + 8</a:t>
              </a:r>
            </a:p>
          </p:txBody>
        </p:sp>
        <p:sp>
          <p:nvSpPr>
            <p:cNvPr id="19" name="TextBox 18">
              <a:extLst>
                <a:ext uri="{FF2B5EF4-FFF2-40B4-BE49-F238E27FC236}">
                  <a16:creationId xmlns:a16="http://schemas.microsoft.com/office/drawing/2014/main" id="{4C4CD99A-9991-C610-D516-42D4F292B9AB}"/>
                </a:ext>
              </a:extLst>
            </p:cNvPr>
            <p:cNvSpPr txBox="1"/>
            <p:nvPr/>
          </p:nvSpPr>
          <p:spPr>
            <a:xfrm>
              <a:off x="2222250" y="2331720"/>
              <a:ext cx="1828800" cy="400110"/>
            </a:xfrm>
            <a:prstGeom prst="rect">
              <a:avLst/>
            </a:prstGeom>
            <a:noFill/>
          </p:spPr>
          <p:txBody>
            <a:bodyPr wrap="square" lIns="45720" rIns="45720" anchor="t">
              <a:spAutoFit/>
            </a:bodyPr>
            <a:lstStyle/>
            <a:p>
              <a:pPr algn="l"/>
              <a:r>
                <a:rPr sz="2000" b="1" dirty="0">
                  <a:solidFill>
                    <a:schemeClr val="bg1"/>
                  </a:solidFill>
                </a:rPr>
                <a:t>9 &lt; 10</a:t>
              </a:r>
            </a:p>
          </p:txBody>
        </p:sp>
        <p:sp>
          <p:nvSpPr>
            <p:cNvPr id="21" name="TextBox 20">
              <a:extLst>
                <a:ext uri="{FF2B5EF4-FFF2-40B4-BE49-F238E27FC236}">
                  <a16:creationId xmlns:a16="http://schemas.microsoft.com/office/drawing/2014/main" id="{07E6B3DB-190D-271A-EB14-C3D9F340AF5E}"/>
                </a:ext>
              </a:extLst>
            </p:cNvPr>
            <p:cNvSpPr txBox="1"/>
            <p:nvPr/>
          </p:nvSpPr>
          <p:spPr>
            <a:xfrm>
              <a:off x="3773247" y="2331720"/>
              <a:ext cx="2148839" cy="400110"/>
            </a:xfrm>
            <a:prstGeom prst="rect">
              <a:avLst/>
            </a:prstGeom>
            <a:noFill/>
          </p:spPr>
          <p:txBody>
            <a:bodyPr wrap="square" lIns="45720" rIns="45720" anchor="t">
              <a:spAutoFit/>
            </a:bodyPr>
            <a:lstStyle/>
            <a:p>
              <a:pPr algn="l"/>
              <a:r>
                <a:rPr sz="2000" b="1" dirty="0">
                  <a:solidFill>
                    <a:schemeClr val="tx2">
                      <a:lumMod val="75000"/>
                    </a:schemeClr>
                  </a:solidFill>
                  <a:latin typeface="Abadi" panose="020B0604020104020204" pitchFamily="34" charset="0"/>
                </a:rPr>
                <a:t>Move left →</a:t>
              </a:r>
            </a:p>
          </p:txBody>
        </p:sp>
        <p:sp>
          <p:nvSpPr>
            <p:cNvPr id="23" name="TextBox 22">
              <a:extLst>
                <a:ext uri="{FF2B5EF4-FFF2-40B4-BE49-F238E27FC236}">
                  <a16:creationId xmlns:a16="http://schemas.microsoft.com/office/drawing/2014/main" id="{7CDBFF0E-6C3C-EA52-3877-52F3F2C43D11}"/>
                </a:ext>
              </a:extLst>
            </p:cNvPr>
            <p:cNvSpPr txBox="1"/>
            <p:nvPr/>
          </p:nvSpPr>
          <p:spPr>
            <a:xfrm>
              <a:off x="5642162" y="2332640"/>
              <a:ext cx="1645920" cy="369332"/>
            </a:xfrm>
            <a:prstGeom prst="rect">
              <a:avLst/>
            </a:prstGeom>
            <a:noFill/>
          </p:spPr>
          <p:txBody>
            <a:bodyPr wrap="square" lIns="45720" rIns="45720" anchor="t">
              <a:spAutoFit/>
            </a:bodyPr>
            <a:lstStyle/>
            <a:p>
              <a:pPr algn="l"/>
              <a:r>
                <a:rPr lang="en-IE" b="1" dirty="0">
                  <a:solidFill>
                    <a:schemeClr val="tx2">
                      <a:lumMod val="75000"/>
                    </a:schemeClr>
                  </a:solidFill>
                  <a:latin typeface="Abadi" panose="020B0604020104020204" pitchFamily="34" charset="0"/>
                </a:rPr>
                <a:t>LEFT++</a:t>
              </a:r>
              <a:endParaRPr b="1" dirty="0">
                <a:solidFill>
                  <a:schemeClr val="tx2">
                    <a:lumMod val="75000"/>
                  </a:schemeClr>
                </a:solidFill>
                <a:latin typeface="Abadi" panose="020B0604020104020204" pitchFamily="34" charset="0"/>
              </a:endParaRPr>
            </a:p>
          </p:txBody>
        </p:sp>
        <p:sp>
          <p:nvSpPr>
            <p:cNvPr id="27" name="TextBox 26">
              <a:extLst>
                <a:ext uri="{FF2B5EF4-FFF2-40B4-BE49-F238E27FC236}">
                  <a16:creationId xmlns:a16="http://schemas.microsoft.com/office/drawing/2014/main" id="{B6617E5D-FDBD-C176-8909-1570DD41C128}"/>
                </a:ext>
              </a:extLst>
            </p:cNvPr>
            <p:cNvSpPr txBox="1"/>
            <p:nvPr/>
          </p:nvSpPr>
          <p:spPr>
            <a:xfrm>
              <a:off x="974376" y="3172968"/>
              <a:ext cx="1737360" cy="400110"/>
            </a:xfrm>
            <a:prstGeom prst="rect">
              <a:avLst/>
            </a:prstGeom>
            <a:noFill/>
          </p:spPr>
          <p:txBody>
            <a:bodyPr wrap="square" lIns="45720" rIns="45720" anchor="t">
              <a:spAutoFit/>
            </a:bodyPr>
            <a:lstStyle/>
            <a:p>
              <a:pPr algn="l"/>
              <a:r>
                <a:rPr sz="2000" b="1">
                  <a:solidFill>
                    <a:schemeClr val="bg1"/>
                  </a:solidFill>
                </a:rPr>
                <a:t>3 + 8</a:t>
              </a:r>
            </a:p>
          </p:txBody>
        </p:sp>
        <p:sp>
          <p:nvSpPr>
            <p:cNvPr id="29" name="TextBox 28">
              <a:extLst>
                <a:ext uri="{FF2B5EF4-FFF2-40B4-BE49-F238E27FC236}">
                  <a16:creationId xmlns:a16="http://schemas.microsoft.com/office/drawing/2014/main" id="{97499069-1A89-2F1A-860D-0180F5EA427E}"/>
                </a:ext>
              </a:extLst>
            </p:cNvPr>
            <p:cNvSpPr txBox="1"/>
            <p:nvPr/>
          </p:nvSpPr>
          <p:spPr>
            <a:xfrm>
              <a:off x="2222250" y="3172968"/>
              <a:ext cx="1828800" cy="400110"/>
            </a:xfrm>
            <a:prstGeom prst="rect">
              <a:avLst/>
            </a:prstGeom>
            <a:noFill/>
          </p:spPr>
          <p:txBody>
            <a:bodyPr wrap="square" lIns="45720" rIns="45720" anchor="t">
              <a:spAutoFit/>
            </a:bodyPr>
            <a:lstStyle/>
            <a:p>
              <a:pPr algn="l"/>
              <a:r>
                <a:rPr sz="2000" b="1" dirty="0">
                  <a:solidFill>
                    <a:schemeClr val="bg1"/>
                  </a:solidFill>
                </a:rPr>
                <a:t>11 &gt; 10</a:t>
              </a:r>
            </a:p>
          </p:txBody>
        </p:sp>
        <p:sp>
          <p:nvSpPr>
            <p:cNvPr id="31" name="TextBox 30">
              <a:extLst>
                <a:ext uri="{FF2B5EF4-FFF2-40B4-BE49-F238E27FC236}">
                  <a16:creationId xmlns:a16="http://schemas.microsoft.com/office/drawing/2014/main" id="{9F70E800-77BA-4521-BA56-5C5CEFB5CF5E}"/>
                </a:ext>
              </a:extLst>
            </p:cNvPr>
            <p:cNvSpPr txBox="1"/>
            <p:nvPr/>
          </p:nvSpPr>
          <p:spPr>
            <a:xfrm>
              <a:off x="3773247" y="3172968"/>
              <a:ext cx="2148839" cy="400110"/>
            </a:xfrm>
            <a:prstGeom prst="rect">
              <a:avLst/>
            </a:prstGeom>
            <a:noFill/>
          </p:spPr>
          <p:txBody>
            <a:bodyPr wrap="square" lIns="45720" rIns="45720" anchor="t">
              <a:spAutoFit/>
            </a:bodyPr>
            <a:lstStyle/>
            <a:p>
              <a:pPr algn="l"/>
              <a:r>
                <a:rPr sz="2000" b="1" dirty="0">
                  <a:solidFill>
                    <a:srgbClr val="FFA015"/>
                  </a:solidFill>
                  <a:latin typeface="Abadi" panose="020B0604020104020204" pitchFamily="34" charset="0"/>
                </a:rPr>
                <a:t>Move right ←</a:t>
              </a:r>
            </a:p>
          </p:txBody>
        </p:sp>
        <p:sp>
          <p:nvSpPr>
            <p:cNvPr id="33" name="TextBox 32">
              <a:extLst>
                <a:ext uri="{FF2B5EF4-FFF2-40B4-BE49-F238E27FC236}">
                  <a16:creationId xmlns:a16="http://schemas.microsoft.com/office/drawing/2014/main" id="{A62B1E4E-FF72-E0C5-46C6-B8443B111325}"/>
                </a:ext>
              </a:extLst>
            </p:cNvPr>
            <p:cNvSpPr txBox="1"/>
            <p:nvPr/>
          </p:nvSpPr>
          <p:spPr>
            <a:xfrm>
              <a:off x="5635438" y="3173888"/>
              <a:ext cx="1645920" cy="369332"/>
            </a:xfrm>
            <a:prstGeom prst="rect">
              <a:avLst/>
            </a:prstGeom>
            <a:noFill/>
          </p:spPr>
          <p:txBody>
            <a:bodyPr wrap="square" lIns="45720" rIns="45720" anchor="t">
              <a:spAutoFit/>
            </a:bodyPr>
            <a:lstStyle/>
            <a:p>
              <a:pPr algn="l"/>
              <a:r>
                <a:rPr lang="en-IE" b="1" dirty="0">
                  <a:solidFill>
                    <a:srgbClr val="FFA015"/>
                  </a:solidFill>
                  <a:latin typeface="Abadi" panose="020B0604020104020204" pitchFamily="34" charset="0"/>
                </a:rPr>
                <a:t>RIGHT--</a:t>
              </a:r>
              <a:endParaRPr b="1" dirty="0">
                <a:solidFill>
                  <a:srgbClr val="FFA015"/>
                </a:solidFill>
                <a:latin typeface="Abadi" panose="020B0604020104020204" pitchFamily="34" charset="0"/>
              </a:endParaRPr>
            </a:p>
          </p:txBody>
        </p:sp>
        <p:sp>
          <p:nvSpPr>
            <p:cNvPr id="37" name="TextBox 36">
              <a:extLst>
                <a:ext uri="{FF2B5EF4-FFF2-40B4-BE49-F238E27FC236}">
                  <a16:creationId xmlns:a16="http://schemas.microsoft.com/office/drawing/2014/main" id="{8F90FD3F-52CC-2B71-D134-AAAE4523EFBE}"/>
                </a:ext>
              </a:extLst>
            </p:cNvPr>
            <p:cNvSpPr txBox="1"/>
            <p:nvPr/>
          </p:nvSpPr>
          <p:spPr>
            <a:xfrm>
              <a:off x="974376" y="4014216"/>
              <a:ext cx="1737360" cy="400110"/>
            </a:xfrm>
            <a:prstGeom prst="rect">
              <a:avLst/>
            </a:prstGeom>
            <a:noFill/>
          </p:spPr>
          <p:txBody>
            <a:bodyPr wrap="square" lIns="45720" rIns="45720" anchor="t">
              <a:spAutoFit/>
            </a:bodyPr>
            <a:lstStyle/>
            <a:p>
              <a:pPr algn="l"/>
              <a:r>
                <a:rPr sz="2000" b="1">
                  <a:solidFill>
                    <a:schemeClr val="bg1"/>
                  </a:solidFill>
                </a:rPr>
                <a:t>3 + 6</a:t>
              </a:r>
            </a:p>
          </p:txBody>
        </p:sp>
        <p:sp>
          <p:nvSpPr>
            <p:cNvPr id="39" name="TextBox 38">
              <a:extLst>
                <a:ext uri="{FF2B5EF4-FFF2-40B4-BE49-F238E27FC236}">
                  <a16:creationId xmlns:a16="http://schemas.microsoft.com/office/drawing/2014/main" id="{1EC7B600-4030-99A3-94DC-E91D4F192B01}"/>
                </a:ext>
              </a:extLst>
            </p:cNvPr>
            <p:cNvSpPr txBox="1"/>
            <p:nvPr/>
          </p:nvSpPr>
          <p:spPr>
            <a:xfrm>
              <a:off x="2222250" y="4014216"/>
              <a:ext cx="1828800" cy="400110"/>
            </a:xfrm>
            <a:prstGeom prst="rect">
              <a:avLst/>
            </a:prstGeom>
            <a:noFill/>
          </p:spPr>
          <p:txBody>
            <a:bodyPr wrap="square" lIns="45720" rIns="45720" anchor="t">
              <a:spAutoFit/>
            </a:bodyPr>
            <a:lstStyle/>
            <a:p>
              <a:pPr algn="l"/>
              <a:r>
                <a:rPr sz="2000" b="1">
                  <a:solidFill>
                    <a:schemeClr val="bg1"/>
                  </a:solidFill>
                </a:rPr>
                <a:t>9 &lt; 10</a:t>
              </a:r>
            </a:p>
          </p:txBody>
        </p:sp>
        <p:sp>
          <p:nvSpPr>
            <p:cNvPr id="41" name="TextBox 40">
              <a:extLst>
                <a:ext uri="{FF2B5EF4-FFF2-40B4-BE49-F238E27FC236}">
                  <a16:creationId xmlns:a16="http://schemas.microsoft.com/office/drawing/2014/main" id="{FC39DE7B-E1AA-2CF6-ECDD-1D36D27056E2}"/>
                </a:ext>
              </a:extLst>
            </p:cNvPr>
            <p:cNvSpPr txBox="1"/>
            <p:nvPr/>
          </p:nvSpPr>
          <p:spPr>
            <a:xfrm>
              <a:off x="3773247" y="4014216"/>
              <a:ext cx="2148839" cy="400110"/>
            </a:xfrm>
            <a:prstGeom prst="rect">
              <a:avLst/>
            </a:prstGeom>
            <a:noFill/>
          </p:spPr>
          <p:txBody>
            <a:bodyPr wrap="square" lIns="45720" rIns="45720" anchor="t">
              <a:spAutoFit/>
            </a:bodyPr>
            <a:lstStyle/>
            <a:p>
              <a:pPr algn="l"/>
              <a:r>
                <a:rPr sz="2000" b="1" dirty="0">
                  <a:solidFill>
                    <a:schemeClr val="tx2">
                      <a:lumMod val="75000"/>
                    </a:schemeClr>
                  </a:solidFill>
                  <a:latin typeface="Abadi" panose="020B0604020104020204" pitchFamily="34" charset="0"/>
                </a:rPr>
                <a:t>Move left →</a:t>
              </a:r>
            </a:p>
          </p:txBody>
        </p:sp>
        <p:sp>
          <p:nvSpPr>
            <p:cNvPr id="43" name="TextBox 42">
              <a:extLst>
                <a:ext uri="{FF2B5EF4-FFF2-40B4-BE49-F238E27FC236}">
                  <a16:creationId xmlns:a16="http://schemas.microsoft.com/office/drawing/2014/main" id="{D9C66A6B-0D07-1337-493B-E273332F0E96}"/>
                </a:ext>
              </a:extLst>
            </p:cNvPr>
            <p:cNvSpPr txBox="1"/>
            <p:nvPr/>
          </p:nvSpPr>
          <p:spPr>
            <a:xfrm>
              <a:off x="5642162" y="4015136"/>
              <a:ext cx="1645920" cy="369332"/>
            </a:xfrm>
            <a:prstGeom prst="rect">
              <a:avLst/>
            </a:prstGeom>
            <a:noFill/>
          </p:spPr>
          <p:txBody>
            <a:bodyPr wrap="square" lIns="45720" rIns="45720" anchor="t">
              <a:spAutoFit/>
            </a:bodyPr>
            <a:lstStyle/>
            <a:p>
              <a:pPr algn="l"/>
              <a:r>
                <a:rPr lang="en-IE" b="1" dirty="0">
                  <a:solidFill>
                    <a:schemeClr val="tx2">
                      <a:lumMod val="75000"/>
                    </a:schemeClr>
                  </a:solidFill>
                  <a:latin typeface="Abadi" panose="020B0604020104020204" pitchFamily="34" charset="0"/>
                </a:rPr>
                <a:t>LEFT++</a:t>
              </a:r>
              <a:endParaRPr b="1" dirty="0">
                <a:solidFill>
                  <a:schemeClr val="tx2">
                    <a:lumMod val="75000"/>
                  </a:schemeClr>
                </a:solidFill>
                <a:latin typeface="Abadi" panose="020B0604020104020204" pitchFamily="34" charset="0"/>
              </a:endParaRPr>
            </a:p>
          </p:txBody>
        </p:sp>
        <p:sp>
          <p:nvSpPr>
            <p:cNvPr id="47" name="TextBox 46">
              <a:extLst>
                <a:ext uri="{FF2B5EF4-FFF2-40B4-BE49-F238E27FC236}">
                  <a16:creationId xmlns:a16="http://schemas.microsoft.com/office/drawing/2014/main" id="{A4172470-FA5F-2187-E905-CBD89B50D007}"/>
                </a:ext>
              </a:extLst>
            </p:cNvPr>
            <p:cNvSpPr txBox="1"/>
            <p:nvPr/>
          </p:nvSpPr>
          <p:spPr>
            <a:xfrm>
              <a:off x="974376" y="4855464"/>
              <a:ext cx="1737360" cy="400110"/>
            </a:xfrm>
            <a:prstGeom prst="rect">
              <a:avLst/>
            </a:prstGeom>
            <a:noFill/>
          </p:spPr>
          <p:txBody>
            <a:bodyPr wrap="square" lIns="45720" rIns="45720" anchor="t">
              <a:spAutoFit/>
            </a:bodyPr>
            <a:lstStyle/>
            <a:p>
              <a:pPr algn="l"/>
              <a:r>
                <a:rPr sz="2000" b="1">
                  <a:solidFill>
                    <a:schemeClr val="bg1"/>
                  </a:solidFill>
                </a:rPr>
                <a:t>4 + 6</a:t>
              </a:r>
            </a:p>
          </p:txBody>
        </p:sp>
        <p:sp>
          <p:nvSpPr>
            <p:cNvPr id="49" name="TextBox 48">
              <a:extLst>
                <a:ext uri="{FF2B5EF4-FFF2-40B4-BE49-F238E27FC236}">
                  <a16:creationId xmlns:a16="http://schemas.microsoft.com/office/drawing/2014/main" id="{9E6630B0-BC18-1D25-AB79-54D2B660A69C}"/>
                </a:ext>
              </a:extLst>
            </p:cNvPr>
            <p:cNvSpPr txBox="1"/>
            <p:nvPr/>
          </p:nvSpPr>
          <p:spPr>
            <a:xfrm>
              <a:off x="2222250" y="4855464"/>
              <a:ext cx="1828800" cy="400110"/>
            </a:xfrm>
            <a:prstGeom prst="rect">
              <a:avLst/>
            </a:prstGeom>
            <a:noFill/>
          </p:spPr>
          <p:txBody>
            <a:bodyPr wrap="square" lIns="45720" rIns="45720" anchor="t">
              <a:spAutoFit/>
            </a:bodyPr>
            <a:lstStyle/>
            <a:p>
              <a:pPr algn="l"/>
              <a:r>
                <a:rPr sz="2000" b="1">
                  <a:solidFill>
                    <a:schemeClr val="bg1"/>
                  </a:solidFill>
                </a:rPr>
                <a:t>10 = 10</a:t>
              </a:r>
            </a:p>
          </p:txBody>
        </p:sp>
        <p:sp>
          <p:nvSpPr>
            <p:cNvPr id="51" name="TextBox 50">
              <a:extLst>
                <a:ext uri="{FF2B5EF4-FFF2-40B4-BE49-F238E27FC236}">
                  <a16:creationId xmlns:a16="http://schemas.microsoft.com/office/drawing/2014/main" id="{18DF1D9C-10E3-C813-1DD1-E818502707CA}"/>
                </a:ext>
              </a:extLst>
            </p:cNvPr>
            <p:cNvSpPr txBox="1"/>
            <p:nvPr/>
          </p:nvSpPr>
          <p:spPr>
            <a:xfrm>
              <a:off x="3773247" y="4855464"/>
              <a:ext cx="2148839" cy="400110"/>
            </a:xfrm>
            <a:prstGeom prst="rect">
              <a:avLst/>
            </a:prstGeom>
            <a:noFill/>
          </p:spPr>
          <p:txBody>
            <a:bodyPr wrap="square" lIns="45720" rIns="45720" anchor="t">
              <a:spAutoFit/>
            </a:bodyPr>
            <a:lstStyle/>
            <a:p>
              <a:pPr algn="l"/>
              <a:r>
                <a:rPr sz="2000" b="1" dirty="0">
                  <a:solidFill>
                    <a:srgbClr val="00B050"/>
                  </a:solidFill>
                  <a:latin typeface="Abadi" panose="020B0604020104020204" pitchFamily="34" charset="0"/>
                </a:rPr>
                <a:t>Found!</a:t>
              </a:r>
            </a:p>
          </p:txBody>
        </p:sp>
        <p:sp>
          <p:nvSpPr>
            <p:cNvPr id="53" name="TextBox 52">
              <a:extLst>
                <a:ext uri="{FF2B5EF4-FFF2-40B4-BE49-F238E27FC236}">
                  <a16:creationId xmlns:a16="http://schemas.microsoft.com/office/drawing/2014/main" id="{5E38D7D6-08A8-3ED4-11DA-55EA32181E82}"/>
                </a:ext>
              </a:extLst>
            </p:cNvPr>
            <p:cNvSpPr txBox="1"/>
            <p:nvPr/>
          </p:nvSpPr>
          <p:spPr>
            <a:xfrm>
              <a:off x="5642162" y="4856384"/>
              <a:ext cx="1645920" cy="369332"/>
            </a:xfrm>
            <a:prstGeom prst="rect">
              <a:avLst/>
            </a:prstGeom>
            <a:noFill/>
          </p:spPr>
          <p:txBody>
            <a:bodyPr wrap="square" lIns="45720" rIns="45720" anchor="t">
              <a:spAutoFit/>
            </a:bodyPr>
            <a:lstStyle/>
            <a:p>
              <a:pPr algn="l"/>
              <a:r>
                <a:rPr b="1" dirty="0">
                  <a:solidFill>
                    <a:srgbClr val="00B050"/>
                  </a:solidFill>
                  <a:latin typeface="Abadi" panose="020B0604020104020204" pitchFamily="34" charset="0"/>
                </a:rPr>
                <a:t>SUCCESS</a:t>
              </a:r>
            </a:p>
          </p:txBody>
        </p:sp>
      </p:grpSp>
      <p:sp>
        <p:nvSpPr>
          <p:cNvPr id="55" name="Rounded Rectangle 31">
            <a:extLst>
              <a:ext uri="{FF2B5EF4-FFF2-40B4-BE49-F238E27FC236}">
                <a16:creationId xmlns:a16="http://schemas.microsoft.com/office/drawing/2014/main" id="{1AAF04CC-1FA6-59B8-D20A-624387E3938E}"/>
              </a:ext>
            </a:extLst>
          </p:cNvPr>
          <p:cNvSpPr/>
          <p:nvPr/>
        </p:nvSpPr>
        <p:spPr>
          <a:xfrm>
            <a:off x="7967382" y="2762039"/>
            <a:ext cx="3277049" cy="2849701"/>
          </a:xfrm>
          <a:prstGeom prst="roundRect">
            <a:avLst/>
          </a:prstGeom>
          <a:solidFill>
            <a:schemeClr val="bg1">
              <a:lumMod val="9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sz="2400" b="1" u="sng" dirty="0">
                <a:solidFill>
                  <a:srgbClr val="38D1E0"/>
                </a:solidFill>
              </a:rPr>
              <a:t>Decision rule</a:t>
            </a:r>
          </a:p>
          <a:p>
            <a:pPr>
              <a:spcAft>
                <a:spcPts val="700"/>
              </a:spcAft>
            </a:pPr>
            <a:r>
              <a:rPr sz="2000" b="1" dirty="0">
                <a:solidFill>
                  <a:schemeClr val="accent2"/>
                </a:solidFill>
              </a:rPr>
              <a:t>sum &lt; target</a:t>
            </a:r>
            <a:r>
              <a:rPr lang="en-IE" sz="2000" b="1" dirty="0">
                <a:solidFill>
                  <a:schemeClr val="accent2"/>
                </a:solidFill>
              </a:rPr>
              <a:t>:</a:t>
            </a:r>
            <a:endParaRPr sz="2000" b="1" dirty="0">
              <a:solidFill>
                <a:schemeClr val="accent2"/>
              </a:solidFill>
            </a:endParaRPr>
          </a:p>
          <a:p>
            <a:pPr>
              <a:spcAft>
                <a:spcPts val="700"/>
              </a:spcAft>
            </a:pPr>
            <a:r>
              <a:rPr lang="en-IE" b="0" dirty="0">
                <a:solidFill>
                  <a:srgbClr val="38D1E0"/>
                </a:solidFill>
              </a:rPr>
              <a:t>	</a:t>
            </a:r>
            <a:r>
              <a:rPr b="0" dirty="0">
                <a:solidFill>
                  <a:schemeClr val="tx2">
                    <a:lumMod val="75000"/>
                  </a:schemeClr>
                </a:solidFill>
              </a:rPr>
              <a:t>Move left forward.</a:t>
            </a:r>
          </a:p>
          <a:p>
            <a:pPr>
              <a:spcAft>
                <a:spcPts val="700"/>
              </a:spcAft>
            </a:pPr>
            <a:r>
              <a:rPr sz="2000" b="1" dirty="0">
                <a:solidFill>
                  <a:schemeClr val="accent2"/>
                </a:solidFill>
              </a:rPr>
              <a:t>sum &gt; target</a:t>
            </a:r>
            <a:r>
              <a:rPr lang="en-IE" sz="2000" b="1" dirty="0">
                <a:solidFill>
                  <a:schemeClr val="accent2"/>
                </a:solidFill>
              </a:rPr>
              <a:t>:</a:t>
            </a:r>
            <a:endParaRPr sz="2000" b="1" dirty="0">
              <a:solidFill>
                <a:schemeClr val="accent2"/>
              </a:solidFill>
            </a:endParaRPr>
          </a:p>
          <a:p>
            <a:pPr>
              <a:spcAft>
                <a:spcPts val="700"/>
              </a:spcAft>
            </a:pPr>
            <a:r>
              <a:rPr lang="en-IE" b="0" dirty="0">
                <a:solidFill>
                  <a:srgbClr val="FFA015"/>
                </a:solidFill>
              </a:rPr>
              <a:t>	</a:t>
            </a:r>
            <a:r>
              <a:rPr b="0" dirty="0">
                <a:solidFill>
                  <a:srgbClr val="FFA015"/>
                </a:solidFill>
              </a:rPr>
              <a:t>Move right backward.</a:t>
            </a:r>
          </a:p>
          <a:p>
            <a:pPr>
              <a:spcAft>
                <a:spcPts val="700"/>
              </a:spcAft>
            </a:pPr>
            <a:r>
              <a:rPr sz="2000" b="1" dirty="0">
                <a:solidFill>
                  <a:schemeClr val="accent2"/>
                </a:solidFill>
              </a:rPr>
              <a:t>sum == target</a:t>
            </a:r>
            <a:r>
              <a:rPr lang="en-IE" sz="2000" b="1" dirty="0">
                <a:solidFill>
                  <a:schemeClr val="accent2"/>
                </a:solidFill>
              </a:rPr>
              <a:t>:</a:t>
            </a:r>
            <a:endParaRPr sz="2000" b="1" dirty="0">
              <a:solidFill>
                <a:schemeClr val="accent2"/>
              </a:solidFill>
            </a:endParaRPr>
          </a:p>
          <a:p>
            <a:pPr>
              <a:spcAft>
                <a:spcPts val="700"/>
              </a:spcAft>
            </a:pPr>
            <a:r>
              <a:rPr lang="en-IE" b="0" dirty="0">
                <a:solidFill>
                  <a:srgbClr val="00B050"/>
                </a:solidFill>
              </a:rPr>
              <a:t>	</a:t>
            </a:r>
            <a:r>
              <a:rPr b="0" dirty="0">
                <a:solidFill>
                  <a:srgbClr val="00B050"/>
                </a:solidFill>
              </a:rPr>
              <a:t>Return the pair.</a:t>
            </a:r>
          </a:p>
        </p:txBody>
      </p:sp>
      <p:sp>
        <p:nvSpPr>
          <p:cNvPr id="57" name="TextBox 56">
            <a:extLst>
              <a:ext uri="{FF2B5EF4-FFF2-40B4-BE49-F238E27FC236}">
                <a16:creationId xmlns:a16="http://schemas.microsoft.com/office/drawing/2014/main" id="{91A22AE6-92F1-9A07-35C5-14FC425B4ACD}"/>
              </a:ext>
            </a:extLst>
          </p:cNvPr>
          <p:cNvSpPr txBox="1"/>
          <p:nvPr/>
        </p:nvSpPr>
        <p:spPr>
          <a:xfrm>
            <a:off x="728831" y="5876473"/>
            <a:ext cx="10515600" cy="400110"/>
          </a:xfrm>
          <a:prstGeom prst="rect">
            <a:avLst/>
          </a:prstGeom>
          <a:noFill/>
        </p:spPr>
        <p:txBody>
          <a:bodyPr wrap="square" lIns="45720" rIns="45720" anchor="t">
            <a:spAutoFit/>
          </a:bodyPr>
          <a:lstStyle/>
          <a:p>
            <a:pPr algn="l"/>
            <a:r>
              <a:rPr lang="en-IE" sz="2000" b="0" dirty="0">
                <a:solidFill>
                  <a:schemeClr val="tx1">
                    <a:lumMod val="75000"/>
                    <a:lumOff val="25000"/>
                  </a:schemeClr>
                </a:solidFill>
              </a:rPr>
              <a:t>Stop condition: If </a:t>
            </a:r>
            <a:r>
              <a:rPr sz="2000" b="0" dirty="0">
                <a:solidFill>
                  <a:schemeClr val="tx1">
                    <a:lumMod val="75000"/>
                    <a:lumOff val="25000"/>
                  </a:schemeClr>
                </a:solidFill>
              </a:rPr>
              <a:t>the pointers cross or meet</a:t>
            </a:r>
            <a:r>
              <a:rPr lang="en-IE" sz="2000" b="0" dirty="0">
                <a:solidFill>
                  <a:schemeClr val="tx1">
                    <a:lumMod val="75000"/>
                    <a:lumOff val="25000"/>
                  </a:schemeClr>
                </a:solidFill>
              </a:rPr>
              <a:t> (left &gt;= right)</a:t>
            </a:r>
            <a:r>
              <a:rPr sz="2000" b="0" dirty="0">
                <a:solidFill>
                  <a:schemeClr val="tx1">
                    <a:lumMod val="75000"/>
                    <a:lumOff val="25000"/>
                  </a:schemeClr>
                </a:solidFill>
              </a:rPr>
              <a:t>, no pair remains to check</a:t>
            </a:r>
          </a:p>
        </p:txBody>
      </p:sp>
      <p:sp>
        <p:nvSpPr>
          <p:cNvPr id="60" name="TextBox 59">
            <a:extLst>
              <a:ext uri="{FF2B5EF4-FFF2-40B4-BE49-F238E27FC236}">
                <a16:creationId xmlns:a16="http://schemas.microsoft.com/office/drawing/2014/main" id="{5E77751F-423B-04CD-EBDB-A1696D72C838}"/>
              </a:ext>
            </a:extLst>
          </p:cNvPr>
          <p:cNvSpPr txBox="1"/>
          <p:nvPr/>
        </p:nvSpPr>
        <p:spPr>
          <a:xfrm>
            <a:off x="777241" y="1795565"/>
            <a:ext cx="10515600" cy="400110"/>
          </a:xfrm>
          <a:prstGeom prst="rect">
            <a:avLst/>
          </a:prstGeom>
          <a:noFill/>
        </p:spPr>
        <p:txBody>
          <a:bodyPr wrap="square" lIns="45720" rIns="45720" anchor="t">
            <a:spAutoFit/>
          </a:bodyPr>
          <a:lstStyle/>
          <a:p>
            <a:pPr algn="l"/>
            <a:r>
              <a:rPr lang="en-IE" sz="2000" b="0" dirty="0">
                <a:solidFill>
                  <a:schemeClr val="tx1">
                    <a:lumMod val="50000"/>
                    <a:lumOff val="50000"/>
                  </a:schemeClr>
                </a:solidFill>
              </a:rPr>
              <a:t>Keep going until we find a match for the target or the pointers meet</a:t>
            </a:r>
            <a:endParaRPr sz="2000" b="0" dirty="0">
              <a:solidFill>
                <a:schemeClr val="tx1">
                  <a:lumMod val="50000"/>
                  <a:lumOff val="50000"/>
                </a:schemeClr>
              </a:solidFill>
            </a:endParaRPr>
          </a:p>
        </p:txBody>
      </p:sp>
    </p:spTree>
    <p:extLst>
      <p:ext uri="{BB962C8B-B14F-4D97-AF65-F5344CB8AC3E}">
        <p14:creationId xmlns:p14="http://schemas.microsoft.com/office/powerpoint/2010/main" val="3381175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36681-B934-BFBF-916A-F04CC9F35582}"/>
              </a:ext>
            </a:extLst>
          </p:cNvPr>
          <p:cNvSpPr>
            <a:spLocks noGrp="1"/>
          </p:cNvSpPr>
          <p:nvPr>
            <p:ph type="title"/>
          </p:nvPr>
        </p:nvSpPr>
        <p:spPr/>
        <p:txBody>
          <a:bodyPr/>
          <a:lstStyle/>
          <a:p>
            <a:r>
              <a:rPr lang="en-IE" dirty="0"/>
              <a:t>Sample Implementation</a:t>
            </a:r>
          </a:p>
        </p:txBody>
      </p:sp>
      <p:pic>
        <p:nvPicPr>
          <p:cNvPr id="5" name="Picture 4">
            <a:extLst>
              <a:ext uri="{FF2B5EF4-FFF2-40B4-BE49-F238E27FC236}">
                <a16:creationId xmlns:a16="http://schemas.microsoft.com/office/drawing/2014/main" id="{A299B70A-69A1-5461-F054-7115DB8BD501}"/>
              </a:ext>
            </a:extLst>
          </p:cNvPr>
          <p:cNvPicPr>
            <a:picLocks noChangeAspect="1"/>
          </p:cNvPicPr>
          <p:nvPr/>
        </p:nvPicPr>
        <p:blipFill>
          <a:blip r:embed="rId2"/>
          <a:stretch>
            <a:fillRect/>
          </a:stretch>
        </p:blipFill>
        <p:spPr>
          <a:xfrm>
            <a:off x="1097280" y="1875863"/>
            <a:ext cx="6808248" cy="4464426"/>
          </a:xfrm>
          <a:prstGeom prst="rect">
            <a:avLst/>
          </a:prstGeom>
        </p:spPr>
      </p:pic>
      <p:grpSp>
        <p:nvGrpSpPr>
          <p:cNvPr id="11" name="Group 10">
            <a:extLst>
              <a:ext uri="{FF2B5EF4-FFF2-40B4-BE49-F238E27FC236}">
                <a16:creationId xmlns:a16="http://schemas.microsoft.com/office/drawing/2014/main" id="{30E0ACB1-F13E-E205-DBDF-5E1DAE6B9D28}"/>
              </a:ext>
            </a:extLst>
          </p:cNvPr>
          <p:cNvGrpSpPr/>
          <p:nvPr/>
        </p:nvGrpSpPr>
        <p:grpSpPr>
          <a:xfrm>
            <a:off x="7194176" y="2166894"/>
            <a:ext cx="3961504" cy="2757957"/>
            <a:chOff x="7194176" y="2469453"/>
            <a:chExt cx="3961504" cy="2757957"/>
          </a:xfrm>
        </p:grpSpPr>
        <p:sp>
          <p:nvSpPr>
            <p:cNvPr id="7" name="Rounded Rectangle 22">
              <a:extLst>
                <a:ext uri="{FF2B5EF4-FFF2-40B4-BE49-F238E27FC236}">
                  <a16:creationId xmlns:a16="http://schemas.microsoft.com/office/drawing/2014/main" id="{8BA1E498-E154-E4B4-0276-AC1A47174F95}"/>
                </a:ext>
              </a:extLst>
            </p:cNvPr>
            <p:cNvSpPr/>
            <p:nvPr/>
          </p:nvSpPr>
          <p:spPr>
            <a:xfrm>
              <a:off x="7194176" y="2951628"/>
              <a:ext cx="3961504" cy="855771"/>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spcAft>
                  <a:spcPts val="700"/>
                </a:spcAft>
              </a:pPr>
              <a:r>
                <a:rPr lang="en-IE" sz="1700" b="1" dirty="0">
                  <a:solidFill>
                    <a:schemeClr val="accent2">
                      <a:lumMod val="40000"/>
                      <a:lumOff val="60000"/>
                    </a:schemeClr>
                  </a:solidFill>
                  <a:latin typeface="Aptos"/>
                </a:rPr>
                <a:t>Input</a:t>
              </a:r>
              <a:r>
                <a:rPr lang="en-IE" sz="1700" b="1" dirty="0">
                  <a:solidFill>
                    <a:schemeClr val="bg1">
                      <a:lumMod val="95000"/>
                    </a:schemeClr>
                  </a:solidFill>
                  <a:latin typeface="Aptos"/>
                </a:rPr>
                <a:t> </a:t>
              </a:r>
              <a:r>
                <a:rPr lang="en-IE" sz="1700" b="1" dirty="0">
                  <a:solidFill>
                    <a:schemeClr val="accent2">
                      <a:lumMod val="40000"/>
                      <a:lumOff val="60000"/>
                    </a:schemeClr>
                  </a:solidFill>
                  <a:latin typeface="Aptos"/>
                </a:rPr>
                <a:t>assumption</a:t>
              </a:r>
              <a:r>
                <a:rPr lang="en-IE" sz="1700" b="1" dirty="0">
                  <a:solidFill>
                    <a:schemeClr val="bg1">
                      <a:lumMod val="95000"/>
                    </a:schemeClr>
                  </a:solidFill>
                  <a:latin typeface="Aptos"/>
                </a:rPr>
                <a:t>: </a:t>
              </a:r>
            </a:p>
            <a:p>
              <a:pPr>
                <a:spcAft>
                  <a:spcPts val="700"/>
                </a:spcAft>
              </a:pPr>
              <a:r>
                <a:rPr lang="en-IE" sz="1700" dirty="0">
                  <a:solidFill>
                    <a:schemeClr val="bg1">
                      <a:lumMod val="95000"/>
                    </a:schemeClr>
                  </a:solidFill>
                  <a:latin typeface="Aptos"/>
                </a:rPr>
                <a:t>Data is assumed to be in sorted order</a:t>
              </a:r>
              <a:endParaRPr sz="1700" dirty="0">
                <a:solidFill>
                  <a:schemeClr val="bg1">
                    <a:lumMod val="95000"/>
                  </a:schemeClr>
                </a:solidFill>
                <a:latin typeface="Aptos"/>
              </a:endParaRPr>
            </a:p>
          </p:txBody>
        </p:sp>
        <p:sp>
          <p:nvSpPr>
            <p:cNvPr id="9" name="Rounded Rectangle 22">
              <a:extLst>
                <a:ext uri="{FF2B5EF4-FFF2-40B4-BE49-F238E27FC236}">
                  <a16:creationId xmlns:a16="http://schemas.microsoft.com/office/drawing/2014/main" id="{0BEF133F-3669-92CC-3ABC-697D9E130D98}"/>
                </a:ext>
              </a:extLst>
            </p:cNvPr>
            <p:cNvSpPr/>
            <p:nvPr/>
          </p:nvSpPr>
          <p:spPr>
            <a:xfrm>
              <a:off x="7194176" y="4371639"/>
              <a:ext cx="3961504" cy="855771"/>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spcAft>
                  <a:spcPts val="700"/>
                </a:spcAft>
              </a:pPr>
              <a:r>
                <a:rPr lang="en-IE" sz="1700" b="1" dirty="0">
                  <a:solidFill>
                    <a:schemeClr val="accent2">
                      <a:lumMod val="40000"/>
                      <a:lumOff val="60000"/>
                    </a:schemeClr>
                  </a:solidFill>
                  <a:latin typeface="Aptos"/>
                </a:rPr>
                <a:t>Return</a:t>
              </a:r>
              <a:r>
                <a:rPr lang="en-IE" sz="1700" b="1" dirty="0">
                  <a:solidFill>
                    <a:schemeClr val="bg1">
                      <a:lumMod val="95000"/>
                    </a:schemeClr>
                  </a:solidFill>
                  <a:latin typeface="Aptos"/>
                </a:rPr>
                <a:t> </a:t>
              </a:r>
              <a:r>
                <a:rPr lang="en-IE" sz="1700" b="1" dirty="0">
                  <a:solidFill>
                    <a:schemeClr val="accent2">
                      <a:lumMod val="40000"/>
                      <a:lumOff val="60000"/>
                    </a:schemeClr>
                  </a:solidFill>
                  <a:latin typeface="Aptos"/>
                </a:rPr>
                <a:t>information</a:t>
              </a:r>
              <a:r>
                <a:rPr lang="en-IE" sz="1700" b="1" dirty="0">
                  <a:solidFill>
                    <a:schemeClr val="bg1">
                      <a:lumMod val="95000"/>
                    </a:schemeClr>
                  </a:solidFill>
                  <a:latin typeface="Aptos"/>
                </a:rPr>
                <a:t>: </a:t>
              </a:r>
            </a:p>
            <a:p>
              <a:pPr>
                <a:spcAft>
                  <a:spcPts val="700"/>
                </a:spcAft>
              </a:pPr>
              <a:r>
                <a:rPr lang="en-IE" sz="1700" dirty="0">
                  <a:solidFill>
                    <a:schemeClr val="bg1">
                      <a:lumMod val="95000"/>
                    </a:schemeClr>
                  </a:solidFill>
                  <a:latin typeface="Aptos"/>
                </a:rPr>
                <a:t>We return </a:t>
              </a:r>
              <a:r>
                <a:rPr lang="en-IE" sz="1700" i="1" dirty="0">
                  <a:solidFill>
                    <a:schemeClr val="bg1">
                      <a:lumMod val="95000"/>
                    </a:schemeClr>
                  </a:solidFill>
                  <a:latin typeface="Aptos"/>
                </a:rPr>
                <a:t>positions</a:t>
              </a:r>
              <a:r>
                <a:rPr lang="en-IE" sz="1700" dirty="0">
                  <a:solidFill>
                    <a:schemeClr val="bg1">
                      <a:lumMod val="95000"/>
                    </a:schemeClr>
                  </a:solidFill>
                  <a:latin typeface="Aptos"/>
                </a:rPr>
                <a:t>, not actual values</a:t>
              </a:r>
              <a:endParaRPr sz="1700" dirty="0">
                <a:solidFill>
                  <a:schemeClr val="bg1">
                    <a:lumMod val="95000"/>
                  </a:schemeClr>
                </a:solidFill>
                <a:latin typeface="Aptos"/>
              </a:endParaRPr>
            </a:p>
          </p:txBody>
        </p:sp>
        <p:sp>
          <p:nvSpPr>
            <p:cNvPr id="10" name="TextBox 9">
              <a:extLst>
                <a:ext uri="{FF2B5EF4-FFF2-40B4-BE49-F238E27FC236}">
                  <a16:creationId xmlns:a16="http://schemas.microsoft.com/office/drawing/2014/main" id="{D37EAA55-5619-569D-6517-2F3ADCFE81FD}"/>
                </a:ext>
              </a:extLst>
            </p:cNvPr>
            <p:cNvSpPr txBox="1"/>
            <p:nvPr/>
          </p:nvSpPr>
          <p:spPr>
            <a:xfrm>
              <a:off x="8268077" y="2469453"/>
              <a:ext cx="1813702" cy="400110"/>
            </a:xfrm>
            <a:prstGeom prst="rect">
              <a:avLst/>
            </a:prstGeom>
            <a:noFill/>
          </p:spPr>
          <p:txBody>
            <a:bodyPr wrap="none" rtlCol="0">
              <a:spAutoFit/>
            </a:bodyPr>
            <a:lstStyle/>
            <a:p>
              <a:r>
                <a:rPr lang="en-IE" sz="2000" dirty="0">
                  <a:latin typeface="Abadi" panose="020B0604020104020204" pitchFamily="34" charset="0"/>
                </a:rPr>
                <a:t>Points to Note:</a:t>
              </a:r>
            </a:p>
          </p:txBody>
        </p:sp>
      </p:grpSp>
    </p:spTree>
    <p:extLst>
      <p:ext uri="{BB962C8B-B14F-4D97-AF65-F5344CB8AC3E}">
        <p14:creationId xmlns:p14="http://schemas.microsoft.com/office/powerpoint/2010/main" val="1444203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EE04E-3C32-E05B-5D33-681DD007EEA0}"/>
              </a:ext>
            </a:extLst>
          </p:cNvPr>
          <p:cNvSpPr>
            <a:spLocks noGrp="1"/>
          </p:cNvSpPr>
          <p:nvPr>
            <p:ph type="title"/>
          </p:nvPr>
        </p:nvSpPr>
        <p:spPr/>
        <p:txBody>
          <a:bodyPr>
            <a:normAutofit fontScale="90000"/>
          </a:bodyPr>
          <a:lstStyle/>
          <a:p>
            <a:r>
              <a:rPr lang="en-IE" dirty="0"/>
              <a:t>Brute Force vs Closing Window Approach: </a:t>
            </a:r>
            <a:br>
              <a:rPr lang="en-IE" dirty="0"/>
            </a:br>
            <a:r>
              <a:rPr lang="en-IE" dirty="0"/>
              <a:t>Complexity Comparison</a:t>
            </a:r>
          </a:p>
        </p:txBody>
      </p:sp>
      <p:sp>
        <p:nvSpPr>
          <p:cNvPr id="3" name="Content Placeholder 2">
            <a:extLst>
              <a:ext uri="{FF2B5EF4-FFF2-40B4-BE49-F238E27FC236}">
                <a16:creationId xmlns:a16="http://schemas.microsoft.com/office/drawing/2014/main" id="{5EC45A32-1DBC-8934-2FE4-384AE202BF8D}"/>
              </a:ext>
            </a:extLst>
          </p:cNvPr>
          <p:cNvSpPr>
            <a:spLocks noGrp="1"/>
          </p:cNvSpPr>
          <p:nvPr>
            <p:ph idx="1"/>
          </p:nvPr>
        </p:nvSpPr>
        <p:spPr>
          <a:xfrm>
            <a:off x="1097280" y="1845734"/>
            <a:ext cx="10058400" cy="1630331"/>
          </a:xfrm>
        </p:spPr>
        <p:txBody>
          <a:bodyPr>
            <a:normAutofit/>
          </a:bodyPr>
          <a:lstStyle/>
          <a:p>
            <a:pPr lvl="1"/>
            <a:r>
              <a:rPr lang="en-IE" sz="3200" dirty="0"/>
              <a:t>Massive difference in complexity categorisation:</a:t>
            </a:r>
          </a:p>
          <a:p>
            <a:pPr lvl="2"/>
            <a:r>
              <a:rPr lang="en-IE" sz="2800" dirty="0"/>
              <a:t>Closing window approach: </a:t>
            </a:r>
            <a:r>
              <a:rPr lang="en-IE" sz="2800" dirty="0">
                <a:solidFill>
                  <a:srgbClr val="FF0000"/>
                </a:solidFill>
              </a:rPr>
              <a:t>linear</a:t>
            </a:r>
            <a:r>
              <a:rPr lang="en-IE" sz="2800" dirty="0"/>
              <a:t> complexity</a:t>
            </a:r>
            <a:endParaRPr lang="en-IE" sz="2800" dirty="0">
              <a:solidFill>
                <a:srgbClr val="FF0000"/>
              </a:solidFill>
            </a:endParaRPr>
          </a:p>
          <a:p>
            <a:pPr lvl="2"/>
            <a:r>
              <a:rPr lang="en-IE" sz="2800" dirty="0"/>
              <a:t>Brute force approach: </a:t>
            </a:r>
            <a:r>
              <a:rPr lang="en-IE" sz="2800" u="sng" dirty="0">
                <a:solidFill>
                  <a:srgbClr val="FF0000"/>
                </a:solidFill>
              </a:rPr>
              <a:t>quadratic</a:t>
            </a:r>
            <a:r>
              <a:rPr lang="en-IE" sz="2800" dirty="0"/>
              <a:t> complexity</a:t>
            </a:r>
            <a:endParaRPr lang="en-IE" sz="2800" dirty="0">
              <a:solidFill>
                <a:srgbClr val="FF0000"/>
              </a:solidFill>
            </a:endParaRPr>
          </a:p>
          <a:p>
            <a:pPr lvl="2"/>
            <a:endParaRPr lang="en-IE" sz="2800" dirty="0">
              <a:solidFill>
                <a:srgbClr val="FF0000"/>
              </a:solidFill>
            </a:endParaRPr>
          </a:p>
          <a:p>
            <a:pPr lvl="1"/>
            <a:endParaRPr lang="en-IE" sz="3200" dirty="0"/>
          </a:p>
        </p:txBody>
      </p:sp>
      <p:sp>
        <p:nvSpPr>
          <p:cNvPr id="5" name="Rounded Rectangle 31">
            <a:extLst>
              <a:ext uri="{FF2B5EF4-FFF2-40B4-BE49-F238E27FC236}">
                <a16:creationId xmlns:a16="http://schemas.microsoft.com/office/drawing/2014/main" id="{46A0AAF7-C48B-F5BC-0E4B-13B6F60039C6}"/>
              </a:ext>
            </a:extLst>
          </p:cNvPr>
          <p:cNvSpPr/>
          <p:nvPr/>
        </p:nvSpPr>
        <p:spPr>
          <a:xfrm>
            <a:off x="1097280" y="3476066"/>
            <a:ext cx="4537038" cy="2084294"/>
          </a:xfrm>
          <a:prstGeom prst="roundRect">
            <a:avLst/>
          </a:prstGeom>
          <a:solidFill>
            <a:schemeClr val="bg1">
              <a:lumMod val="9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2400" b="1" u="sng" dirty="0">
                <a:solidFill>
                  <a:srgbClr val="38D1E0"/>
                </a:solidFill>
              </a:rPr>
              <a:t>Brute Force</a:t>
            </a:r>
          </a:p>
          <a:p>
            <a:pPr>
              <a:spcAft>
                <a:spcPts val="700"/>
              </a:spcAft>
            </a:pPr>
            <a:r>
              <a:rPr lang="en-IE" sz="2000" dirty="0">
                <a:solidFill>
                  <a:schemeClr val="tx2">
                    <a:lumMod val="75000"/>
                  </a:schemeClr>
                </a:solidFill>
              </a:rPr>
              <a:t>Nested loops compare many pairs</a:t>
            </a:r>
          </a:p>
          <a:p>
            <a:pPr>
              <a:spcAft>
                <a:spcPts val="700"/>
              </a:spcAft>
            </a:pPr>
            <a:r>
              <a:rPr lang="en-IE" sz="2000" dirty="0">
                <a:solidFill>
                  <a:schemeClr val="tx2">
                    <a:lumMod val="75000"/>
                  </a:schemeClr>
                </a:solidFill>
              </a:rPr>
              <a:t>For n elements, the number of pair checks grows roughly to n</a:t>
            </a:r>
            <a:r>
              <a:rPr lang="en-IE" sz="2000" baseline="30000" dirty="0">
                <a:solidFill>
                  <a:schemeClr val="tx2">
                    <a:lumMod val="75000"/>
                  </a:schemeClr>
                </a:solidFill>
              </a:rPr>
              <a:t>2</a:t>
            </a:r>
          </a:p>
          <a:p>
            <a:pPr>
              <a:spcAft>
                <a:spcPts val="700"/>
              </a:spcAft>
              <a:buClr>
                <a:schemeClr val="accent1"/>
              </a:buClr>
              <a:buSzPct val="100000"/>
            </a:pPr>
            <a:r>
              <a:rPr lang="en-IE" sz="2000" dirty="0">
                <a:solidFill>
                  <a:schemeClr val="tx2">
                    <a:lumMod val="75000"/>
                  </a:schemeClr>
                </a:solidFill>
              </a:rPr>
              <a:t>Time cost: </a:t>
            </a:r>
            <a:r>
              <a:rPr lang="en-IE" sz="2000" dirty="0">
                <a:solidFill>
                  <a:srgbClr val="FF0000"/>
                </a:solidFill>
              </a:rPr>
              <a:t>O(n</a:t>
            </a:r>
            <a:r>
              <a:rPr lang="en-IE" sz="2000" baseline="30000" dirty="0">
                <a:solidFill>
                  <a:srgbClr val="FF0000"/>
                </a:solidFill>
              </a:rPr>
              <a:t>2</a:t>
            </a:r>
            <a:r>
              <a:rPr lang="en-IE" sz="2000" dirty="0">
                <a:solidFill>
                  <a:srgbClr val="FF0000"/>
                </a:solidFill>
              </a:rPr>
              <a:t>)</a:t>
            </a:r>
            <a:endParaRPr sz="1600" dirty="0">
              <a:solidFill>
                <a:schemeClr val="tx2">
                  <a:lumMod val="75000"/>
                </a:schemeClr>
              </a:solidFill>
            </a:endParaRPr>
          </a:p>
        </p:txBody>
      </p:sp>
      <p:sp>
        <p:nvSpPr>
          <p:cNvPr id="7" name="Rounded Rectangle 31">
            <a:extLst>
              <a:ext uri="{FF2B5EF4-FFF2-40B4-BE49-F238E27FC236}">
                <a16:creationId xmlns:a16="http://schemas.microsoft.com/office/drawing/2014/main" id="{894B7B75-9F8C-B53B-D397-0CAEEB628952}"/>
              </a:ext>
            </a:extLst>
          </p:cNvPr>
          <p:cNvSpPr/>
          <p:nvPr/>
        </p:nvSpPr>
        <p:spPr>
          <a:xfrm>
            <a:off x="6618642" y="3476066"/>
            <a:ext cx="4537038" cy="2084294"/>
          </a:xfrm>
          <a:prstGeom prst="roundRect">
            <a:avLst/>
          </a:prstGeom>
          <a:solidFill>
            <a:schemeClr val="bg1">
              <a:lumMod val="9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2400" b="1" u="sng" dirty="0">
                <a:solidFill>
                  <a:srgbClr val="7030A0"/>
                </a:solidFill>
              </a:rPr>
              <a:t>Two Pointers</a:t>
            </a:r>
          </a:p>
          <a:p>
            <a:r>
              <a:rPr lang="en-IE" sz="2000" dirty="0">
                <a:solidFill>
                  <a:schemeClr val="tx2">
                    <a:lumMod val="75000"/>
                  </a:schemeClr>
                </a:solidFill>
              </a:rPr>
              <a:t>Left pointer only moves forward</a:t>
            </a:r>
          </a:p>
          <a:p>
            <a:r>
              <a:rPr lang="en-IE" sz="2000" dirty="0">
                <a:solidFill>
                  <a:schemeClr val="tx2">
                    <a:lumMod val="75000"/>
                  </a:schemeClr>
                </a:solidFill>
              </a:rPr>
              <a:t>Right pointer only moves back</a:t>
            </a:r>
          </a:p>
          <a:p>
            <a:pPr>
              <a:spcAft>
                <a:spcPts val="700"/>
              </a:spcAft>
            </a:pPr>
            <a:r>
              <a:rPr lang="en-IE" sz="2000" dirty="0">
                <a:solidFill>
                  <a:schemeClr val="tx2">
                    <a:lumMod val="75000"/>
                  </a:schemeClr>
                </a:solidFill>
              </a:rPr>
              <a:t>Process halts when left and right meet</a:t>
            </a:r>
          </a:p>
          <a:p>
            <a:pPr>
              <a:spcAft>
                <a:spcPts val="700"/>
              </a:spcAft>
              <a:buClr>
                <a:schemeClr val="accent1"/>
              </a:buClr>
              <a:buSzPct val="100000"/>
            </a:pPr>
            <a:r>
              <a:rPr lang="en-IE" sz="2000" dirty="0">
                <a:solidFill>
                  <a:schemeClr val="tx2">
                    <a:lumMod val="75000"/>
                  </a:schemeClr>
                </a:solidFill>
              </a:rPr>
              <a:t>Time cost: </a:t>
            </a:r>
            <a:r>
              <a:rPr lang="en-IE" sz="2000" dirty="0">
                <a:solidFill>
                  <a:srgbClr val="FF0000"/>
                </a:solidFill>
              </a:rPr>
              <a:t>O(n)</a:t>
            </a:r>
            <a:endParaRPr sz="1600" dirty="0">
              <a:solidFill>
                <a:schemeClr val="tx2">
                  <a:lumMod val="75000"/>
                </a:schemeClr>
              </a:solidFill>
            </a:endParaRPr>
          </a:p>
        </p:txBody>
      </p:sp>
      <p:sp>
        <p:nvSpPr>
          <p:cNvPr id="9" name="TextBox 8">
            <a:extLst>
              <a:ext uri="{FF2B5EF4-FFF2-40B4-BE49-F238E27FC236}">
                <a16:creationId xmlns:a16="http://schemas.microsoft.com/office/drawing/2014/main" id="{F9E8CF11-A6D2-0557-3E18-01E5AB6BFD49}"/>
              </a:ext>
            </a:extLst>
          </p:cNvPr>
          <p:cNvSpPr txBox="1"/>
          <p:nvPr/>
        </p:nvSpPr>
        <p:spPr>
          <a:xfrm>
            <a:off x="728831" y="5876473"/>
            <a:ext cx="10515600" cy="400110"/>
          </a:xfrm>
          <a:prstGeom prst="rect">
            <a:avLst/>
          </a:prstGeom>
          <a:noFill/>
        </p:spPr>
        <p:txBody>
          <a:bodyPr wrap="square" lIns="45720" rIns="45720" anchor="t">
            <a:spAutoFit/>
          </a:bodyPr>
          <a:lstStyle/>
          <a:p>
            <a:pPr algn="l"/>
            <a:r>
              <a:rPr lang="en-IE" sz="2000" b="0" dirty="0">
                <a:solidFill>
                  <a:schemeClr val="tx1">
                    <a:lumMod val="75000"/>
                    <a:lumOff val="25000"/>
                  </a:schemeClr>
                </a:solidFill>
              </a:rPr>
              <a:t>Space costs: O(1) extra space </a:t>
            </a:r>
            <a:r>
              <a:rPr lang="en-IE" sz="2000" dirty="0">
                <a:solidFill>
                  <a:schemeClr val="tx1">
                    <a:lumMod val="75000"/>
                    <a:lumOff val="25000"/>
                  </a:schemeClr>
                </a:solidFill>
              </a:rPr>
              <a:t>needed for both, to cover pointers used</a:t>
            </a:r>
            <a:endParaRPr sz="2000" b="0" dirty="0">
              <a:solidFill>
                <a:schemeClr val="tx1">
                  <a:lumMod val="75000"/>
                  <a:lumOff val="25000"/>
                </a:schemeClr>
              </a:solidFill>
            </a:endParaRPr>
          </a:p>
        </p:txBody>
      </p:sp>
      <p:sp>
        <p:nvSpPr>
          <p:cNvPr id="10" name="Cloud 9">
            <a:extLst>
              <a:ext uri="{FF2B5EF4-FFF2-40B4-BE49-F238E27FC236}">
                <a16:creationId xmlns:a16="http://schemas.microsoft.com/office/drawing/2014/main" id="{AB39B87E-1956-50D9-0EFB-AC6F26A4169D}"/>
              </a:ext>
            </a:extLst>
          </p:cNvPr>
          <p:cNvSpPr/>
          <p:nvPr/>
        </p:nvSpPr>
        <p:spPr>
          <a:xfrm>
            <a:off x="9645576" y="5046178"/>
            <a:ext cx="2091017" cy="1230405"/>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What about if sorting is needed??</a:t>
            </a:r>
          </a:p>
        </p:txBody>
      </p:sp>
    </p:spTree>
    <p:extLst>
      <p:ext uri="{BB962C8B-B14F-4D97-AF65-F5344CB8AC3E}">
        <p14:creationId xmlns:p14="http://schemas.microsoft.com/office/powerpoint/2010/main" val="2357760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C6BC8-6932-29FD-B5C6-BC8A24DBB196}"/>
              </a:ext>
            </a:extLst>
          </p:cNvPr>
          <p:cNvSpPr>
            <a:spLocks noGrp="1"/>
          </p:cNvSpPr>
          <p:nvPr>
            <p:ph type="title"/>
          </p:nvPr>
        </p:nvSpPr>
        <p:spPr/>
        <p:txBody>
          <a:bodyPr/>
          <a:lstStyle/>
          <a:p>
            <a:r>
              <a:rPr lang="en-IE" dirty="0"/>
              <a:t>Problem #2: Find the Max Sum For a Contiguous Section of K Size</a:t>
            </a:r>
          </a:p>
        </p:txBody>
      </p:sp>
      <p:sp>
        <p:nvSpPr>
          <p:cNvPr id="3" name="Content Placeholder 2">
            <a:extLst>
              <a:ext uri="{FF2B5EF4-FFF2-40B4-BE49-F238E27FC236}">
                <a16:creationId xmlns:a16="http://schemas.microsoft.com/office/drawing/2014/main" id="{897995B1-D99F-F596-D707-92C43B4F902B}"/>
              </a:ext>
            </a:extLst>
          </p:cNvPr>
          <p:cNvSpPr>
            <a:spLocks noGrp="1"/>
          </p:cNvSpPr>
          <p:nvPr>
            <p:ph idx="1"/>
          </p:nvPr>
        </p:nvSpPr>
        <p:spPr/>
        <p:txBody>
          <a:bodyPr>
            <a:normAutofit fontScale="92500" lnSpcReduction="20000"/>
          </a:bodyPr>
          <a:lstStyle/>
          <a:p>
            <a:pPr lvl="1"/>
            <a:r>
              <a:rPr lang="en-IE" sz="3200" dirty="0"/>
              <a:t>Problem: Find the maximum possible sum across all possible subsections of an array with a specified size</a:t>
            </a:r>
          </a:p>
          <a:p>
            <a:pPr lvl="1"/>
            <a:endParaRPr lang="en-IE" sz="3200" dirty="0"/>
          </a:p>
          <a:p>
            <a:pPr lvl="1"/>
            <a:r>
              <a:rPr lang="en-IE" sz="3200" dirty="0"/>
              <a:t>Examples:</a:t>
            </a:r>
          </a:p>
          <a:p>
            <a:pPr lvl="2"/>
            <a:r>
              <a:rPr lang="en-IE" sz="2800" dirty="0"/>
              <a:t>Array: [100, 100, 200, 300], section size (k) = 2</a:t>
            </a:r>
          </a:p>
          <a:p>
            <a:pPr lvl="3"/>
            <a:r>
              <a:rPr lang="en-IE" sz="2800" dirty="0"/>
              <a:t>Answer: 500 (200+300)</a:t>
            </a:r>
          </a:p>
          <a:p>
            <a:pPr lvl="2"/>
            <a:r>
              <a:rPr lang="en-IE" sz="2800" dirty="0"/>
              <a:t>Array: [1, 4, 2, 10, 25, 6, 1, 7, 18], section size (k) = 4</a:t>
            </a:r>
          </a:p>
          <a:p>
            <a:pPr lvl="3"/>
            <a:r>
              <a:rPr lang="en-IE" sz="2800" dirty="0"/>
              <a:t>Answer: 43 (2+10+25+6)</a:t>
            </a:r>
          </a:p>
          <a:p>
            <a:pPr lvl="2"/>
            <a:r>
              <a:rPr lang="en-IE" sz="2800" dirty="0"/>
              <a:t>Array: [90, 1, 45, 67, 88], section size (k) = 1</a:t>
            </a:r>
          </a:p>
          <a:p>
            <a:pPr lvl="3"/>
            <a:r>
              <a:rPr lang="en-IE" sz="2800" dirty="0"/>
              <a:t>Answer: 90 (each subarray is a single value, so this is essentially find max)</a:t>
            </a:r>
          </a:p>
        </p:txBody>
      </p:sp>
    </p:spTree>
    <p:extLst>
      <p:ext uri="{BB962C8B-B14F-4D97-AF65-F5344CB8AC3E}">
        <p14:creationId xmlns:p14="http://schemas.microsoft.com/office/powerpoint/2010/main" val="3246387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2AB85-4866-EBB6-DEDA-5E51D23E447C}"/>
              </a:ext>
            </a:extLst>
          </p:cNvPr>
          <p:cNvSpPr>
            <a:spLocks noGrp="1"/>
          </p:cNvSpPr>
          <p:nvPr>
            <p:ph type="title"/>
          </p:nvPr>
        </p:nvSpPr>
        <p:spPr/>
        <p:txBody>
          <a:bodyPr/>
          <a:lstStyle/>
          <a:p>
            <a:r>
              <a:rPr lang="en-IE" dirty="0"/>
              <a:t>Brute Forcing Problem #2</a:t>
            </a:r>
          </a:p>
        </p:txBody>
      </p:sp>
      <p:sp>
        <p:nvSpPr>
          <p:cNvPr id="3" name="Content Placeholder 2">
            <a:extLst>
              <a:ext uri="{FF2B5EF4-FFF2-40B4-BE49-F238E27FC236}">
                <a16:creationId xmlns:a16="http://schemas.microsoft.com/office/drawing/2014/main" id="{26ADB75E-6A90-DAD4-332D-84F37DF71A9F}"/>
              </a:ext>
            </a:extLst>
          </p:cNvPr>
          <p:cNvSpPr>
            <a:spLocks noGrp="1"/>
          </p:cNvSpPr>
          <p:nvPr>
            <p:ph idx="1"/>
          </p:nvPr>
        </p:nvSpPr>
        <p:spPr>
          <a:xfrm>
            <a:off x="1097280" y="1845734"/>
            <a:ext cx="5411096" cy="3875990"/>
          </a:xfrm>
        </p:spPr>
        <p:txBody>
          <a:bodyPr>
            <a:normAutofit fontScale="70000" lnSpcReduction="20000"/>
          </a:bodyPr>
          <a:lstStyle/>
          <a:p>
            <a:r>
              <a:rPr lang="en-IE" sz="3600" dirty="0"/>
              <a:t>Basic solution:</a:t>
            </a:r>
          </a:p>
          <a:p>
            <a:pPr lvl="1"/>
            <a:r>
              <a:rPr lang="en-IE" sz="3400" dirty="0"/>
              <a:t>Set </a:t>
            </a:r>
            <a:r>
              <a:rPr lang="en-IE" sz="3400" dirty="0" err="1"/>
              <a:t>maxSum</a:t>
            </a:r>
            <a:r>
              <a:rPr lang="en-IE" sz="3400" dirty="0"/>
              <a:t> to 0</a:t>
            </a:r>
          </a:p>
          <a:p>
            <a:pPr lvl="1"/>
            <a:r>
              <a:rPr lang="en-IE" sz="3400" dirty="0"/>
              <a:t>For each index in array up to n-k:</a:t>
            </a:r>
          </a:p>
          <a:p>
            <a:pPr lvl="2"/>
            <a:r>
              <a:rPr lang="en-IE" sz="3000" dirty="0"/>
              <a:t>Set </a:t>
            </a:r>
            <a:r>
              <a:rPr lang="en-IE" sz="3000" dirty="0" err="1"/>
              <a:t>currentSum</a:t>
            </a:r>
            <a:r>
              <a:rPr lang="en-IE" sz="3000" dirty="0"/>
              <a:t> to 0</a:t>
            </a:r>
          </a:p>
          <a:p>
            <a:pPr lvl="2"/>
            <a:r>
              <a:rPr lang="en-IE" sz="3000" dirty="0"/>
              <a:t>For each element from current index to </a:t>
            </a:r>
            <a:r>
              <a:rPr lang="en-IE" sz="3000" dirty="0" err="1"/>
              <a:t>index+k</a:t>
            </a:r>
            <a:r>
              <a:rPr lang="en-IE" sz="3000" dirty="0"/>
              <a:t>:</a:t>
            </a:r>
          </a:p>
          <a:p>
            <a:pPr lvl="3"/>
            <a:r>
              <a:rPr lang="en-IE" sz="3000" dirty="0"/>
              <a:t>Add element to </a:t>
            </a:r>
            <a:r>
              <a:rPr lang="en-IE" sz="3000" dirty="0" err="1"/>
              <a:t>currentSum</a:t>
            </a:r>
            <a:endParaRPr lang="en-IE" sz="3000" dirty="0"/>
          </a:p>
          <a:p>
            <a:pPr lvl="2"/>
            <a:endParaRPr lang="en-IE" sz="3000" dirty="0"/>
          </a:p>
          <a:p>
            <a:pPr lvl="2"/>
            <a:r>
              <a:rPr lang="en-IE" sz="3000" dirty="0"/>
              <a:t>If </a:t>
            </a:r>
            <a:r>
              <a:rPr lang="en-IE" sz="3000" dirty="0" err="1"/>
              <a:t>currentSum</a:t>
            </a:r>
            <a:r>
              <a:rPr lang="en-IE" sz="3000" dirty="0"/>
              <a:t> &gt; </a:t>
            </a:r>
            <a:r>
              <a:rPr lang="en-IE" sz="3000" dirty="0" err="1"/>
              <a:t>maxSum</a:t>
            </a:r>
            <a:r>
              <a:rPr lang="en-IE" sz="3000" dirty="0"/>
              <a:t>:</a:t>
            </a:r>
          </a:p>
          <a:p>
            <a:pPr lvl="3"/>
            <a:r>
              <a:rPr lang="en-IE" sz="3000" dirty="0"/>
              <a:t>Set </a:t>
            </a:r>
            <a:r>
              <a:rPr lang="en-IE" sz="3000" dirty="0" err="1"/>
              <a:t>maxSum</a:t>
            </a:r>
            <a:r>
              <a:rPr lang="en-IE" sz="3000" dirty="0"/>
              <a:t> to </a:t>
            </a:r>
            <a:r>
              <a:rPr lang="en-IE" sz="3000" dirty="0" err="1"/>
              <a:t>currentSum</a:t>
            </a:r>
            <a:endParaRPr lang="en-IE" sz="3000" dirty="0"/>
          </a:p>
          <a:p>
            <a:pPr lvl="3"/>
            <a:endParaRPr lang="en-IE" sz="3000" dirty="0"/>
          </a:p>
          <a:p>
            <a:pPr lvl="2"/>
            <a:r>
              <a:rPr lang="en-IE" sz="3000" dirty="0"/>
              <a:t>Return </a:t>
            </a:r>
            <a:r>
              <a:rPr lang="en-IE" sz="3000" dirty="0" err="1"/>
              <a:t>maxSum</a:t>
            </a:r>
            <a:endParaRPr lang="en-IE" sz="3000" dirty="0"/>
          </a:p>
        </p:txBody>
      </p:sp>
      <p:sp>
        <p:nvSpPr>
          <p:cNvPr id="5" name="Content Placeholder 2">
            <a:extLst>
              <a:ext uri="{FF2B5EF4-FFF2-40B4-BE49-F238E27FC236}">
                <a16:creationId xmlns:a16="http://schemas.microsoft.com/office/drawing/2014/main" id="{9788814B-8808-0AF4-B84A-350336BC8E7C}"/>
              </a:ext>
            </a:extLst>
          </p:cNvPr>
          <p:cNvSpPr txBox="1">
            <a:spLocks/>
          </p:cNvSpPr>
          <p:nvPr/>
        </p:nvSpPr>
        <p:spPr>
          <a:xfrm>
            <a:off x="6096000" y="1845734"/>
            <a:ext cx="5059680" cy="4023360"/>
          </a:xfrm>
          <a:prstGeom prst="rect">
            <a:avLst/>
          </a:prstGeom>
        </p:spPr>
        <p:txBody>
          <a:bodyPr vert="horz" lIns="0" tIns="45720" rIns="0" bIns="45720" rtlCol="0">
            <a:normAutofit fontScale="7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IE" sz="3600" dirty="0">
                <a:solidFill>
                  <a:srgbClr val="FF0000"/>
                </a:solidFill>
              </a:rPr>
              <a:t>Brute force idea: </a:t>
            </a:r>
            <a:br>
              <a:rPr lang="en-IE" sz="3600" dirty="0">
                <a:solidFill>
                  <a:srgbClr val="FF0000"/>
                </a:solidFill>
              </a:rPr>
            </a:br>
            <a:r>
              <a:rPr lang="en-IE" sz="3600" dirty="0">
                <a:solidFill>
                  <a:srgbClr val="FF0000"/>
                </a:solidFill>
              </a:rPr>
              <a:t>Sum up every subsection</a:t>
            </a:r>
          </a:p>
          <a:p>
            <a:pPr lvl="2"/>
            <a:r>
              <a:rPr lang="en-IE" sz="3200" dirty="0"/>
              <a:t>For each subsection of size k in data:</a:t>
            </a:r>
          </a:p>
          <a:p>
            <a:pPr lvl="3"/>
            <a:r>
              <a:rPr lang="en-IE" sz="3200" dirty="0"/>
              <a:t>Calculate sum for that subsection</a:t>
            </a:r>
          </a:p>
          <a:p>
            <a:pPr lvl="3"/>
            <a:r>
              <a:rPr lang="en-IE" sz="3200" dirty="0"/>
              <a:t>Check if it’s bigger than previous max</a:t>
            </a:r>
          </a:p>
          <a:p>
            <a:pPr lvl="1"/>
            <a:endParaRPr lang="en-IE" sz="3600" dirty="0"/>
          </a:p>
          <a:p>
            <a:pPr lvl="1"/>
            <a:r>
              <a:rPr lang="en-IE" sz="3600" dirty="0">
                <a:solidFill>
                  <a:srgbClr val="FF0000"/>
                </a:solidFill>
              </a:rPr>
              <a:t>Uses nested loops with different terms! </a:t>
            </a:r>
          </a:p>
          <a:p>
            <a:pPr lvl="2"/>
            <a:r>
              <a:rPr lang="en-IE" sz="3200" dirty="0"/>
              <a:t>Checks n * k sections</a:t>
            </a:r>
            <a:endParaRPr lang="en-IE" sz="3200" dirty="0">
              <a:solidFill>
                <a:srgbClr val="FF0000"/>
              </a:solidFill>
            </a:endParaRPr>
          </a:p>
          <a:p>
            <a:pPr lvl="2"/>
            <a:r>
              <a:rPr lang="en-IE" sz="3200" dirty="0">
                <a:solidFill>
                  <a:srgbClr val="FF0000"/>
                </a:solidFill>
              </a:rPr>
              <a:t>O(n*k)</a:t>
            </a:r>
          </a:p>
        </p:txBody>
      </p:sp>
      <p:sp>
        <p:nvSpPr>
          <p:cNvPr id="6" name="Rectangle: Rounded Corners 5">
            <a:extLst>
              <a:ext uri="{FF2B5EF4-FFF2-40B4-BE49-F238E27FC236}">
                <a16:creationId xmlns:a16="http://schemas.microsoft.com/office/drawing/2014/main" id="{261DBCD5-43A7-9C0C-A33F-B04B5184540F}"/>
              </a:ext>
            </a:extLst>
          </p:cNvPr>
          <p:cNvSpPr/>
          <p:nvPr/>
        </p:nvSpPr>
        <p:spPr>
          <a:xfrm>
            <a:off x="813547" y="5721724"/>
            <a:ext cx="4276165" cy="6325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Implementation: </a:t>
            </a:r>
            <a:r>
              <a:rPr lang="en-IE" dirty="0" err="1"/>
              <a:t>b_two_pointer.utils</a:t>
            </a:r>
            <a:r>
              <a:rPr lang="en-IE" dirty="0"/>
              <a:t>/ArrayUtils.java</a:t>
            </a:r>
          </a:p>
        </p:txBody>
      </p:sp>
      <p:sp>
        <p:nvSpPr>
          <p:cNvPr id="8" name="Flowchart: Predefined Process 7">
            <a:extLst>
              <a:ext uri="{FF2B5EF4-FFF2-40B4-BE49-F238E27FC236}">
                <a16:creationId xmlns:a16="http://schemas.microsoft.com/office/drawing/2014/main" id="{7D4F2439-84CF-6BF3-0E5F-223D1B457657}"/>
              </a:ext>
            </a:extLst>
          </p:cNvPr>
          <p:cNvSpPr/>
          <p:nvPr/>
        </p:nvSpPr>
        <p:spPr>
          <a:xfrm>
            <a:off x="8625840" y="5644653"/>
            <a:ext cx="2844053" cy="665630"/>
          </a:xfrm>
          <a:prstGeom prst="flowChartPredefinedProcess">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i="1" dirty="0">
                <a:solidFill>
                  <a:srgbClr val="FF0000"/>
                </a:solidFill>
                <a:latin typeface="Aharoni" panose="02010803020104030203" pitchFamily="2" charset="-79"/>
                <a:cs typeface="Aharoni" panose="02010803020104030203" pitchFamily="2" charset="-79"/>
              </a:rPr>
              <a:t>Potentially</a:t>
            </a:r>
            <a:r>
              <a:rPr lang="en-IE" dirty="0">
                <a:solidFill>
                  <a:srgbClr val="FF0000"/>
                </a:solidFill>
                <a:latin typeface="Aharoni" panose="02010803020104030203" pitchFamily="2" charset="-79"/>
                <a:cs typeface="Aharoni" panose="02010803020104030203" pitchFamily="2" charset="-79"/>
              </a:rPr>
              <a:t> Expensive</a:t>
            </a:r>
          </a:p>
        </p:txBody>
      </p:sp>
    </p:spTree>
    <p:extLst>
      <p:ext uri="{BB962C8B-B14F-4D97-AF65-F5344CB8AC3E}">
        <p14:creationId xmlns:p14="http://schemas.microsoft.com/office/powerpoint/2010/main" val="179872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D3B70-90FF-3C95-2BF6-B77501D43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883A9-02B8-CB47-B0F0-0ECFE671EE8D}"/>
              </a:ext>
            </a:extLst>
          </p:cNvPr>
          <p:cNvSpPr>
            <a:spLocks noGrp="1"/>
          </p:cNvSpPr>
          <p:nvPr>
            <p:ph type="title"/>
          </p:nvPr>
        </p:nvSpPr>
        <p:spPr/>
        <p:txBody>
          <a:bodyPr/>
          <a:lstStyle/>
          <a:p>
            <a:r>
              <a:rPr lang="en-IE" dirty="0"/>
              <a:t>Identify the Repetition</a:t>
            </a:r>
          </a:p>
        </p:txBody>
      </p:sp>
      <p:sp>
        <p:nvSpPr>
          <p:cNvPr id="3" name="Content Placeholder 2">
            <a:extLst>
              <a:ext uri="{FF2B5EF4-FFF2-40B4-BE49-F238E27FC236}">
                <a16:creationId xmlns:a16="http://schemas.microsoft.com/office/drawing/2014/main" id="{9D407905-9396-2490-3962-C1492CCE1836}"/>
              </a:ext>
            </a:extLst>
          </p:cNvPr>
          <p:cNvSpPr>
            <a:spLocks noGrp="1"/>
          </p:cNvSpPr>
          <p:nvPr>
            <p:ph idx="1"/>
          </p:nvPr>
        </p:nvSpPr>
        <p:spPr>
          <a:xfrm>
            <a:off x="1097280" y="1845733"/>
            <a:ext cx="10058400" cy="4279401"/>
          </a:xfrm>
        </p:spPr>
        <p:txBody>
          <a:bodyPr>
            <a:normAutofit fontScale="70000" lnSpcReduction="20000"/>
          </a:bodyPr>
          <a:lstStyle/>
          <a:p>
            <a:pPr lvl="1"/>
            <a:r>
              <a:rPr lang="en-IE" sz="3200" dirty="0"/>
              <a:t>We’re redoing a lot of the calculation!</a:t>
            </a:r>
          </a:p>
          <a:p>
            <a:pPr lvl="2"/>
            <a:r>
              <a:rPr lang="en-IE" sz="2400" dirty="0"/>
              <a:t>Array: [1, 4, 2, 10, 25, 6, 1, 7, 18], section size (k) = 4</a:t>
            </a:r>
          </a:p>
          <a:p>
            <a:pPr lvl="2"/>
            <a:r>
              <a:rPr lang="en-IE" sz="2400" dirty="0"/>
              <a:t>Add 1 + 4 + 2 + 10</a:t>
            </a:r>
          </a:p>
          <a:p>
            <a:pPr lvl="2"/>
            <a:r>
              <a:rPr lang="en-IE" sz="2400" dirty="0"/>
              <a:t>Add 4 + 2 + 10 + 25 [4 + 2 + 10 … haven’t we already done this?]</a:t>
            </a:r>
          </a:p>
          <a:p>
            <a:pPr lvl="2"/>
            <a:r>
              <a:rPr lang="en-IE" sz="2400" dirty="0"/>
              <a:t>Add 2 + 10 + 25 + 6 [2 + 10 + 25… haven’t we already done this? We’ve done 2 + 10 twice?!]</a:t>
            </a:r>
          </a:p>
          <a:p>
            <a:pPr lvl="2"/>
            <a:endParaRPr lang="en-IE" sz="2800" dirty="0"/>
          </a:p>
          <a:p>
            <a:pPr lvl="1"/>
            <a:r>
              <a:rPr lang="en-IE" sz="3200" dirty="0"/>
              <a:t>Repetition: The </a:t>
            </a:r>
            <a:r>
              <a:rPr lang="en-IE" sz="3200" dirty="0">
                <a:solidFill>
                  <a:srgbClr val="FF0000"/>
                </a:solidFill>
              </a:rPr>
              <a:t>subsections overlap </a:t>
            </a:r>
            <a:r>
              <a:rPr lang="en-IE" sz="3200" dirty="0"/>
              <a:t>– we reprocess each part</a:t>
            </a:r>
            <a:endParaRPr lang="en-IE" sz="2800" dirty="0"/>
          </a:p>
          <a:p>
            <a:pPr lvl="1"/>
            <a:r>
              <a:rPr lang="en-IE" sz="3200" dirty="0"/>
              <a:t>What is really happening?</a:t>
            </a:r>
          </a:p>
          <a:p>
            <a:pPr lvl="2"/>
            <a:r>
              <a:rPr lang="en-IE" sz="2800" dirty="0"/>
              <a:t>One element leaves (the first one)</a:t>
            </a:r>
          </a:p>
          <a:p>
            <a:pPr lvl="2"/>
            <a:r>
              <a:rPr lang="en-IE" sz="2800" dirty="0"/>
              <a:t>One element is added (the last one)</a:t>
            </a:r>
          </a:p>
          <a:p>
            <a:pPr lvl="2"/>
            <a:endParaRPr lang="en-IE" sz="2800" dirty="0"/>
          </a:p>
          <a:p>
            <a:pPr lvl="1"/>
            <a:r>
              <a:rPr lang="en-IE" sz="3200" dirty="0"/>
              <a:t>Is there a way to stop recalculating the overlapping parts?</a:t>
            </a:r>
          </a:p>
          <a:p>
            <a:pPr lvl="2"/>
            <a:r>
              <a:rPr lang="en-IE" sz="2800" dirty="0">
                <a:solidFill>
                  <a:srgbClr val="FF0000"/>
                </a:solidFill>
              </a:rPr>
              <a:t>Remove</a:t>
            </a:r>
            <a:r>
              <a:rPr lang="en-IE" sz="2800" dirty="0"/>
              <a:t> the </a:t>
            </a:r>
            <a:r>
              <a:rPr lang="en-IE" sz="2800" dirty="0">
                <a:solidFill>
                  <a:srgbClr val="FF0000"/>
                </a:solidFill>
              </a:rPr>
              <a:t>exiting</a:t>
            </a:r>
            <a:r>
              <a:rPr lang="en-IE" sz="2800" dirty="0"/>
              <a:t> element</a:t>
            </a:r>
          </a:p>
          <a:p>
            <a:pPr lvl="2"/>
            <a:r>
              <a:rPr lang="en-IE" sz="2800" dirty="0">
                <a:solidFill>
                  <a:schemeClr val="accent2"/>
                </a:solidFill>
              </a:rPr>
              <a:t>Add</a:t>
            </a:r>
            <a:r>
              <a:rPr lang="en-IE" sz="2800" dirty="0"/>
              <a:t> the </a:t>
            </a:r>
            <a:r>
              <a:rPr lang="en-IE" sz="2800" dirty="0">
                <a:solidFill>
                  <a:schemeClr val="accent2"/>
                </a:solidFill>
              </a:rPr>
              <a:t>new</a:t>
            </a:r>
            <a:r>
              <a:rPr lang="en-IE" sz="2800" dirty="0"/>
              <a:t> element</a:t>
            </a:r>
          </a:p>
        </p:txBody>
      </p:sp>
    </p:spTree>
    <p:extLst>
      <p:ext uri="{BB962C8B-B14F-4D97-AF65-F5344CB8AC3E}">
        <p14:creationId xmlns:p14="http://schemas.microsoft.com/office/powerpoint/2010/main" val="3369896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9BDFB-202A-E6FF-D243-0B0AE42D3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13912-2C70-785A-1C2F-F34B5065FB08}"/>
              </a:ext>
            </a:extLst>
          </p:cNvPr>
          <p:cNvSpPr>
            <a:spLocks noGrp="1"/>
          </p:cNvSpPr>
          <p:nvPr>
            <p:ph type="title"/>
          </p:nvPr>
        </p:nvSpPr>
        <p:spPr/>
        <p:txBody>
          <a:bodyPr/>
          <a:lstStyle/>
          <a:p>
            <a:r>
              <a:rPr lang="en-IE" dirty="0"/>
              <a:t>The “Sliding Window” Pattern: </a:t>
            </a:r>
            <a:br>
              <a:rPr lang="en-IE" dirty="0"/>
            </a:br>
            <a:r>
              <a:rPr lang="en-IE" dirty="0"/>
              <a:t>Pointers Moving in Sync</a:t>
            </a:r>
          </a:p>
        </p:txBody>
      </p:sp>
      <p:sp>
        <p:nvSpPr>
          <p:cNvPr id="33" name="Rounded Rectangle 21">
            <a:extLst>
              <a:ext uri="{FF2B5EF4-FFF2-40B4-BE49-F238E27FC236}">
                <a16:creationId xmlns:a16="http://schemas.microsoft.com/office/drawing/2014/main" id="{3B3086CF-545F-BB13-5DFB-0DE36C467B4B}"/>
              </a:ext>
            </a:extLst>
          </p:cNvPr>
          <p:cNvSpPr/>
          <p:nvPr/>
        </p:nvSpPr>
        <p:spPr>
          <a:xfrm>
            <a:off x="914400" y="3657600"/>
            <a:ext cx="4754880" cy="822960"/>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sz="1700" b="1" dirty="0">
                <a:solidFill>
                  <a:schemeClr val="tx2">
                    <a:lumMod val="75000"/>
                  </a:schemeClr>
                </a:solidFill>
                <a:latin typeface="Aptos"/>
              </a:rPr>
              <a:t>left = 0</a:t>
            </a:r>
          </a:p>
          <a:p>
            <a:pPr>
              <a:spcAft>
                <a:spcPts val="700"/>
              </a:spcAft>
            </a:pPr>
            <a:r>
              <a:rPr sz="1700" b="0" dirty="0">
                <a:solidFill>
                  <a:srgbClr val="F5F8FC"/>
                </a:solidFill>
                <a:latin typeface="Aptos"/>
              </a:rPr>
              <a:t>Start at first array element</a:t>
            </a:r>
            <a:r>
              <a:rPr lang="en-IE" sz="1700" b="0" dirty="0">
                <a:solidFill>
                  <a:srgbClr val="F5F8FC"/>
                </a:solidFill>
                <a:latin typeface="Aptos"/>
              </a:rPr>
              <a:t> (start of window)</a:t>
            </a:r>
            <a:r>
              <a:rPr sz="1700" b="0" dirty="0">
                <a:solidFill>
                  <a:srgbClr val="F5F8FC"/>
                </a:solidFill>
                <a:latin typeface="Aptos"/>
              </a:rPr>
              <a:t>.</a:t>
            </a:r>
          </a:p>
        </p:txBody>
      </p:sp>
      <p:sp>
        <p:nvSpPr>
          <p:cNvPr id="35" name="Rounded Rectangle 22">
            <a:extLst>
              <a:ext uri="{FF2B5EF4-FFF2-40B4-BE49-F238E27FC236}">
                <a16:creationId xmlns:a16="http://schemas.microsoft.com/office/drawing/2014/main" id="{2E6C32DD-BD69-9FAB-A57F-71C665232A11}"/>
              </a:ext>
            </a:extLst>
          </p:cNvPr>
          <p:cNvSpPr/>
          <p:nvPr/>
        </p:nvSpPr>
        <p:spPr>
          <a:xfrm>
            <a:off x="6400800" y="3657600"/>
            <a:ext cx="4876800" cy="822960"/>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sz="1700" b="1" dirty="0">
                <a:solidFill>
                  <a:srgbClr val="FFA015"/>
                </a:solidFill>
                <a:latin typeface="Aptos"/>
              </a:rPr>
              <a:t>right = </a:t>
            </a:r>
            <a:r>
              <a:rPr lang="en-IE" sz="1700" b="1" dirty="0">
                <a:solidFill>
                  <a:srgbClr val="FFA015"/>
                </a:solidFill>
                <a:latin typeface="Aptos"/>
              </a:rPr>
              <a:t>left + x</a:t>
            </a:r>
            <a:endParaRPr sz="1700" b="1" dirty="0">
              <a:solidFill>
                <a:srgbClr val="FFA015"/>
              </a:solidFill>
              <a:latin typeface="Aptos"/>
            </a:endParaRPr>
          </a:p>
          <a:p>
            <a:pPr>
              <a:spcAft>
                <a:spcPts val="700"/>
              </a:spcAft>
            </a:pPr>
            <a:r>
              <a:rPr sz="1700" b="0" dirty="0">
                <a:solidFill>
                  <a:srgbClr val="F5F8FC"/>
                </a:solidFill>
                <a:latin typeface="Aptos"/>
              </a:rPr>
              <a:t>Start at </a:t>
            </a:r>
            <a:r>
              <a:rPr lang="en-IE" sz="1700" b="0" dirty="0">
                <a:solidFill>
                  <a:srgbClr val="F5F8FC"/>
                </a:solidFill>
                <a:latin typeface="Aptos"/>
              </a:rPr>
              <a:t>end of window – dependent on problem</a:t>
            </a:r>
            <a:r>
              <a:rPr sz="1700" b="0" dirty="0">
                <a:solidFill>
                  <a:srgbClr val="F5F8FC"/>
                </a:solidFill>
                <a:latin typeface="Aptos"/>
              </a:rPr>
              <a:t>.</a:t>
            </a:r>
          </a:p>
        </p:txBody>
      </p:sp>
      <p:sp>
        <p:nvSpPr>
          <p:cNvPr id="37" name="TextBox 36">
            <a:extLst>
              <a:ext uri="{FF2B5EF4-FFF2-40B4-BE49-F238E27FC236}">
                <a16:creationId xmlns:a16="http://schemas.microsoft.com/office/drawing/2014/main" id="{45028094-F7B9-0538-6662-70947F6F62E9}"/>
              </a:ext>
            </a:extLst>
          </p:cNvPr>
          <p:cNvSpPr txBox="1"/>
          <p:nvPr/>
        </p:nvSpPr>
        <p:spPr>
          <a:xfrm>
            <a:off x="1066800" y="4713732"/>
            <a:ext cx="10058400" cy="1354217"/>
          </a:xfrm>
          <a:prstGeom prst="rect">
            <a:avLst/>
          </a:prstGeom>
          <a:noFill/>
        </p:spPr>
        <p:txBody>
          <a:bodyPr wrap="square" lIns="45720" rIns="45720" anchor="t">
            <a:spAutoFit/>
          </a:bodyPr>
          <a:lstStyle/>
          <a:p>
            <a:pPr marL="285750" indent="-285750" algn="l">
              <a:buFont typeface="Arial" panose="020B0604020202020204" pitchFamily="34" charset="0"/>
              <a:buChar char="•"/>
            </a:pPr>
            <a:r>
              <a:rPr sz="2200" dirty="0"/>
              <a:t>At each step</a:t>
            </a:r>
            <a:r>
              <a:rPr lang="en-IE" sz="2200" dirty="0"/>
              <a:t>: Calculate value within window;</a:t>
            </a:r>
            <a:r>
              <a:rPr sz="2200" dirty="0"/>
              <a:t> make a decision</a:t>
            </a:r>
            <a:r>
              <a:rPr lang="en-IE" sz="2200" dirty="0"/>
              <a:t>; </a:t>
            </a:r>
            <a:r>
              <a:rPr sz="2200" dirty="0"/>
              <a:t>move pointer</a:t>
            </a:r>
            <a:r>
              <a:rPr lang="en-IE" sz="2200" dirty="0"/>
              <a:t>s</a:t>
            </a:r>
            <a:r>
              <a:rPr sz="2200" dirty="0"/>
              <a:t> </a:t>
            </a:r>
            <a:r>
              <a:rPr lang="en-IE" sz="2200" dirty="0"/>
              <a:t>to right</a:t>
            </a:r>
            <a:r>
              <a:rPr sz="2200" dirty="0"/>
              <a:t>.</a:t>
            </a:r>
            <a:endParaRPr lang="en-IE" sz="2200" dirty="0"/>
          </a:p>
          <a:p>
            <a:pPr marL="742950" lvl="1" indent="-285750">
              <a:buFont typeface="Arial" panose="020B0604020202020204" pitchFamily="34" charset="0"/>
              <a:buChar char="•"/>
            </a:pPr>
            <a:r>
              <a:rPr lang="en-IE" sz="2000" dirty="0"/>
              <a:t>Both left and right are increased by the same amount</a:t>
            </a:r>
          </a:p>
          <a:p>
            <a:pPr marL="742950" lvl="1" indent="-285750">
              <a:buFont typeface="Arial" panose="020B0604020202020204" pitchFamily="34" charset="0"/>
              <a:buChar char="•"/>
            </a:pPr>
            <a:r>
              <a:rPr lang="en-IE" sz="2000" dirty="0"/>
              <a:t>Window “slides” across the array</a:t>
            </a:r>
          </a:p>
          <a:p>
            <a:pPr marL="742950" lvl="1" indent="-285750">
              <a:buFont typeface="Arial" panose="020B0604020202020204" pitchFamily="34" charset="0"/>
              <a:buChar char="•"/>
            </a:pPr>
            <a:r>
              <a:rPr lang="en-IE" sz="2000" dirty="0"/>
              <a:t>Some of the window is kept, avoiding recalculating/reprocessing as you go</a:t>
            </a:r>
          </a:p>
        </p:txBody>
      </p:sp>
      <p:grpSp>
        <p:nvGrpSpPr>
          <p:cNvPr id="3" name="Group 2">
            <a:extLst>
              <a:ext uri="{FF2B5EF4-FFF2-40B4-BE49-F238E27FC236}">
                <a16:creationId xmlns:a16="http://schemas.microsoft.com/office/drawing/2014/main" id="{BBEE4DC5-8B23-2A52-5AF6-1908DE30EA9C}"/>
              </a:ext>
            </a:extLst>
          </p:cNvPr>
          <p:cNvGrpSpPr/>
          <p:nvPr/>
        </p:nvGrpSpPr>
        <p:grpSpPr>
          <a:xfrm>
            <a:off x="3078032" y="1964346"/>
            <a:ext cx="5824728" cy="1460082"/>
            <a:chOff x="3078032" y="1964346"/>
            <a:chExt cx="5824728" cy="1460082"/>
          </a:xfrm>
        </p:grpSpPr>
        <p:sp>
          <p:nvSpPr>
            <p:cNvPr id="5" name="Rounded Rectangle 7">
              <a:extLst>
                <a:ext uri="{FF2B5EF4-FFF2-40B4-BE49-F238E27FC236}">
                  <a16:creationId xmlns:a16="http://schemas.microsoft.com/office/drawing/2014/main" id="{18478738-D98C-C345-C963-1A05BBFEA8C7}"/>
                </a:ext>
              </a:extLst>
            </p:cNvPr>
            <p:cNvSpPr/>
            <p:nvPr/>
          </p:nvSpPr>
          <p:spPr>
            <a:xfrm>
              <a:off x="3123752" y="2299716"/>
              <a:ext cx="1097280" cy="822960"/>
            </a:xfrm>
            <a:prstGeom prst="roundRect">
              <a:avLst/>
            </a:prstGeom>
            <a:solidFill>
              <a:schemeClr val="accent6"/>
            </a:solidFill>
            <a:ln>
              <a:solidFill>
                <a:srgbClr val="08708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1</a:t>
              </a:r>
            </a:p>
          </p:txBody>
        </p:sp>
        <p:sp>
          <p:nvSpPr>
            <p:cNvPr id="7" name="TextBox 6">
              <a:extLst>
                <a:ext uri="{FF2B5EF4-FFF2-40B4-BE49-F238E27FC236}">
                  <a16:creationId xmlns:a16="http://schemas.microsoft.com/office/drawing/2014/main" id="{37A8F017-B6E7-C605-24FD-E5DF886B9AFC}"/>
                </a:ext>
              </a:extLst>
            </p:cNvPr>
            <p:cNvSpPr txBox="1"/>
            <p:nvPr/>
          </p:nvSpPr>
          <p:spPr>
            <a:xfrm>
              <a:off x="3123752" y="3195828"/>
              <a:ext cx="1097280" cy="228600"/>
            </a:xfrm>
            <a:prstGeom prst="rect">
              <a:avLst/>
            </a:prstGeom>
            <a:noFill/>
          </p:spPr>
          <p:txBody>
            <a:bodyPr wrap="square" lIns="45720" rIns="45720" anchor="t">
              <a:spAutoFit/>
            </a:bodyPr>
            <a:lstStyle/>
            <a:p>
              <a:pPr algn="ctr"/>
              <a:r>
                <a:rPr sz="1000" b="0">
                  <a:solidFill>
                    <a:srgbClr val="B0BED2"/>
                  </a:solidFill>
                  <a:latin typeface="Aptos"/>
                </a:rPr>
                <a:t>0</a:t>
              </a:r>
            </a:p>
          </p:txBody>
        </p:sp>
        <p:sp>
          <p:nvSpPr>
            <p:cNvPr id="9" name="TextBox 8">
              <a:extLst>
                <a:ext uri="{FF2B5EF4-FFF2-40B4-BE49-F238E27FC236}">
                  <a16:creationId xmlns:a16="http://schemas.microsoft.com/office/drawing/2014/main" id="{B1D1EAEC-5BC3-053B-877A-6D811378DC82}"/>
                </a:ext>
              </a:extLst>
            </p:cNvPr>
            <p:cNvSpPr txBox="1"/>
            <p:nvPr/>
          </p:nvSpPr>
          <p:spPr>
            <a:xfrm>
              <a:off x="3078032" y="1970532"/>
              <a:ext cx="1188720" cy="369332"/>
            </a:xfrm>
            <a:prstGeom prst="rect">
              <a:avLst/>
            </a:prstGeom>
            <a:noFill/>
          </p:spPr>
          <p:txBody>
            <a:bodyPr wrap="square" lIns="45720" rIns="45720" anchor="t">
              <a:spAutoFit/>
            </a:bodyPr>
            <a:lstStyle/>
            <a:p>
              <a:pPr algn="ctr"/>
              <a:r>
                <a:rPr b="1" dirty="0">
                  <a:solidFill>
                    <a:srgbClr val="38D1E0"/>
                  </a:solidFill>
                  <a:latin typeface="Aptos"/>
                </a:rPr>
                <a:t>LEFT</a:t>
              </a:r>
            </a:p>
          </p:txBody>
        </p:sp>
        <p:sp>
          <p:nvSpPr>
            <p:cNvPr id="13" name="Rounded Rectangle 11">
              <a:extLst>
                <a:ext uri="{FF2B5EF4-FFF2-40B4-BE49-F238E27FC236}">
                  <a16:creationId xmlns:a16="http://schemas.microsoft.com/office/drawing/2014/main" id="{8A2B6DA5-3741-7A72-A37D-5794AB9FF50B}"/>
                </a:ext>
              </a:extLst>
            </p:cNvPr>
            <p:cNvSpPr/>
            <p:nvPr/>
          </p:nvSpPr>
          <p:spPr>
            <a:xfrm>
              <a:off x="4294184"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3</a:t>
              </a:r>
            </a:p>
          </p:txBody>
        </p:sp>
        <p:sp>
          <p:nvSpPr>
            <p:cNvPr id="15" name="TextBox 14">
              <a:extLst>
                <a:ext uri="{FF2B5EF4-FFF2-40B4-BE49-F238E27FC236}">
                  <a16:creationId xmlns:a16="http://schemas.microsoft.com/office/drawing/2014/main" id="{EFE705C0-E3F3-CBA2-268F-C7DCE9CCF096}"/>
                </a:ext>
              </a:extLst>
            </p:cNvPr>
            <p:cNvSpPr txBox="1"/>
            <p:nvPr/>
          </p:nvSpPr>
          <p:spPr>
            <a:xfrm>
              <a:off x="4294184" y="3195828"/>
              <a:ext cx="1097280" cy="228600"/>
            </a:xfrm>
            <a:prstGeom prst="rect">
              <a:avLst/>
            </a:prstGeom>
            <a:noFill/>
          </p:spPr>
          <p:txBody>
            <a:bodyPr wrap="square" lIns="45720" rIns="45720" anchor="t">
              <a:spAutoFit/>
            </a:bodyPr>
            <a:lstStyle/>
            <a:p>
              <a:pPr algn="ctr"/>
              <a:r>
                <a:rPr sz="1000" b="0">
                  <a:solidFill>
                    <a:srgbClr val="B0BED2"/>
                  </a:solidFill>
                  <a:latin typeface="Aptos"/>
                </a:rPr>
                <a:t>1</a:t>
              </a:r>
            </a:p>
          </p:txBody>
        </p:sp>
        <p:sp>
          <p:nvSpPr>
            <p:cNvPr id="17" name="Rounded Rectangle 13">
              <a:extLst>
                <a:ext uri="{FF2B5EF4-FFF2-40B4-BE49-F238E27FC236}">
                  <a16:creationId xmlns:a16="http://schemas.microsoft.com/office/drawing/2014/main" id="{C3254119-2173-7BF7-95DF-ECF3783EEB13}"/>
                </a:ext>
              </a:extLst>
            </p:cNvPr>
            <p:cNvSpPr/>
            <p:nvPr/>
          </p:nvSpPr>
          <p:spPr>
            <a:xfrm>
              <a:off x="5464616" y="2299716"/>
              <a:ext cx="1097280" cy="822960"/>
            </a:xfrm>
            <a:prstGeom prst="roundRect">
              <a:avLst/>
            </a:prstGeom>
            <a:solidFill>
              <a:srgbClr val="FFC000"/>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4</a:t>
              </a:r>
            </a:p>
          </p:txBody>
        </p:sp>
        <p:sp>
          <p:nvSpPr>
            <p:cNvPr id="19" name="TextBox 18">
              <a:extLst>
                <a:ext uri="{FF2B5EF4-FFF2-40B4-BE49-F238E27FC236}">
                  <a16:creationId xmlns:a16="http://schemas.microsoft.com/office/drawing/2014/main" id="{B5811C67-D924-D0A2-8375-D8461075AEC6}"/>
                </a:ext>
              </a:extLst>
            </p:cNvPr>
            <p:cNvSpPr txBox="1"/>
            <p:nvPr/>
          </p:nvSpPr>
          <p:spPr>
            <a:xfrm>
              <a:off x="5464616" y="3195828"/>
              <a:ext cx="1097280" cy="228600"/>
            </a:xfrm>
            <a:prstGeom prst="rect">
              <a:avLst/>
            </a:prstGeom>
            <a:noFill/>
          </p:spPr>
          <p:txBody>
            <a:bodyPr wrap="square" lIns="45720" rIns="45720" anchor="t">
              <a:spAutoFit/>
            </a:bodyPr>
            <a:lstStyle/>
            <a:p>
              <a:pPr algn="ctr"/>
              <a:r>
                <a:rPr sz="1000" b="0">
                  <a:solidFill>
                    <a:srgbClr val="B0BED2"/>
                  </a:solidFill>
                  <a:latin typeface="Aptos"/>
                </a:rPr>
                <a:t>2</a:t>
              </a:r>
            </a:p>
          </p:txBody>
        </p:sp>
        <p:sp>
          <p:nvSpPr>
            <p:cNvPr id="21" name="Rounded Rectangle 15">
              <a:extLst>
                <a:ext uri="{FF2B5EF4-FFF2-40B4-BE49-F238E27FC236}">
                  <a16:creationId xmlns:a16="http://schemas.microsoft.com/office/drawing/2014/main" id="{14C632A6-DDC9-8B66-5B6B-5E492E5D4E7B}"/>
                </a:ext>
              </a:extLst>
            </p:cNvPr>
            <p:cNvSpPr/>
            <p:nvPr/>
          </p:nvSpPr>
          <p:spPr>
            <a:xfrm>
              <a:off x="6635048"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6</a:t>
              </a:r>
            </a:p>
          </p:txBody>
        </p:sp>
        <p:sp>
          <p:nvSpPr>
            <p:cNvPr id="23" name="TextBox 22">
              <a:extLst>
                <a:ext uri="{FF2B5EF4-FFF2-40B4-BE49-F238E27FC236}">
                  <a16:creationId xmlns:a16="http://schemas.microsoft.com/office/drawing/2014/main" id="{464D44D7-9F34-2251-D892-2328D4B46E68}"/>
                </a:ext>
              </a:extLst>
            </p:cNvPr>
            <p:cNvSpPr txBox="1"/>
            <p:nvPr/>
          </p:nvSpPr>
          <p:spPr>
            <a:xfrm>
              <a:off x="6635048" y="3195828"/>
              <a:ext cx="1097280" cy="228600"/>
            </a:xfrm>
            <a:prstGeom prst="rect">
              <a:avLst/>
            </a:prstGeom>
            <a:noFill/>
          </p:spPr>
          <p:txBody>
            <a:bodyPr wrap="square" lIns="45720" rIns="45720" anchor="t">
              <a:spAutoFit/>
            </a:bodyPr>
            <a:lstStyle/>
            <a:p>
              <a:pPr algn="ctr"/>
              <a:r>
                <a:rPr sz="1000" b="0">
                  <a:solidFill>
                    <a:srgbClr val="B0BED2"/>
                  </a:solidFill>
                  <a:latin typeface="Aptos"/>
                </a:rPr>
                <a:t>3</a:t>
              </a:r>
            </a:p>
          </p:txBody>
        </p:sp>
        <p:sp>
          <p:nvSpPr>
            <p:cNvPr id="25" name="Rounded Rectangle 17">
              <a:extLst>
                <a:ext uri="{FF2B5EF4-FFF2-40B4-BE49-F238E27FC236}">
                  <a16:creationId xmlns:a16="http://schemas.microsoft.com/office/drawing/2014/main" id="{1D5155B2-AFF3-859C-D32A-E87E442A65C2}"/>
                </a:ext>
              </a:extLst>
            </p:cNvPr>
            <p:cNvSpPr/>
            <p:nvPr/>
          </p:nvSpPr>
          <p:spPr>
            <a:xfrm>
              <a:off x="7805480" y="2299716"/>
              <a:ext cx="1097280" cy="822960"/>
            </a:xfrm>
            <a:prstGeom prst="roundRect">
              <a:avLst/>
            </a:prstGeom>
            <a:solidFill>
              <a:schemeClr val="tx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8</a:t>
              </a:r>
            </a:p>
          </p:txBody>
        </p:sp>
        <p:sp>
          <p:nvSpPr>
            <p:cNvPr id="27" name="TextBox 26">
              <a:extLst>
                <a:ext uri="{FF2B5EF4-FFF2-40B4-BE49-F238E27FC236}">
                  <a16:creationId xmlns:a16="http://schemas.microsoft.com/office/drawing/2014/main" id="{8F326C6C-67F9-7555-BC64-BFC517623B64}"/>
                </a:ext>
              </a:extLst>
            </p:cNvPr>
            <p:cNvSpPr txBox="1"/>
            <p:nvPr/>
          </p:nvSpPr>
          <p:spPr>
            <a:xfrm>
              <a:off x="7805480" y="3195828"/>
              <a:ext cx="1097280" cy="228600"/>
            </a:xfrm>
            <a:prstGeom prst="rect">
              <a:avLst/>
            </a:prstGeom>
            <a:noFill/>
          </p:spPr>
          <p:txBody>
            <a:bodyPr wrap="square" lIns="45720" rIns="45720" anchor="t">
              <a:spAutoFit/>
            </a:bodyPr>
            <a:lstStyle/>
            <a:p>
              <a:pPr algn="ctr"/>
              <a:r>
                <a:rPr sz="1000" b="0">
                  <a:solidFill>
                    <a:srgbClr val="B0BED2"/>
                  </a:solidFill>
                  <a:latin typeface="Aptos"/>
                </a:rPr>
                <a:t>4</a:t>
              </a:r>
            </a:p>
          </p:txBody>
        </p:sp>
        <p:sp>
          <p:nvSpPr>
            <p:cNvPr id="29" name="TextBox 28">
              <a:extLst>
                <a:ext uri="{FF2B5EF4-FFF2-40B4-BE49-F238E27FC236}">
                  <a16:creationId xmlns:a16="http://schemas.microsoft.com/office/drawing/2014/main" id="{38F96685-915F-BCC1-88C3-945F0D74AEB8}"/>
                </a:ext>
              </a:extLst>
            </p:cNvPr>
            <p:cNvSpPr txBox="1"/>
            <p:nvPr/>
          </p:nvSpPr>
          <p:spPr>
            <a:xfrm>
              <a:off x="5423468" y="1964346"/>
              <a:ext cx="1188720" cy="369332"/>
            </a:xfrm>
            <a:prstGeom prst="rect">
              <a:avLst/>
            </a:prstGeom>
            <a:noFill/>
          </p:spPr>
          <p:txBody>
            <a:bodyPr wrap="square" lIns="45720" rIns="45720" anchor="t">
              <a:spAutoFit/>
            </a:bodyPr>
            <a:lstStyle/>
            <a:p>
              <a:pPr algn="ctr"/>
              <a:r>
                <a:rPr b="1" dirty="0">
                  <a:solidFill>
                    <a:srgbClr val="FFB74D"/>
                  </a:solidFill>
                  <a:latin typeface="Aptos"/>
                </a:rPr>
                <a:t>RIGHT</a:t>
              </a:r>
            </a:p>
          </p:txBody>
        </p:sp>
        <p:cxnSp>
          <p:nvCxnSpPr>
            <p:cNvPr id="41" name="Straight Arrow Connector 40">
              <a:extLst>
                <a:ext uri="{FF2B5EF4-FFF2-40B4-BE49-F238E27FC236}">
                  <a16:creationId xmlns:a16="http://schemas.microsoft.com/office/drawing/2014/main" id="{35320C47-1C08-B97F-0795-29576ECCBAD5}"/>
                </a:ext>
              </a:extLst>
            </p:cNvPr>
            <p:cNvCxnSpPr>
              <a:cxnSpLocks/>
            </p:cNvCxnSpPr>
            <p:nvPr/>
          </p:nvCxnSpPr>
          <p:spPr>
            <a:xfrm>
              <a:off x="3664314" y="2283577"/>
              <a:ext cx="0" cy="190679"/>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687A843-C55A-910D-D828-FF07C0D30D98}"/>
                </a:ext>
              </a:extLst>
            </p:cNvPr>
            <p:cNvCxnSpPr>
              <a:cxnSpLocks/>
            </p:cNvCxnSpPr>
            <p:nvPr/>
          </p:nvCxnSpPr>
          <p:spPr>
            <a:xfrm>
              <a:off x="6017828" y="2277390"/>
              <a:ext cx="0" cy="19067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85105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3E9F2-7012-5937-F8DE-A0DC26CD5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56D603-80E0-72A7-6E3C-1C3B635817B7}"/>
              </a:ext>
            </a:extLst>
          </p:cNvPr>
          <p:cNvSpPr>
            <a:spLocks noGrp="1"/>
          </p:cNvSpPr>
          <p:nvPr>
            <p:ph type="title"/>
          </p:nvPr>
        </p:nvSpPr>
        <p:spPr/>
        <p:txBody>
          <a:bodyPr>
            <a:normAutofit/>
          </a:bodyPr>
          <a:lstStyle/>
          <a:p>
            <a:r>
              <a:rPr lang="en-IE" dirty="0"/>
              <a:t>Worked Example of the </a:t>
            </a:r>
            <a:br>
              <a:rPr lang="en-IE" dirty="0"/>
            </a:br>
            <a:r>
              <a:rPr lang="en-IE" dirty="0"/>
              <a:t>“Sliding Window”</a:t>
            </a:r>
          </a:p>
        </p:txBody>
      </p:sp>
      <p:sp>
        <p:nvSpPr>
          <p:cNvPr id="33" name="Rounded Rectangle 21">
            <a:extLst>
              <a:ext uri="{FF2B5EF4-FFF2-40B4-BE49-F238E27FC236}">
                <a16:creationId xmlns:a16="http://schemas.microsoft.com/office/drawing/2014/main" id="{7B89E339-7442-E51F-4920-3949A908798B}"/>
              </a:ext>
            </a:extLst>
          </p:cNvPr>
          <p:cNvSpPr/>
          <p:nvPr/>
        </p:nvSpPr>
        <p:spPr>
          <a:xfrm>
            <a:off x="953396" y="1909961"/>
            <a:ext cx="5824725" cy="663834"/>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1700" b="0" dirty="0">
                <a:solidFill>
                  <a:srgbClr val="F5F8FC"/>
                </a:solidFill>
                <a:latin typeface="Aptos"/>
              </a:rPr>
              <a:t>Stage 1: Calculate the sum of the first window</a:t>
            </a:r>
          </a:p>
          <a:p>
            <a:pPr algn="ctr">
              <a:spcAft>
                <a:spcPts val="700"/>
              </a:spcAft>
            </a:pPr>
            <a:r>
              <a:rPr lang="en-IE" sz="1700" dirty="0">
                <a:solidFill>
                  <a:srgbClr val="F5F8FC"/>
                </a:solidFill>
                <a:latin typeface="Aptos"/>
              </a:rPr>
              <a:t>left = 0, right = k-1</a:t>
            </a:r>
            <a:endParaRPr sz="1700" b="0" dirty="0">
              <a:solidFill>
                <a:srgbClr val="F5F8FC"/>
              </a:solidFill>
              <a:latin typeface="Aptos"/>
            </a:endParaRPr>
          </a:p>
        </p:txBody>
      </p:sp>
      <p:sp>
        <p:nvSpPr>
          <p:cNvPr id="37" name="TextBox 36">
            <a:extLst>
              <a:ext uri="{FF2B5EF4-FFF2-40B4-BE49-F238E27FC236}">
                <a16:creationId xmlns:a16="http://schemas.microsoft.com/office/drawing/2014/main" id="{8B403599-4437-5D23-DE9C-C742DD2F2D35}"/>
              </a:ext>
            </a:extLst>
          </p:cNvPr>
          <p:cNvSpPr txBox="1"/>
          <p:nvPr/>
        </p:nvSpPr>
        <p:spPr>
          <a:xfrm>
            <a:off x="1066800" y="4713732"/>
            <a:ext cx="10058400" cy="1354217"/>
          </a:xfrm>
          <a:prstGeom prst="rect">
            <a:avLst/>
          </a:prstGeom>
          <a:noFill/>
        </p:spPr>
        <p:txBody>
          <a:bodyPr wrap="square" lIns="45720" rIns="45720" anchor="t">
            <a:spAutoFit/>
          </a:bodyPr>
          <a:lstStyle/>
          <a:p>
            <a:pPr marL="285750" indent="-285750" algn="l">
              <a:buFont typeface="Arial" panose="020B0604020202020204" pitchFamily="34" charset="0"/>
              <a:buChar char="•"/>
            </a:pPr>
            <a:r>
              <a:rPr lang="en-IE" sz="2200" dirty="0"/>
              <a:t>Question: Why is this separate from the main process?</a:t>
            </a:r>
          </a:p>
          <a:p>
            <a:pPr marL="742950" lvl="1" indent="-285750">
              <a:buFont typeface="Arial" panose="020B0604020202020204" pitchFamily="34" charset="0"/>
              <a:buChar char="•"/>
            </a:pPr>
            <a:r>
              <a:rPr lang="en-IE" sz="2000" dirty="0"/>
              <a:t>Value of the first window forms basis of calculation</a:t>
            </a:r>
          </a:p>
          <a:p>
            <a:pPr marL="742950" lvl="1" indent="-285750">
              <a:buFont typeface="Arial" panose="020B0604020202020204" pitchFamily="34" charset="0"/>
              <a:buChar char="•"/>
            </a:pPr>
            <a:r>
              <a:rPr lang="en-IE" sz="2000" dirty="0"/>
              <a:t>Remove oldest element</a:t>
            </a:r>
          </a:p>
          <a:p>
            <a:pPr marL="742950" lvl="1" indent="-285750">
              <a:buFont typeface="Arial" panose="020B0604020202020204" pitchFamily="34" charset="0"/>
              <a:buChar char="•"/>
            </a:pPr>
            <a:r>
              <a:rPr lang="en-IE" sz="2000" dirty="0"/>
              <a:t>Add in next element</a:t>
            </a:r>
          </a:p>
        </p:txBody>
      </p:sp>
      <p:sp>
        <p:nvSpPr>
          <p:cNvPr id="6" name="Rounded Rectangle 22">
            <a:extLst>
              <a:ext uri="{FF2B5EF4-FFF2-40B4-BE49-F238E27FC236}">
                <a16:creationId xmlns:a16="http://schemas.microsoft.com/office/drawing/2014/main" id="{D508D1A4-E1FF-DBB6-05D9-548A6B011153}"/>
              </a:ext>
            </a:extLst>
          </p:cNvPr>
          <p:cNvSpPr/>
          <p:nvPr/>
        </p:nvSpPr>
        <p:spPr>
          <a:xfrm>
            <a:off x="6992470" y="2004679"/>
            <a:ext cx="4132730" cy="1769364"/>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US" sz="1700" b="1" dirty="0">
                <a:solidFill>
                  <a:schemeClr val="bg1">
                    <a:lumMod val="95000"/>
                  </a:schemeClr>
                </a:solidFill>
                <a:latin typeface="Aptos"/>
              </a:rPr>
              <a:t>for each index from 0 to k:</a:t>
            </a:r>
          </a:p>
          <a:p>
            <a:pPr algn="ctr">
              <a:spcAft>
                <a:spcPts val="700"/>
              </a:spcAft>
            </a:pPr>
            <a:r>
              <a:rPr lang="en-US" sz="1700" b="1" dirty="0" err="1">
                <a:solidFill>
                  <a:schemeClr val="bg1">
                    <a:lumMod val="95000"/>
                  </a:schemeClr>
                </a:solidFill>
                <a:latin typeface="Aptos"/>
              </a:rPr>
              <a:t>windowSum</a:t>
            </a:r>
            <a:r>
              <a:rPr lang="en-US" sz="1700" b="1" dirty="0">
                <a:solidFill>
                  <a:schemeClr val="bg1">
                    <a:lumMod val="95000"/>
                  </a:schemeClr>
                </a:solidFill>
                <a:latin typeface="Aptos"/>
              </a:rPr>
              <a:t> += </a:t>
            </a:r>
            <a:r>
              <a:rPr lang="en-US" sz="1700" b="1" dirty="0" err="1">
                <a:solidFill>
                  <a:schemeClr val="bg1">
                    <a:lumMod val="95000"/>
                  </a:schemeClr>
                </a:solidFill>
                <a:latin typeface="Aptos"/>
              </a:rPr>
              <a:t>currentValue</a:t>
            </a:r>
            <a:endParaRPr lang="en-US" sz="1700" b="1" dirty="0">
              <a:solidFill>
                <a:schemeClr val="bg1">
                  <a:lumMod val="95000"/>
                </a:schemeClr>
              </a:solidFill>
              <a:latin typeface="Aptos"/>
            </a:endParaRPr>
          </a:p>
          <a:p>
            <a:pPr>
              <a:spcAft>
                <a:spcPts val="700"/>
              </a:spcAft>
            </a:pPr>
            <a:r>
              <a:rPr lang="en-US" sz="1700" b="1" dirty="0">
                <a:solidFill>
                  <a:srgbClr val="FFC000"/>
                </a:solidFill>
                <a:latin typeface="Aptos"/>
              </a:rPr>
              <a:t>This gives us the window base value</a:t>
            </a:r>
          </a:p>
        </p:txBody>
      </p:sp>
      <p:grpSp>
        <p:nvGrpSpPr>
          <p:cNvPr id="4" name="Group 3">
            <a:extLst>
              <a:ext uri="{FF2B5EF4-FFF2-40B4-BE49-F238E27FC236}">
                <a16:creationId xmlns:a16="http://schemas.microsoft.com/office/drawing/2014/main" id="{0352E268-F2E1-CBEB-407B-876441482FE2}"/>
              </a:ext>
            </a:extLst>
          </p:cNvPr>
          <p:cNvGrpSpPr/>
          <p:nvPr/>
        </p:nvGrpSpPr>
        <p:grpSpPr>
          <a:xfrm>
            <a:off x="953396" y="2698959"/>
            <a:ext cx="5824728" cy="1460082"/>
            <a:chOff x="3078032" y="1964346"/>
            <a:chExt cx="5824728" cy="1460082"/>
          </a:xfrm>
        </p:grpSpPr>
        <p:sp>
          <p:nvSpPr>
            <p:cNvPr id="8" name="Rounded Rectangle 7">
              <a:extLst>
                <a:ext uri="{FF2B5EF4-FFF2-40B4-BE49-F238E27FC236}">
                  <a16:creationId xmlns:a16="http://schemas.microsoft.com/office/drawing/2014/main" id="{F6E54870-6E2C-5989-6688-F56B3D88C69F}"/>
                </a:ext>
              </a:extLst>
            </p:cNvPr>
            <p:cNvSpPr/>
            <p:nvPr/>
          </p:nvSpPr>
          <p:spPr>
            <a:xfrm>
              <a:off x="3123752" y="2299716"/>
              <a:ext cx="1097280" cy="822960"/>
            </a:xfrm>
            <a:prstGeom prst="roundRect">
              <a:avLst/>
            </a:prstGeom>
            <a:solidFill>
              <a:schemeClr val="accent6"/>
            </a:solidFill>
            <a:ln>
              <a:solidFill>
                <a:srgbClr val="08708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1</a:t>
              </a:r>
            </a:p>
          </p:txBody>
        </p:sp>
        <p:sp>
          <p:nvSpPr>
            <p:cNvPr id="10" name="TextBox 9">
              <a:extLst>
                <a:ext uri="{FF2B5EF4-FFF2-40B4-BE49-F238E27FC236}">
                  <a16:creationId xmlns:a16="http://schemas.microsoft.com/office/drawing/2014/main" id="{CA6D888A-C849-90D3-1587-94A7F8524FE3}"/>
                </a:ext>
              </a:extLst>
            </p:cNvPr>
            <p:cNvSpPr txBox="1"/>
            <p:nvPr/>
          </p:nvSpPr>
          <p:spPr>
            <a:xfrm>
              <a:off x="3123752" y="3195828"/>
              <a:ext cx="1097280" cy="228600"/>
            </a:xfrm>
            <a:prstGeom prst="rect">
              <a:avLst/>
            </a:prstGeom>
            <a:noFill/>
          </p:spPr>
          <p:txBody>
            <a:bodyPr wrap="square" lIns="45720" rIns="45720" anchor="t">
              <a:spAutoFit/>
            </a:bodyPr>
            <a:lstStyle/>
            <a:p>
              <a:pPr algn="ctr"/>
              <a:r>
                <a:rPr sz="1000" b="0">
                  <a:solidFill>
                    <a:srgbClr val="B0BED2"/>
                  </a:solidFill>
                  <a:latin typeface="Aptos"/>
                </a:rPr>
                <a:t>0</a:t>
              </a:r>
            </a:p>
          </p:txBody>
        </p:sp>
        <p:sp>
          <p:nvSpPr>
            <p:cNvPr id="11" name="TextBox 10">
              <a:extLst>
                <a:ext uri="{FF2B5EF4-FFF2-40B4-BE49-F238E27FC236}">
                  <a16:creationId xmlns:a16="http://schemas.microsoft.com/office/drawing/2014/main" id="{D1DC150A-F046-DDD6-3D22-A7C183DD98AD}"/>
                </a:ext>
              </a:extLst>
            </p:cNvPr>
            <p:cNvSpPr txBox="1"/>
            <p:nvPr/>
          </p:nvSpPr>
          <p:spPr>
            <a:xfrm>
              <a:off x="3078032" y="1970532"/>
              <a:ext cx="1188720" cy="369332"/>
            </a:xfrm>
            <a:prstGeom prst="rect">
              <a:avLst/>
            </a:prstGeom>
            <a:noFill/>
          </p:spPr>
          <p:txBody>
            <a:bodyPr wrap="square" lIns="45720" rIns="45720" anchor="t">
              <a:spAutoFit/>
            </a:bodyPr>
            <a:lstStyle/>
            <a:p>
              <a:pPr algn="ctr"/>
              <a:r>
                <a:rPr b="1" dirty="0">
                  <a:solidFill>
                    <a:srgbClr val="38D1E0"/>
                  </a:solidFill>
                  <a:latin typeface="Aptos"/>
                </a:rPr>
                <a:t>LEFT</a:t>
              </a:r>
            </a:p>
          </p:txBody>
        </p:sp>
        <p:sp>
          <p:nvSpPr>
            <p:cNvPr id="12" name="Rounded Rectangle 11">
              <a:extLst>
                <a:ext uri="{FF2B5EF4-FFF2-40B4-BE49-F238E27FC236}">
                  <a16:creationId xmlns:a16="http://schemas.microsoft.com/office/drawing/2014/main" id="{A2EC8BDB-4F58-DCDB-2AE9-50BAB6B035DE}"/>
                </a:ext>
              </a:extLst>
            </p:cNvPr>
            <p:cNvSpPr/>
            <p:nvPr/>
          </p:nvSpPr>
          <p:spPr>
            <a:xfrm>
              <a:off x="4294184"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3</a:t>
              </a:r>
            </a:p>
          </p:txBody>
        </p:sp>
        <p:sp>
          <p:nvSpPr>
            <p:cNvPr id="14" name="TextBox 13">
              <a:extLst>
                <a:ext uri="{FF2B5EF4-FFF2-40B4-BE49-F238E27FC236}">
                  <a16:creationId xmlns:a16="http://schemas.microsoft.com/office/drawing/2014/main" id="{1266A25F-F48E-1AEE-1202-B243BCA627A5}"/>
                </a:ext>
              </a:extLst>
            </p:cNvPr>
            <p:cNvSpPr txBox="1"/>
            <p:nvPr/>
          </p:nvSpPr>
          <p:spPr>
            <a:xfrm>
              <a:off x="4294184" y="3195828"/>
              <a:ext cx="1097280" cy="228600"/>
            </a:xfrm>
            <a:prstGeom prst="rect">
              <a:avLst/>
            </a:prstGeom>
            <a:noFill/>
          </p:spPr>
          <p:txBody>
            <a:bodyPr wrap="square" lIns="45720" rIns="45720" anchor="t">
              <a:spAutoFit/>
            </a:bodyPr>
            <a:lstStyle/>
            <a:p>
              <a:pPr algn="ctr"/>
              <a:r>
                <a:rPr sz="1000" b="0">
                  <a:solidFill>
                    <a:srgbClr val="B0BED2"/>
                  </a:solidFill>
                  <a:latin typeface="Aptos"/>
                </a:rPr>
                <a:t>1</a:t>
              </a:r>
            </a:p>
          </p:txBody>
        </p:sp>
        <p:sp>
          <p:nvSpPr>
            <p:cNvPr id="16" name="Rounded Rectangle 13">
              <a:extLst>
                <a:ext uri="{FF2B5EF4-FFF2-40B4-BE49-F238E27FC236}">
                  <a16:creationId xmlns:a16="http://schemas.microsoft.com/office/drawing/2014/main" id="{8A0E178F-A7C4-5B22-94FD-F2104E11F963}"/>
                </a:ext>
              </a:extLst>
            </p:cNvPr>
            <p:cNvSpPr/>
            <p:nvPr/>
          </p:nvSpPr>
          <p:spPr>
            <a:xfrm>
              <a:off x="5464616" y="2299716"/>
              <a:ext cx="1097280" cy="822960"/>
            </a:xfrm>
            <a:prstGeom prst="roundRect">
              <a:avLst/>
            </a:prstGeom>
            <a:solidFill>
              <a:srgbClr val="FFC000"/>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4</a:t>
              </a:r>
            </a:p>
          </p:txBody>
        </p:sp>
        <p:sp>
          <p:nvSpPr>
            <p:cNvPr id="18" name="TextBox 17">
              <a:extLst>
                <a:ext uri="{FF2B5EF4-FFF2-40B4-BE49-F238E27FC236}">
                  <a16:creationId xmlns:a16="http://schemas.microsoft.com/office/drawing/2014/main" id="{F8D9CCD5-D2C5-832B-4B00-0C365F07366B}"/>
                </a:ext>
              </a:extLst>
            </p:cNvPr>
            <p:cNvSpPr txBox="1"/>
            <p:nvPr/>
          </p:nvSpPr>
          <p:spPr>
            <a:xfrm>
              <a:off x="5464616" y="3195828"/>
              <a:ext cx="1097280" cy="228600"/>
            </a:xfrm>
            <a:prstGeom prst="rect">
              <a:avLst/>
            </a:prstGeom>
            <a:noFill/>
          </p:spPr>
          <p:txBody>
            <a:bodyPr wrap="square" lIns="45720" rIns="45720" anchor="t">
              <a:spAutoFit/>
            </a:bodyPr>
            <a:lstStyle/>
            <a:p>
              <a:pPr algn="ctr"/>
              <a:r>
                <a:rPr sz="1000" b="0">
                  <a:solidFill>
                    <a:srgbClr val="B0BED2"/>
                  </a:solidFill>
                  <a:latin typeface="Aptos"/>
                </a:rPr>
                <a:t>2</a:t>
              </a:r>
            </a:p>
          </p:txBody>
        </p:sp>
        <p:sp>
          <p:nvSpPr>
            <p:cNvPr id="20" name="Rounded Rectangle 15">
              <a:extLst>
                <a:ext uri="{FF2B5EF4-FFF2-40B4-BE49-F238E27FC236}">
                  <a16:creationId xmlns:a16="http://schemas.microsoft.com/office/drawing/2014/main" id="{9251F152-8E77-1246-4098-2A266EE69526}"/>
                </a:ext>
              </a:extLst>
            </p:cNvPr>
            <p:cNvSpPr/>
            <p:nvPr/>
          </p:nvSpPr>
          <p:spPr>
            <a:xfrm>
              <a:off x="6635048"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6</a:t>
              </a:r>
            </a:p>
          </p:txBody>
        </p:sp>
        <p:sp>
          <p:nvSpPr>
            <p:cNvPr id="22" name="TextBox 21">
              <a:extLst>
                <a:ext uri="{FF2B5EF4-FFF2-40B4-BE49-F238E27FC236}">
                  <a16:creationId xmlns:a16="http://schemas.microsoft.com/office/drawing/2014/main" id="{DC4F4F84-F3EA-CF02-FFC4-DC9AF181F32F}"/>
                </a:ext>
              </a:extLst>
            </p:cNvPr>
            <p:cNvSpPr txBox="1"/>
            <p:nvPr/>
          </p:nvSpPr>
          <p:spPr>
            <a:xfrm>
              <a:off x="6635048" y="3195828"/>
              <a:ext cx="1097280" cy="228600"/>
            </a:xfrm>
            <a:prstGeom prst="rect">
              <a:avLst/>
            </a:prstGeom>
            <a:noFill/>
          </p:spPr>
          <p:txBody>
            <a:bodyPr wrap="square" lIns="45720" rIns="45720" anchor="t">
              <a:spAutoFit/>
            </a:bodyPr>
            <a:lstStyle/>
            <a:p>
              <a:pPr algn="ctr"/>
              <a:r>
                <a:rPr sz="1000" b="0">
                  <a:solidFill>
                    <a:srgbClr val="B0BED2"/>
                  </a:solidFill>
                  <a:latin typeface="Aptos"/>
                </a:rPr>
                <a:t>3</a:t>
              </a:r>
            </a:p>
          </p:txBody>
        </p:sp>
        <p:sp>
          <p:nvSpPr>
            <p:cNvPr id="24" name="Rounded Rectangle 17">
              <a:extLst>
                <a:ext uri="{FF2B5EF4-FFF2-40B4-BE49-F238E27FC236}">
                  <a16:creationId xmlns:a16="http://schemas.microsoft.com/office/drawing/2014/main" id="{4A8F3F3D-BB54-3057-68AA-BC7A8F23112E}"/>
                </a:ext>
              </a:extLst>
            </p:cNvPr>
            <p:cNvSpPr/>
            <p:nvPr/>
          </p:nvSpPr>
          <p:spPr>
            <a:xfrm>
              <a:off x="7805480" y="2299716"/>
              <a:ext cx="1097280" cy="822960"/>
            </a:xfrm>
            <a:prstGeom prst="roundRect">
              <a:avLst/>
            </a:prstGeom>
            <a:solidFill>
              <a:schemeClr val="tx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8</a:t>
              </a:r>
            </a:p>
          </p:txBody>
        </p:sp>
        <p:sp>
          <p:nvSpPr>
            <p:cNvPr id="26" name="TextBox 25">
              <a:extLst>
                <a:ext uri="{FF2B5EF4-FFF2-40B4-BE49-F238E27FC236}">
                  <a16:creationId xmlns:a16="http://schemas.microsoft.com/office/drawing/2014/main" id="{8A006ADA-4E7F-68E1-C6D2-51977A96C2E4}"/>
                </a:ext>
              </a:extLst>
            </p:cNvPr>
            <p:cNvSpPr txBox="1"/>
            <p:nvPr/>
          </p:nvSpPr>
          <p:spPr>
            <a:xfrm>
              <a:off x="7805480" y="3195828"/>
              <a:ext cx="1097280" cy="228600"/>
            </a:xfrm>
            <a:prstGeom prst="rect">
              <a:avLst/>
            </a:prstGeom>
            <a:noFill/>
          </p:spPr>
          <p:txBody>
            <a:bodyPr wrap="square" lIns="45720" rIns="45720" anchor="t">
              <a:spAutoFit/>
            </a:bodyPr>
            <a:lstStyle/>
            <a:p>
              <a:pPr algn="ctr"/>
              <a:r>
                <a:rPr sz="1000" b="0">
                  <a:solidFill>
                    <a:srgbClr val="B0BED2"/>
                  </a:solidFill>
                  <a:latin typeface="Aptos"/>
                </a:rPr>
                <a:t>4</a:t>
              </a:r>
            </a:p>
          </p:txBody>
        </p:sp>
        <p:sp>
          <p:nvSpPr>
            <p:cNvPr id="28" name="TextBox 27">
              <a:extLst>
                <a:ext uri="{FF2B5EF4-FFF2-40B4-BE49-F238E27FC236}">
                  <a16:creationId xmlns:a16="http://schemas.microsoft.com/office/drawing/2014/main" id="{ECEB2A4F-4E33-04AA-7EB2-03DD8176D231}"/>
                </a:ext>
              </a:extLst>
            </p:cNvPr>
            <p:cNvSpPr txBox="1"/>
            <p:nvPr/>
          </p:nvSpPr>
          <p:spPr>
            <a:xfrm>
              <a:off x="5423468" y="1964346"/>
              <a:ext cx="1188720" cy="369332"/>
            </a:xfrm>
            <a:prstGeom prst="rect">
              <a:avLst/>
            </a:prstGeom>
            <a:noFill/>
          </p:spPr>
          <p:txBody>
            <a:bodyPr wrap="square" lIns="45720" rIns="45720" anchor="t">
              <a:spAutoFit/>
            </a:bodyPr>
            <a:lstStyle/>
            <a:p>
              <a:pPr algn="ctr"/>
              <a:r>
                <a:rPr b="1" dirty="0">
                  <a:solidFill>
                    <a:srgbClr val="FFB74D"/>
                  </a:solidFill>
                  <a:latin typeface="Aptos"/>
                </a:rPr>
                <a:t>RIGHT</a:t>
              </a:r>
            </a:p>
          </p:txBody>
        </p:sp>
        <p:cxnSp>
          <p:nvCxnSpPr>
            <p:cNvPr id="30" name="Straight Arrow Connector 29">
              <a:extLst>
                <a:ext uri="{FF2B5EF4-FFF2-40B4-BE49-F238E27FC236}">
                  <a16:creationId xmlns:a16="http://schemas.microsoft.com/office/drawing/2014/main" id="{67B710AD-98A4-A404-F095-7ED85E11D26F}"/>
                </a:ext>
              </a:extLst>
            </p:cNvPr>
            <p:cNvCxnSpPr>
              <a:cxnSpLocks/>
            </p:cNvCxnSpPr>
            <p:nvPr/>
          </p:nvCxnSpPr>
          <p:spPr>
            <a:xfrm>
              <a:off x="3664314" y="2283577"/>
              <a:ext cx="0" cy="190679"/>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90069BE-5CF6-52A4-B780-F4958636F3FE}"/>
                </a:ext>
              </a:extLst>
            </p:cNvPr>
            <p:cNvCxnSpPr>
              <a:cxnSpLocks/>
            </p:cNvCxnSpPr>
            <p:nvPr/>
          </p:nvCxnSpPr>
          <p:spPr>
            <a:xfrm>
              <a:off x="6017828" y="2277390"/>
              <a:ext cx="0" cy="19067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17978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B7CC4-D082-5EA6-904B-A94F692B71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E593A-8747-AF76-0D75-38DDEEBF3969}"/>
              </a:ext>
            </a:extLst>
          </p:cNvPr>
          <p:cNvSpPr>
            <a:spLocks noGrp="1"/>
          </p:cNvSpPr>
          <p:nvPr>
            <p:ph type="title"/>
          </p:nvPr>
        </p:nvSpPr>
        <p:spPr/>
        <p:txBody>
          <a:bodyPr>
            <a:normAutofit/>
          </a:bodyPr>
          <a:lstStyle/>
          <a:p>
            <a:r>
              <a:rPr lang="en-IE" dirty="0"/>
              <a:t>Worked Example of the </a:t>
            </a:r>
            <a:br>
              <a:rPr lang="en-IE" dirty="0"/>
            </a:br>
            <a:r>
              <a:rPr lang="en-IE" dirty="0"/>
              <a:t>“Sliding Window”</a:t>
            </a:r>
          </a:p>
        </p:txBody>
      </p:sp>
      <p:sp>
        <p:nvSpPr>
          <p:cNvPr id="33" name="Rounded Rectangle 21">
            <a:extLst>
              <a:ext uri="{FF2B5EF4-FFF2-40B4-BE49-F238E27FC236}">
                <a16:creationId xmlns:a16="http://schemas.microsoft.com/office/drawing/2014/main" id="{CECE5CA4-3055-0F16-0135-13A0A09320E8}"/>
              </a:ext>
            </a:extLst>
          </p:cNvPr>
          <p:cNvSpPr/>
          <p:nvPr/>
        </p:nvSpPr>
        <p:spPr>
          <a:xfrm>
            <a:off x="953396" y="1909961"/>
            <a:ext cx="5824725" cy="663834"/>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1700" b="0" dirty="0">
                <a:solidFill>
                  <a:srgbClr val="F5F8FC"/>
                </a:solidFill>
                <a:latin typeface="Aptos"/>
              </a:rPr>
              <a:t>Stage 2: Slide the window to add a new element</a:t>
            </a:r>
          </a:p>
          <a:p>
            <a:pPr algn="ctr">
              <a:spcAft>
                <a:spcPts val="700"/>
              </a:spcAft>
            </a:pPr>
            <a:r>
              <a:rPr lang="en-IE" sz="1700" dirty="0">
                <a:solidFill>
                  <a:srgbClr val="F5F8FC"/>
                </a:solidFill>
                <a:latin typeface="Aptos"/>
              </a:rPr>
              <a:t>left = 0, right = k</a:t>
            </a:r>
            <a:endParaRPr sz="1700" b="0" dirty="0">
              <a:solidFill>
                <a:srgbClr val="F5F8FC"/>
              </a:solidFill>
              <a:latin typeface="Aptos"/>
            </a:endParaRPr>
          </a:p>
        </p:txBody>
      </p:sp>
      <p:sp>
        <p:nvSpPr>
          <p:cNvPr id="37" name="TextBox 36">
            <a:extLst>
              <a:ext uri="{FF2B5EF4-FFF2-40B4-BE49-F238E27FC236}">
                <a16:creationId xmlns:a16="http://schemas.microsoft.com/office/drawing/2014/main" id="{EBB5E160-77E1-46F3-7A14-F582E0EC873F}"/>
              </a:ext>
            </a:extLst>
          </p:cNvPr>
          <p:cNvSpPr txBox="1"/>
          <p:nvPr/>
        </p:nvSpPr>
        <p:spPr>
          <a:xfrm>
            <a:off x="1066800" y="4713732"/>
            <a:ext cx="10058400" cy="1107996"/>
          </a:xfrm>
          <a:prstGeom prst="rect">
            <a:avLst/>
          </a:prstGeom>
          <a:noFill/>
        </p:spPr>
        <p:txBody>
          <a:bodyPr wrap="square" lIns="45720" rIns="45720" anchor="t">
            <a:spAutoFit/>
          </a:bodyPr>
          <a:lstStyle/>
          <a:p>
            <a:pPr algn="l"/>
            <a:r>
              <a:rPr lang="en-IE" sz="2200" dirty="0"/>
              <a:t>New window is made up of:</a:t>
            </a:r>
          </a:p>
          <a:p>
            <a:pPr marL="342900" indent="-342900" algn="l">
              <a:buFont typeface="Arial" panose="020B0604020202020204" pitchFamily="34" charset="0"/>
              <a:buChar char="•"/>
            </a:pPr>
            <a:r>
              <a:rPr lang="en-IE" sz="2200" dirty="0"/>
              <a:t>All elements in previous window </a:t>
            </a:r>
            <a:r>
              <a:rPr lang="en-IE" sz="2200" dirty="0">
                <a:solidFill>
                  <a:srgbClr val="FF0000"/>
                </a:solidFill>
              </a:rPr>
              <a:t>excluding the first (i.e. remove element at left)</a:t>
            </a:r>
          </a:p>
          <a:p>
            <a:pPr marL="342900" indent="-342900" algn="l">
              <a:buFont typeface="Arial" panose="020B0604020202020204" pitchFamily="34" charset="0"/>
              <a:buChar char="•"/>
            </a:pPr>
            <a:r>
              <a:rPr lang="en-IE" sz="2200" dirty="0"/>
              <a:t>Element at </a:t>
            </a:r>
            <a:r>
              <a:rPr lang="en-IE" sz="2200" dirty="0">
                <a:solidFill>
                  <a:srgbClr val="FF0000"/>
                </a:solidFill>
              </a:rPr>
              <a:t>end of this window (i.e. right)</a:t>
            </a:r>
            <a:endParaRPr lang="en-IE" sz="2000" dirty="0">
              <a:solidFill>
                <a:srgbClr val="FF0000"/>
              </a:solidFill>
            </a:endParaRPr>
          </a:p>
        </p:txBody>
      </p:sp>
      <p:sp>
        <p:nvSpPr>
          <p:cNvPr id="6" name="Rounded Rectangle 22">
            <a:extLst>
              <a:ext uri="{FF2B5EF4-FFF2-40B4-BE49-F238E27FC236}">
                <a16:creationId xmlns:a16="http://schemas.microsoft.com/office/drawing/2014/main" id="{15AB4185-649E-6CC0-DD4D-554BC8B5BFC5}"/>
              </a:ext>
            </a:extLst>
          </p:cNvPr>
          <p:cNvSpPr/>
          <p:nvPr/>
        </p:nvSpPr>
        <p:spPr>
          <a:xfrm>
            <a:off x="6992470" y="2004679"/>
            <a:ext cx="4132730" cy="1769364"/>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US" sz="1700" b="1" dirty="0">
                <a:solidFill>
                  <a:schemeClr val="bg1">
                    <a:lumMod val="95000"/>
                  </a:schemeClr>
                </a:solidFill>
                <a:latin typeface="Aptos"/>
              </a:rPr>
              <a:t>for each index from k to n:</a:t>
            </a:r>
          </a:p>
          <a:p>
            <a:pPr algn="ctr">
              <a:spcAft>
                <a:spcPts val="700"/>
              </a:spcAft>
            </a:pPr>
            <a:r>
              <a:rPr lang="en-US" sz="1700" b="1" dirty="0" err="1">
                <a:solidFill>
                  <a:schemeClr val="bg1">
                    <a:lumMod val="95000"/>
                  </a:schemeClr>
                </a:solidFill>
                <a:latin typeface="Aptos"/>
              </a:rPr>
              <a:t>windowSum</a:t>
            </a:r>
            <a:r>
              <a:rPr lang="en-US" sz="1700" b="1" dirty="0">
                <a:solidFill>
                  <a:schemeClr val="bg1">
                    <a:lumMod val="95000"/>
                  </a:schemeClr>
                </a:solidFill>
                <a:latin typeface="Aptos"/>
              </a:rPr>
              <a:t> -= data[k-</a:t>
            </a:r>
            <a:r>
              <a:rPr lang="en-US" sz="1700" b="1" dirty="0" err="1">
                <a:solidFill>
                  <a:schemeClr val="bg1">
                    <a:lumMod val="95000"/>
                  </a:schemeClr>
                </a:solidFill>
                <a:latin typeface="Aptos"/>
              </a:rPr>
              <a:t>i</a:t>
            </a:r>
            <a:r>
              <a:rPr lang="en-US" sz="1700" b="1" dirty="0">
                <a:solidFill>
                  <a:schemeClr val="bg1">
                    <a:lumMod val="95000"/>
                  </a:schemeClr>
                </a:solidFill>
                <a:latin typeface="Aptos"/>
              </a:rPr>
              <a:t>]</a:t>
            </a:r>
          </a:p>
          <a:p>
            <a:pPr algn="ctr">
              <a:spcAft>
                <a:spcPts val="700"/>
              </a:spcAft>
            </a:pPr>
            <a:r>
              <a:rPr lang="en-US" sz="1700" b="1" dirty="0" err="1">
                <a:solidFill>
                  <a:schemeClr val="bg1">
                    <a:lumMod val="95000"/>
                  </a:schemeClr>
                </a:solidFill>
                <a:latin typeface="Aptos"/>
              </a:rPr>
              <a:t>windowSum</a:t>
            </a:r>
            <a:r>
              <a:rPr lang="en-US" sz="1700" b="1" dirty="0">
                <a:solidFill>
                  <a:schemeClr val="bg1">
                    <a:lumMod val="95000"/>
                  </a:schemeClr>
                </a:solidFill>
                <a:latin typeface="Aptos"/>
              </a:rPr>
              <a:t> += data[</a:t>
            </a:r>
            <a:r>
              <a:rPr lang="en-US" sz="1700" b="1" dirty="0" err="1">
                <a:solidFill>
                  <a:schemeClr val="bg1">
                    <a:lumMod val="95000"/>
                  </a:schemeClr>
                </a:solidFill>
                <a:latin typeface="Aptos"/>
              </a:rPr>
              <a:t>i</a:t>
            </a:r>
            <a:r>
              <a:rPr lang="en-US" sz="1700" b="1" dirty="0">
                <a:solidFill>
                  <a:schemeClr val="bg1">
                    <a:lumMod val="95000"/>
                  </a:schemeClr>
                </a:solidFill>
                <a:latin typeface="Aptos"/>
              </a:rPr>
              <a:t>]</a:t>
            </a:r>
          </a:p>
          <a:p>
            <a:pPr>
              <a:spcAft>
                <a:spcPts val="700"/>
              </a:spcAft>
            </a:pPr>
            <a:r>
              <a:rPr lang="en-US" sz="1700" b="1" dirty="0">
                <a:solidFill>
                  <a:srgbClr val="FFC000"/>
                </a:solidFill>
                <a:latin typeface="Aptos"/>
              </a:rPr>
              <a:t>This gives the value of </a:t>
            </a:r>
            <a:r>
              <a:rPr lang="en-US" sz="1700" b="1" u="sng" dirty="0">
                <a:solidFill>
                  <a:srgbClr val="FFC000"/>
                </a:solidFill>
                <a:latin typeface="Aptos"/>
              </a:rPr>
              <a:t>new</a:t>
            </a:r>
            <a:r>
              <a:rPr lang="en-US" sz="1700" b="1" dirty="0">
                <a:solidFill>
                  <a:srgbClr val="FFC000"/>
                </a:solidFill>
                <a:latin typeface="Aptos"/>
              </a:rPr>
              <a:t> window</a:t>
            </a:r>
          </a:p>
        </p:txBody>
      </p:sp>
      <p:grpSp>
        <p:nvGrpSpPr>
          <p:cNvPr id="4" name="Group 3">
            <a:extLst>
              <a:ext uri="{FF2B5EF4-FFF2-40B4-BE49-F238E27FC236}">
                <a16:creationId xmlns:a16="http://schemas.microsoft.com/office/drawing/2014/main" id="{6CA91C92-B976-3D75-5514-AA58F4F8EE59}"/>
              </a:ext>
            </a:extLst>
          </p:cNvPr>
          <p:cNvGrpSpPr/>
          <p:nvPr/>
        </p:nvGrpSpPr>
        <p:grpSpPr>
          <a:xfrm>
            <a:off x="960134" y="2698959"/>
            <a:ext cx="5817990" cy="1460082"/>
            <a:chOff x="3084770" y="1964346"/>
            <a:chExt cx="5817990" cy="1460082"/>
          </a:xfrm>
        </p:grpSpPr>
        <p:sp>
          <p:nvSpPr>
            <p:cNvPr id="8" name="Rounded Rectangle 7">
              <a:extLst>
                <a:ext uri="{FF2B5EF4-FFF2-40B4-BE49-F238E27FC236}">
                  <a16:creationId xmlns:a16="http://schemas.microsoft.com/office/drawing/2014/main" id="{8F61DC8C-F4E8-D6F5-BFEE-2423548BF963}"/>
                </a:ext>
              </a:extLst>
            </p:cNvPr>
            <p:cNvSpPr/>
            <p:nvPr/>
          </p:nvSpPr>
          <p:spPr>
            <a:xfrm>
              <a:off x="3123752" y="2299716"/>
              <a:ext cx="1097280" cy="822960"/>
            </a:xfrm>
            <a:prstGeom prst="roundRect">
              <a:avLst/>
            </a:prstGeom>
            <a:solidFill>
              <a:srgbClr val="62A39F"/>
            </a:solidFill>
            <a:ln>
              <a:solidFill>
                <a:srgbClr val="08708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1</a:t>
              </a:r>
            </a:p>
          </p:txBody>
        </p:sp>
        <p:sp>
          <p:nvSpPr>
            <p:cNvPr id="10" name="TextBox 9">
              <a:extLst>
                <a:ext uri="{FF2B5EF4-FFF2-40B4-BE49-F238E27FC236}">
                  <a16:creationId xmlns:a16="http://schemas.microsoft.com/office/drawing/2014/main" id="{6CE87EF1-9578-B91A-3365-9983EE2510B7}"/>
                </a:ext>
              </a:extLst>
            </p:cNvPr>
            <p:cNvSpPr txBox="1"/>
            <p:nvPr/>
          </p:nvSpPr>
          <p:spPr>
            <a:xfrm>
              <a:off x="3123752" y="3195828"/>
              <a:ext cx="1097280" cy="228600"/>
            </a:xfrm>
            <a:prstGeom prst="rect">
              <a:avLst/>
            </a:prstGeom>
            <a:noFill/>
          </p:spPr>
          <p:txBody>
            <a:bodyPr wrap="square" lIns="45720" rIns="45720" anchor="t">
              <a:spAutoFit/>
            </a:bodyPr>
            <a:lstStyle/>
            <a:p>
              <a:pPr algn="ctr"/>
              <a:r>
                <a:rPr sz="1000" b="0">
                  <a:solidFill>
                    <a:srgbClr val="B0BED2"/>
                  </a:solidFill>
                  <a:latin typeface="Aptos"/>
                </a:rPr>
                <a:t>0</a:t>
              </a:r>
            </a:p>
          </p:txBody>
        </p:sp>
        <p:sp>
          <p:nvSpPr>
            <p:cNvPr id="11" name="TextBox 10">
              <a:extLst>
                <a:ext uri="{FF2B5EF4-FFF2-40B4-BE49-F238E27FC236}">
                  <a16:creationId xmlns:a16="http://schemas.microsoft.com/office/drawing/2014/main" id="{4F7B0E11-0B66-114F-1513-2F65D2D55B4B}"/>
                </a:ext>
              </a:extLst>
            </p:cNvPr>
            <p:cNvSpPr txBox="1"/>
            <p:nvPr/>
          </p:nvSpPr>
          <p:spPr>
            <a:xfrm>
              <a:off x="3084770" y="1970532"/>
              <a:ext cx="1188720" cy="369332"/>
            </a:xfrm>
            <a:prstGeom prst="rect">
              <a:avLst/>
            </a:prstGeom>
            <a:noFill/>
          </p:spPr>
          <p:txBody>
            <a:bodyPr wrap="square" lIns="45720" rIns="45720" anchor="t">
              <a:spAutoFit/>
            </a:bodyPr>
            <a:lstStyle/>
            <a:p>
              <a:pPr algn="ctr"/>
              <a:r>
                <a:rPr b="1" dirty="0">
                  <a:solidFill>
                    <a:srgbClr val="38D1E0"/>
                  </a:solidFill>
                  <a:latin typeface="Aptos"/>
                </a:rPr>
                <a:t>LEFT</a:t>
              </a:r>
            </a:p>
          </p:txBody>
        </p:sp>
        <p:sp>
          <p:nvSpPr>
            <p:cNvPr id="12" name="Rounded Rectangle 11">
              <a:extLst>
                <a:ext uri="{FF2B5EF4-FFF2-40B4-BE49-F238E27FC236}">
                  <a16:creationId xmlns:a16="http://schemas.microsoft.com/office/drawing/2014/main" id="{21E96C4B-13D4-15D8-EC02-52C5C622BD19}"/>
                </a:ext>
              </a:extLst>
            </p:cNvPr>
            <p:cNvSpPr/>
            <p:nvPr/>
          </p:nvSpPr>
          <p:spPr>
            <a:xfrm>
              <a:off x="4294184"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3</a:t>
              </a:r>
            </a:p>
          </p:txBody>
        </p:sp>
        <p:sp>
          <p:nvSpPr>
            <p:cNvPr id="14" name="TextBox 13">
              <a:extLst>
                <a:ext uri="{FF2B5EF4-FFF2-40B4-BE49-F238E27FC236}">
                  <a16:creationId xmlns:a16="http://schemas.microsoft.com/office/drawing/2014/main" id="{3FBAC664-88F4-E566-2898-D37E7D5EA904}"/>
                </a:ext>
              </a:extLst>
            </p:cNvPr>
            <p:cNvSpPr txBox="1"/>
            <p:nvPr/>
          </p:nvSpPr>
          <p:spPr>
            <a:xfrm>
              <a:off x="4294184" y="3195828"/>
              <a:ext cx="1097280" cy="228600"/>
            </a:xfrm>
            <a:prstGeom prst="rect">
              <a:avLst/>
            </a:prstGeom>
            <a:noFill/>
          </p:spPr>
          <p:txBody>
            <a:bodyPr wrap="square" lIns="45720" rIns="45720" anchor="t">
              <a:spAutoFit/>
            </a:bodyPr>
            <a:lstStyle/>
            <a:p>
              <a:pPr algn="ctr"/>
              <a:r>
                <a:rPr sz="1000" b="0">
                  <a:solidFill>
                    <a:srgbClr val="B0BED2"/>
                  </a:solidFill>
                  <a:latin typeface="Aptos"/>
                </a:rPr>
                <a:t>1</a:t>
              </a:r>
            </a:p>
          </p:txBody>
        </p:sp>
        <p:sp>
          <p:nvSpPr>
            <p:cNvPr id="16" name="Rounded Rectangle 13">
              <a:extLst>
                <a:ext uri="{FF2B5EF4-FFF2-40B4-BE49-F238E27FC236}">
                  <a16:creationId xmlns:a16="http://schemas.microsoft.com/office/drawing/2014/main" id="{0D80FDD3-E518-34B0-C78F-12DA9F5460ED}"/>
                </a:ext>
              </a:extLst>
            </p:cNvPr>
            <p:cNvSpPr/>
            <p:nvPr/>
          </p:nvSpPr>
          <p:spPr>
            <a:xfrm>
              <a:off x="5464616"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4</a:t>
              </a:r>
            </a:p>
          </p:txBody>
        </p:sp>
        <p:sp>
          <p:nvSpPr>
            <p:cNvPr id="18" name="TextBox 17">
              <a:extLst>
                <a:ext uri="{FF2B5EF4-FFF2-40B4-BE49-F238E27FC236}">
                  <a16:creationId xmlns:a16="http://schemas.microsoft.com/office/drawing/2014/main" id="{37A39CE4-3041-79AA-F652-C3878365F754}"/>
                </a:ext>
              </a:extLst>
            </p:cNvPr>
            <p:cNvSpPr txBox="1"/>
            <p:nvPr/>
          </p:nvSpPr>
          <p:spPr>
            <a:xfrm>
              <a:off x="5464616" y="3195828"/>
              <a:ext cx="1097280" cy="228600"/>
            </a:xfrm>
            <a:prstGeom prst="rect">
              <a:avLst/>
            </a:prstGeom>
            <a:noFill/>
          </p:spPr>
          <p:txBody>
            <a:bodyPr wrap="square" lIns="45720" rIns="45720" anchor="t">
              <a:spAutoFit/>
            </a:bodyPr>
            <a:lstStyle/>
            <a:p>
              <a:pPr algn="ctr"/>
              <a:r>
                <a:rPr sz="1000" b="0">
                  <a:solidFill>
                    <a:srgbClr val="B0BED2"/>
                  </a:solidFill>
                  <a:latin typeface="Aptos"/>
                </a:rPr>
                <a:t>2</a:t>
              </a:r>
            </a:p>
          </p:txBody>
        </p:sp>
        <p:sp>
          <p:nvSpPr>
            <p:cNvPr id="20" name="Rounded Rectangle 15">
              <a:extLst>
                <a:ext uri="{FF2B5EF4-FFF2-40B4-BE49-F238E27FC236}">
                  <a16:creationId xmlns:a16="http://schemas.microsoft.com/office/drawing/2014/main" id="{9AF75CC7-882A-3075-8DBE-4F6CCC211848}"/>
                </a:ext>
              </a:extLst>
            </p:cNvPr>
            <p:cNvSpPr/>
            <p:nvPr/>
          </p:nvSpPr>
          <p:spPr>
            <a:xfrm>
              <a:off x="6635048" y="2299716"/>
              <a:ext cx="1097280" cy="822960"/>
            </a:xfrm>
            <a:prstGeom prst="roundRect">
              <a:avLst/>
            </a:prstGeom>
            <a:solidFill>
              <a:srgbClr val="FFC000"/>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6</a:t>
              </a:r>
            </a:p>
          </p:txBody>
        </p:sp>
        <p:sp>
          <p:nvSpPr>
            <p:cNvPr id="22" name="TextBox 21">
              <a:extLst>
                <a:ext uri="{FF2B5EF4-FFF2-40B4-BE49-F238E27FC236}">
                  <a16:creationId xmlns:a16="http://schemas.microsoft.com/office/drawing/2014/main" id="{37491052-40E2-5CD2-6D5D-7C4B71B4CFAB}"/>
                </a:ext>
              </a:extLst>
            </p:cNvPr>
            <p:cNvSpPr txBox="1"/>
            <p:nvPr/>
          </p:nvSpPr>
          <p:spPr>
            <a:xfrm>
              <a:off x="6635048" y="3195828"/>
              <a:ext cx="1097280" cy="228600"/>
            </a:xfrm>
            <a:prstGeom prst="rect">
              <a:avLst/>
            </a:prstGeom>
            <a:noFill/>
          </p:spPr>
          <p:txBody>
            <a:bodyPr wrap="square" lIns="45720" rIns="45720" anchor="t">
              <a:spAutoFit/>
            </a:bodyPr>
            <a:lstStyle/>
            <a:p>
              <a:pPr algn="ctr"/>
              <a:r>
                <a:rPr sz="1000" b="0">
                  <a:solidFill>
                    <a:srgbClr val="B0BED2"/>
                  </a:solidFill>
                  <a:latin typeface="Aptos"/>
                </a:rPr>
                <a:t>3</a:t>
              </a:r>
            </a:p>
          </p:txBody>
        </p:sp>
        <p:sp>
          <p:nvSpPr>
            <p:cNvPr id="24" name="Rounded Rectangle 17">
              <a:extLst>
                <a:ext uri="{FF2B5EF4-FFF2-40B4-BE49-F238E27FC236}">
                  <a16:creationId xmlns:a16="http://schemas.microsoft.com/office/drawing/2014/main" id="{8EAE9432-B911-CEDF-0D69-E77E818A46BA}"/>
                </a:ext>
              </a:extLst>
            </p:cNvPr>
            <p:cNvSpPr/>
            <p:nvPr/>
          </p:nvSpPr>
          <p:spPr>
            <a:xfrm>
              <a:off x="7805480" y="2299716"/>
              <a:ext cx="1097280" cy="822960"/>
            </a:xfrm>
            <a:prstGeom prst="roundRect">
              <a:avLst/>
            </a:prstGeom>
            <a:solidFill>
              <a:schemeClr val="tx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8</a:t>
              </a:r>
            </a:p>
          </p:txBody>
        </p:sp>
        <p:sp>
          <p:nvSpPr>
            <p:cNvPr id="26" name="TextBox 25">
              <a:extLst>
                <a:ext uri="{FF2B5EF4-FFF2-40B4-BE49-F238E27FC236}">
                  <a16:creationId xmlns:a16="http://schemas.microsoft.com/office/drawing/2014/main" id="{6B2C86E0-CF94-D307-B3E7-7174558CF604}"/>
                </a:ext>
              </a:extLst>
            </p:cNvPr>
            <p:cNvSpPr txBox="1"/>
            <p:nvPr/>
          </p:nvSpPr>
          <p:spPr>
            <a:xfrm>
              <a:off x="7805480" y="3195828"/>
              <a:ext cx="1097280" cy="228600"/>
            </a:xfrm>
            <a:prstGeom prst="rect">
              <a:avLst/>
            </a:prstGeom>
            <a:noFill/>
          </p:spPr>
          <p:txBody>
            <a:bodyPr wrap="square" lIns="45720" rIns="45720" anchor="t">
              <a:spAutoFit/>
            </a:bodyPr>
            <a:lstStyle/>
            <a:p>
              <a:pPr algn="ctr"/>
              <a:r>
                <a:rPr sz="1000" b="0">
                  <a:solidFill>
                    <a:srgbClr val="B0BED2"/>
                  </a:solidFill>
                  <a:latin typeface="Aptos"/>
                </a:rPr>
                <a:t>4</a:t>
              </a:r>
            </a:p>
          </p:txBody>
        </p:sp>
        <p:sp>
          <p:nvSpPr>
            <p:cNvPr id="28" name="TextBox 27">
              <a:extLst>
                <a:ext uri="{FF2B5EF4-FFF2-40B4-BE49-F238E27FC236}">
                  <a16:creationId xmlns:a16="http://schemas.microsoft.com/office/drawing/2014/main" id="{30C98B91-C52C-2F0B-234E-8BB04CB1AE2B}"/>
                </a:ext>
              </a:extLst>
            </p:cNvPr>
            <p:cNvSpPr txBox="1"/>
            <p:nvPr/>
          </p:nvSpPr>
          <p:spPr>
            <a:xfrm>
              <a:off x="6573206" y="1964346"/>
              <a:ext cx="1188720" cy="369332"/>
            </a:xfrm>
            <a:prstGeom prst="rect">
              <a:avLst/>
            </a:prstGeom>
            <a:noFill/>
          </p:spPr>
          <p:txBody>
            <a:bodyPr wrap="square" lIns="45720" rIns="45720" anchor="t">
              <a:spAutoFit/>
            </a:bodyPr>
            <a:lstStyle/>
            <a:p>
              <a:pPr algn="ctr"/>
              <a:r>
                <a:rPr b="1" dirty="0">
                  <a:solidFill>
                    <a:srgbClr val="FFB74D"/>
                  </a:solidFill>
                  <a:latin typeface="Aptos"/>
                </a:rPr>
                <a:t>RIGHT</a:t>
              </a:r>
            </a:p>
          </p:txBody>
        </p:sp>
        <p:cxnSp>
          <p:nvCxnSpPr>
            <p:cNvPr id="30" name="Straight Arrow Connector 29">
              <a:extLst>
                <a:ext uri="{FF2B5EF4-FFF2-40B4-BE49-F238E27FC236}">
                  <a16:creationId xmlns:a16="http://schemas.microsoft.com/office/drawing/2014/main" id="{3A4A19F1-65CB-00E3-69E7-B8A42236045D}"/>
                </a:ext>
              </a:extLst>
            </p:cNvPr>
            <p:cNvCxnSpPr>
              <a:cxnSpLocks/>
            </p:cNvCxnSpPr>
            <p:nvPr/>
          </p:nvCxnSpPr>
          <p:spPr>
            <a:xfrm>
              <a:off x="3671052" y="2283577"/>
              <a:ext cx="0" cy="190679"/>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DE49B70-AA63-1680-234A-9C4E7F700469}"/>
                </a:ext>
              </a:extLst>
            </p:cNvPr>
            <p:cNvCxnSpPr>
              <a:cxnSpLocks/>
            </p:cNvCxnSpPr>
            <p:nvPr/>
          </p:nvCxnSpPr>
          <p:spPr>
            <a:xfrm>
              <a:off x="7167566" y="2277390"/>
              <a:ext cx="0" cy="19067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2483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ED85B-65D9-25F6-538E-CC4EF4D30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CF297A-405F-BFF7-414D-EE9417548583}"/>
              </a:ext>
            </a:extLst>
          </p:cNvPr>
          <p:cNvSpPr>
            <a:spLocks noGrp="1"/>
          </p:cNvSpPr>
          <p:nvPr>
            <p:ph type="title"/>
          </p:nvPr>
        </p:nvSpPr>
        <p:spPr/>
        <p:txBody>
          <a:bodyPr/>
          <a:lstStyle/>
          <a:p>
            <a:r>
              <a:rPr lang="en-IE" dirty="0"/>
              <a:t>Repeat the Process…</a:t>
            </a:r>
          </a:p>
        </p:txBody>
      </p:sp>
      <p:sp>
        <p:nvSpPr>
          <p:cNvPr id="60" name="TextBox 59">
            <a:extLst>
              <a:ext uri="{FF2B5EF4-FFF2-40B4-BE49-F238E27FC236}">
                <a16:creationId xmlns:a16="http://schemas.microsoft.com/office/drawing/2014/main" id="{1AB36304-A12E-40AF-B497-B3269F71DE98}"/>
              </a:ext>
            </a:extLst>
          </p:cNvPr>
          <p:cNvSpPr txBox="1"/>
          <p:nvPr/>
        </p:nvSpPr>
        <p:spPr>
          <a:xfrm>
            <a:off x="777241" y="1795565"/>
            <a:ext cx="10515600" cy="400110"/>
          </a:xfrm>
          <a:prstGeom prst="rect">
            <a:avLst/>
          </a:prstGeom>
          <a:noFill/>
        </p:spPr>
        <p:txBody>
          <a:bodyPr wrap="square" lIns="45720" rIns="45720" anchor="t">
            <a:spAutoFit/>
          </a:bodyPr>
          <a:lstStyle/>
          <a:p>
            <a:pPr algn="l"/>
            <a:r>
              <a:rPr lang="en-IE" sz="2000" b="0" dirty="0">
                <a:solidFill>
                  <a:schemeClr val="tx1">
                    <a:lumMod val="50000"/>
                    <a:lumOff val="50000"/>
                  </a:schemeClr>
                </a:solidFill>
              </a:rPr>
              <a:t>Loop all the way through the data, removing oldest element and adding a new one each time</a:t>
            </a:r>
            <a:endParaRPr sz="2000" b="0" dirty="0">
              <a:solidFill>
                <a:schemeClr val="tx1">
                  <a:lumMod val="50000"/>
                  <a:lumOff val="50000"/>
                </a:schemeClr>
              </a:solidFill>
            </a:endParaRPr>
          </a:p>
        </p:txBody>
      </p:sp>
      <p:grpSp>
        <p:nvGrpSpPr>
          <p:cNvPr id="12" name="Group 11">
            <a:extLst>
              <a:ext uri="{FF2B5EF4-FFF2-40B4-BE49-F238E27FC236}">
                <a16:creationId xmlns:a16="http://schemas.microsoft.com/office/drawing/2014/main" id="{8669CB51-D394-733B-2E41-C34DEBCB8F99}"/>
              </a:ext>
            </a:extLst>
          </p:cNvPr>
          <p:cNvGrpSpPr/>
          <p:nvPr/>
        </p:nvGrpSpPr>
        <p:grpSpPr>
          <a:xfrm>
            <a:off x="5737412" y="3731101"/>
            <a:ext cx="6419354" cy="2022706"/>
            <a:chOff x="777241" y="2269881"/>
            <a:chExt cx="6419354" cy="2022706"/>
          </a:xfrm>
        </p:grpSpPr>
        <p:grpSp>
          <p:nvGrpSpPr>
            <p:cNvPr id="58" name="Group 57">
              <a:extLst>
                <a:ext uri="{FF2B5EF4-FFF2-40B4-BE49-F238E27FC236}">
                  <a16:creationId xmlns:a16="http://schemas.microsoft.com/office/drawing/2014/main" id="{64E6E3F0-7510-97BC-922C-8D17A3D8BBC5}"/>
                </a:ext>
              </a:extLst>
            </p:cNvPr>
            <p:cNvGrpSpPr/>
            <p:nvPr/>
          </p:nvGrpSpPr>
          <p:grpSpPr>
            <a:xfrm>
              <a:off x="777241" y="2269882"/>
              <a:ext cx="5677347" cy="2022705"/>
              <a:chOff x="777241" y="1839563"/>
              <a:chExt cx="5677347" cy="2022705"/>
            </a:xfrm>
          </p:grpSpPr>
          <p:sp>
            <p:nvSpPr>
              <p:cNvPr id="15" name="Rounded Rectangle 11">
                <a:extLst>
                  <a:ext uri="{FF2B5EF4-FFF2-40B4-BE49-F238E27FC236}">
                    <a16:creationId xmlns:a16="http://schemas.microsoft.com/office/drawing/2014/main" id="{0A9844A2-082E-9F38-4907-79EA66B20032}"/>
                  </a:ext>
                </a:extLst>
              </p:cNvPr>
              <p:cNvSpPr/>
              <p:nvPr/>
            </p:nvSpPr>
            <p:spPr>
              <a:xfrm>
                <a:off x="777241" y="2362652"/>
                <a:ext cx="5677347" cy="658368"/>
              </a:xfrm>
              <a:prstGeom prst="roundRect">
                <a:avLst/>
              </a:prstGeom>
              <a:solidFill>
                <a:schemeClr val="bg1">
                  <a:lumMod val="85000"/>
                </a:schemeClr>
              </a:solidFill>
              <a:ln>
                <a:solidFill>
                  <a:srgbClr val="19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Rounded Rectangle 16">
                <a:extLst>
                  <a:ext uri="{FF2B5EF4-FFF2-40B4-BE49-F238E27FC236}">
                    <a16:creationId xmlns:a16="http://schemas.microsoft.com/office/drawing/2014/main" id="{3BDCE8D0-97EA-9D22-D1B5-9824030624FE}"/>
                  </a:ext>
                </a:extLst>
              </p:cNvPr>
              <p:cNvSpPr/>
              <p:nvPr/>
            </p:nvSpPr>
            <p:spPr>
              <a:xfrm>
                <a:off x="777241" y="3203900"/>
                <a:ext cx="5677347" cy="658368"/>
              </a:xfrm>
              <a:prstGeom prst="roundRect">
                <a:avLst/>
              </a:prstGeom>
              <a:solidFill>
                <a:schemeClr val="bg1">
                  <a:lumMod val="8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a:extLst>
                  <a:ext uri="{FF2B5EF4-FFF2-40B4-BE49-F238E27FC236}">
                    <a16:creationId xmlns:a16="http://schemas.microsoft.com/office/drawing/2014/main" id="{F02A3BFD-9B2B-1708-BB0B-C7407D60507A}"/>
                  </a:ext>
                </a:extLst>
              </p:cNvPr>
              <p:cNvSpPr txBox="1"/>
              <p:nvPr/>
            </p:nvSpPr>
            <p:spPr>
              <a:xfrm>
                <a:off x="831031" y="1839563"/>
                <a:ext cx="1920240" cy="523220"/>
              </a:xfrm>
              <a:prstGeom prst="rect">
                <a:avLst/>
              </a:prstGeom>
              <a:noFill/>
            </p:spPr>
            <p:txBody>
              <a:bodyPr wrap="square" lIns="45720" rIns="45720" anchor="t">
                <a:spAutoFit/>
              </a:bodyPr>
              <a:lstStyle/>
              <a:p>
                <a:pPr algn="l"/>
                <a:r>
                  <a:rPr lang="en-IE" sz="1400" b="1" dirty="0"/>
                  <a:t>Prev </a:t>
                </a:r>
              </a:p>
              <a:p>
                <a:pPr algn="l"/>
                <a:r>
                  <a:rPr lang="en-IE" sz="1400" b="1" dirty="0" err="1"/>
                  <a:t>windowSum</a:t>
                </a:r>
                <a:endParaRPr sz="1400" b="1" dirty="0"/>
              </a:p>
            </p:txBody>
          </p:sp>
          <p:sp>
            <p:nvSpPr>
              <p:cNvPr id="9" name="TextBox 8">
                <a:extLst>
                  <a:ext uri="{FF2B5EF4-FFF2-40B4-BE49-F238E27FC236}">
                    <a16:creationId xmlns:a16="http://schemas.microsoft.com/office/drawing/2014/main" id="{074E0934-0981-FF24-4A9B-90C89B5AAB9B}"/>
                  </a:ext>
                </a:extLst>
              </p:cNvPr>
              <p:cNvSpPr txBox="1"/>
              <p:nvPr/>
            </p:nvSpPr>
            <p:spPr>
              <a:xfrm>
                <a:off x="1937710" y="1839563"/>
                <a:ext cx="2011680" cy="523220"/>
              </a:xfrm>
              <a:prstGeom prst="rect">
                <a:avLst/>
              </a:prstGeom>
              <a:noFill/>
            </p:spPr>
            <p:txBody>
              <a:bodyPr wrap="square" lIns="45720" rIns="45720" anchor="t">
                <a:spAutoFit/>
              </a:bodyPr>
              <a:lstStyle/>
              <a:p>
                <a:pPr algn="l"/>
                <a:r>
                  <a:rPr lang="en-IE" sz="1400" b="1" dirty="0"/>
                  <a:t>ELIMINATED </a:t>
                </a:r>
              </a:p>
              <a:p>
                <a:pPr algn="l"/>
                <a:r>
                  <a:rPr lang="en-IE" sz="1400" b="1" dirty="0"/>
                  <a:t>ELEMENT</a:t>
                </a:r>
                <a:endParaRPr sz="1400" b="1" dirty="0"/>
              </a:p>
            </p:txBody>
          </p:sp>
          <p:sp>
            <p:nvSpPr>
              <p:cNvPr id="11" name="TextBox 10">
                <a:extLst>
                  <a:ext uri="{FF2B5EF4-FFF2-40B4-BE49-F238E27FC236}">
                    <a16:creationId xmlns:a16="http://schemas.microsoft.com/office/drawing/2014/main" id="{B556262D-B96D-FDF9-C60D-0E209417C349}"/>
                  </a:ext>
                </a:extLst>
              </p:cNvPr>
              <p:cNvSpPr txBox="1"/>
              <p:nvPr/>
            </p:nvSpPr>
            <p:spPr>
              <a:xfrm>
                <a:off x="2930652" y="1839563"/>
                <a:ext cx="2331720" cy="523220"/>
              </a:xfrm>
              <a:prstGeom prst="rect">
                <a:avLst/>
              </a:prstGeom>
              <a:noFill/>
            </p:spPr>
            <p:txBody>
              <a:bodyPr wrap="square" lIns="45720" rIns="45720" anchor="t">
                <a:spAutoFit/>
              </a:bodyPr>
              <a:lstStyle/>
              <a:p>
                <a:pPr algn="l"/>
                <a:r>
                  <a:rPr lang="en-IE" sz="1400" b="1" dirty="0"/>
                  <a:t>NEW </a:t>
                </a:r>
              </a:p>
              <a:p>
                <a:pPr algn="l"/>
                <a:r>
                  <a:rPr lang="en-IE" sz="1400" b="1" dirty="0"/>
                  <a:t>ELEMENT</a:t>
                </a:r>
                <a:endParaRPr sz="1400" b="1" dirty="0"/>
              </a:p>
            </p:txBody>
          </p:sp>
          <p:sp>
            <p:nvSpPr>
              <p:cNvPr id="13" name="TextBox 12">
                <a:extLst>
                  <a:ext uri="{FF2B5EF4-FFF2-40B4-BE49-F238E27FC236}">
                    <a16:creationId xmlns:a16="http://schemas.microsoft.com/office/drawing/2014/main" id="{34535685-A9B0-4F29-F4EC-DC7E3D685E3F}"/>
                  </a:ext>
                </a:extLst>
              </p:cNvPr>
              <p:cNvSpPr txBox="1"/>
              <p:nvPr/>
            </p:nvSpPr>
            <p:spPr>
              <a:xfrm>
                <a:off x="3997575" y="1840482"/>
                <a:ext cx="1828800" cy="523220"/>
              </a:xfrm>
              <a:prstGeom prst="rect">
                <a:avLst/>
              </a:prstGeom>
              <a:noFill/>
            </p:spPr>
            <p:txBody>
              <a:bodyPr wrap="square" lIns="45720" rIns="45720" anchor="t">
                <a:spAutoFit/>
              </a:bodyPr>
              <a:lstStyle/>
              <a:p>
                <a:pPr algn="l"/>
                <a:r>
                  <a:rPr lang="en-IE" sz="1400" b="1" dirty="0"/>
                  <a:t>UPDATED </a:t>
                </a:r>
              </a:p>
              <a:p>
                <a:pPr algn="l"/>
                <a:r>
                  <a:rPr lang="en-IE" sz="1400" b="1" dirty="0" err="1"/>
                  <a:t>windowSum</a:t>
                </a:r>
                <a:endParaRPr sz="1400" b="1" dirty="0"/>
              </a:p>
            </p:txBody>
          </p:sp>
          <p:sp>
            <p:nvSpPr>
              <p:cNvPr id="17" name="TextBox 16">
                <a:extLst>
                  <a:ext uri="{FF2B5EF4-FFF2-40B4-BE49-F238E27FC236}">
                    <a16:creationId xmlns:a16="http://schemas.microsoft.com/office/drawing/2014/main" id="{55694B6F-71E3-0AA8-5BEB-B61D17FB52DB}"/>
                  </a:ext>
                </a:extLst>
              </p:cNvPr>
              <p:cNvSpPr txBox="1"/>
              <p:nvPr/>
            </p:nvSpPr>
            <p:spPr>
              <a:xfrm>
                <a:off x="974376" y="2499812"/>
                <a:ext cx="1247874" cy="400110"/>
              </a:xfrm>
              <a:prstGeom prst="rect">
                <a:avLst/>
              </a:prstGeom>
              <a:noFill/>
            </p:spPr>
            <p:txBody>
              <a:bodyPr wrap="square" lIns="45720" rIns="45720" anchor="t">
                <a:spAutoFit/>
              </a:bodyPr>
              <a:lstStyle/>
              <a:p>
                <a:pPr algn="l"/>
                <a:r>
                  <a:rPr lang="en-IE" sz="2000" b="1" dirty="0">
                    <a:solidFill>
                      <a:schemeClr val="tx2">
                        <a:lumMod val="75000"/>
                      </a:schemeClr>
                    </a:solidFill>
                  </a:rPr>
                  <a:t>8</a:t>
                </a:r>
                <a:endParaRPr sz="2000" b="1" dirty="0">
                  <a:solidFill>
                    <a:schemeClr val="tx2">
                      <a:lumMod val="75000"/>
                    </a:schemeClr>
                  </a:solidFill>
                </a:endParaRPr>
              </a:p>
            </p:txBody>
          </p:sp>
          <p:sp>
            <p:nvSpPr>
              <p:cNvPr id="19" name="TextBox 18">
                <a:extLst>
                  <a:ext uri="{FF2B5EF4-FFF2-40B4-BE49-F238E27FC236}">
                    <a16:creationId xmlns:a16="http://schemas.microsoft.com/office/drawing/2014/main" id="{D7D55F68-DC71-B3A1-4897-B105FCE73302}"/>
                  </a:ext>
                </a:extLst>
              </p:cNvPr>
              <p:cNvSpPr txBox="1"/>
              <p:nvPr/>
            </p:nvSpPr>
            <p:spPr>
              <a:xfrm>
                <a:off x="2047438" y="2499812"/>
                <a:ext cx="1828800" cy="400110"/>
              </a:xfrm>
              <a:prstGeom prst="rect">
                <a:avLst/>
              </a:prstGeom>
              <a:noFill/>
            </p:spPr>
            <p:txBody>
              <a:bodyPr wrap="square" lIns="45720" rIns="45720" anchor="t">
                <a:spAutoFit/>
              </a:bodyPr>
              <a:lstStyle/>
              <a:p>
                <a:pPr algn="l"/>
                <a:r>
                  <a:rPr lang="en-IE" sz="2000" b="1" dirty="0">
                    <a:solidFill>
                      <a:schemeClr val="tx2">
                        <a:lumMod val="75000"/>
                      </a:schemeClr>
                    </a:solidFill>
                  </a:rPr>
                  <a:t>1</a:t>
                </a:r>
                <a:endParaRPr sz="2000" b="1" dirty="0">
                  <a:solidFill>
                    <a:schemeClr val="tx2">
                      <a:lumMod val="75000"/>
                    </a:schemeClr>
                  </a:solidFill>
                </a:endParaRPr>
              </a:p>
            </p:txBody>
          </p:sp>
          <p:sp>
            <p:nvSpPr>
              <p:cNvPr id="21" name="TextBox 20">
                <a:extLst>
                  <a:ext uri="{FF2B5EF4-FFF2-40B4-BE49-F238E27FC236}">
                    <a16:creationId xmlns:a16="http://schemas.microsoft.com/office/drawing/2014/main" id="{5204CF57-71AC-8B38-8657-8EF6EB12BC92}"/>
                  </a:ext>
                </a:extLst>
              </p:cNvPr>
              <p:cNvSpPr txBox="1"/>
              <p:nvPr/>
            </p:nvSpPr>
            <p:spPr>
              <a:xfrm>
                <a:off x="3040380" y="2499812"/>
                <a:ext cx="2148839" cy="400110"/>
              </a:xfrm>
              <a:prstGeom prst="rect">
                <a:avLst/>
              </a:prstGeom>
              <a:noFill/>
            </p:spPr>
            <p:txBody>
              <a:bodyPr wrap="square" lIns="45720" rIns="45720" anchor="t">
                <a:spAutoFit/>
              </a:bodyPr>
              <a:lstStyle/>
              <a:p>
                <a:pPr algn="l"/>
                <a:r>
                  <a:rPr lang="en-IE" sz="2000" b="1" dirty="0">
                    <a:solidFill>
                      <a:schemeClr val="tx2">
                        <a:lumMod val="75000"/>
                      </a:schemeClr>
                    </a:solidFill>
                    <a:latin typeface="Abadi" panose="020B0604020104020204" pitchFamily="34" charset="0"/>
                  </a:rPr>
                  <a:t>6</a:t>
                </a:r>
                <a:endParaRPr sz="2000" b="1" dirty="0">
                  <a:solidFill>
                    <a:schemeClr val="tx2">
                      <a:lumMod val="75000"/>
                    </a:schemeClr>
                  </a:solidFill>
                  <a:latin typeface="Abadi" panose="020B0604020104020204" pitchFamily="34" charset="0"/>
                </a:endParaRPr>
              </a:p>
            </p:txBody>
          </p:sp>
          <p:sp>
            <p:nvSpPr>
              <p:cNvPr id="23" name="TextBox 22">
                <a:extLst>
                  <a:ext uri="{FF2B5EF4-FFF2-40B4-BE49-F238E27FC236}">
                    <a16:creationId xmlns:a16="http://schemas.microsoft.com/office/drawing/2014/main" id="{EB3D908C-5808-4A56-7D62-CA563BB731A2}"/>
                  </a:ext>
                </a:extLst>
              </p:cNvPr>
              <p:cNvSpPr txBox="1"/>
              <p:nvPr/>
            </p:nvSpPr>
            <p:spPr>
              <a:xfrm>
                <a:off x="4095739" y="2500732"/>
                <a:ext cx="1645920" cy="369332"/>
              </a:xfrm>
              <a:prstGeom prst="rect">
                <a:avLst/>
              </a:prstGeom>
              <a:noFill/>
            </p:spPr>
            <p:txBody>
              <a:bodyPr wrap="square" lIns="45720" rIns="45720" anchor="t">
                <a:spAutoFit/>
              </a:bodyPr>
              <a:lstStyle/>
              <a:p>
                <a:pPr algn="l"/>
                <a:r>
                  <a:rPr lang="en-IE" b="1" dirty="0">
                    <a:solidFill>
                      <a:schemeClr val="tx2">
                        <a:lumMod val="75000"/>
                      </a:schemeClr>
                    </a:solidFill>
                    <a:latin typeface="Abadi" panose="020B0604020104020204" pitchFamily="34" charset="0"/>
                  </a:rPr>
                  <a:t>13</a:t>
                </a:r>
                <a:endParaRPr b="1" dirty="0">
                  <a:solidFill>
                    <a:schemeClr val="tx2">
                      <a:lumMod val="75000"/>
                    </a:schemeClr>
                  </a:solidFill>
                  <a:latin typeface="Abadi" panose="020B0604020104020204" pitchFamily="34" charset="0"/>
                </a:endParaRPr>
              </a:p>
            </p:txBody>
          </p:sp>
          <p:sp>
            <p:nvSpPr>
              <p:cNvPr id="27" name="TextBox 26">
                <a:extLst>
                  <a:ext uri="{FF2B5EF4-FFF2-40B4-BE49-F238E27FC236}">
                    <a16:creationId xmlns:a16="http://schemas.microsoft.com/office/drawing/2014/main" id="{CB579E4E-5F98-F295-1C20-0F9578528028}"/>
                  </a:ext>
                </a:extLst>
              </p:cNvPr>
              <p:cNvSpPr txBox="1"/>
              <p:nvPr/>
            </p:nvSpPr>
            <p:spPr>
              <a:xfrm>
                <a:off x="974376" y="3341060"/>
                <a:ext cx="1737360" cy="400110"/>
              </a:xfrm>
              <a:prstGeom prst="rect">
                <a:avLst/>
              </a:prstGeom>
              <a:noFill/>
            </p:spPr>
            <p:txBody>
              <a:bodyPr wrap="square" lIns="45720" rIns="45720" anchor="t">
                <a:spAutoFit/>
              </a:bodyPr>
              <a:lstStyle/>
              <a:p>
                <a:pPr algn="l"/>
                <a:r>
                  <a:rPr lang="en-IE" sz="2000" b="1" dirty="0">
                    <a:solidFill>
                      <a:srgbClr val="FFA015"/>
                    </a:solidFill>
                  </a:rPr>
                  <a:t>13</a:t>
                </a:r>
                <a:endParaRPr sz="2000" b="1" dirty="0">
                  <a:solidFill>
                    <a:srgbClr val="FFA015"/>
                  </a:solidFill>
                </a:endParaRPr>
              </a:p>
            </p:txBody>
          </p:sp>
          <p:sp>
            <p:nvSpPr>
              <p:cNvPr id="29" name="TextBox 28">
                <a:extLst>
                  <a:ext uri="{FF2B5EF4-FFF2-40B4-BE49-F238E27FC236}">
                    <a16:creationId xmlns:a16="http://schemas.microsoft.com/office/drawing/2014/main" id="{C727F7CB-ED85-4119-88DA-33726FA49E85}"/>
                  </a:ext>
                </a:extLst>
              </p:cNvPr>
              <p:cNvSpPr txBox="1"/>
              <p:nvPr/>
            </p:nvSpPr>
            <p:spPr>
              <a:xfrm>
                <a:off x="2047438" y="3341060"/>
                <a:ext cx="1828800" cy="400110"/>
              </a:xfrm>
              <a:prstGeom prst="rect">
                <a:avLst/>
              </a:prstGeom>
              <a:noFill/>
            </p:spPr>
            <p:txBody>
              <a:bodyPr wrap="square" lIns="45720" rIns="45720" anchor="t">
                <a:spAutoFit/>
              </a:bodyPr>
              <a:lstStyle/>
              <a:p>
                <a:pPr algn="l"/>
                <a:r>
                  <a:rPr lang="en-IE" sz="2000" b="1" dirty="0">
                    <a:solidFill>
                      <a:srgbClr val="FFA015"/>
                    </a:solidFill>
                  </a:rPr>
                  <a:t>3</a:t>
                </a:r>
                <a:endParaRPr sz="2000" b="1" dirty="0">
                  <a:solidFill>
                    <a:srgbClr val="FFA015"/>
                  </a:solidFill>
                </a:endParaRPr>
              </a:p>
            </p:txBody>
          </p:sp>
          <p:sp>
            <p:nvSpPr>
              <p:cNvPr id="31" name="TextBox 30">
                <a:extLst>
                  <a:ext uri="{FF2B5EF4-FFF2-40B4-BE49-F238E27FC236}">
                    <a16:creationId xmlns:a16="http://schemas.microsoft.com/office/drawing/2014/main" id="{BF0528C7-C29E-2A18-7EA3-7D1CD9255A7A}"/>
                  </a:ext>
                </a:extLst>
              </p:cNvPr>
              <p:cNvSpPr txBox="1"/>
              <p:nvPr/>
            </p:nvSpPr>
            <p:spPr>
              <a:xfrm>
                <a:off x="3040380" y="3341060"/>
                <a:ext cx="2148839" cy="400110"/>
              </a:xfrm>
              <a:prstGeom prst="rect">
                <a:avLst/>
              </a:prstGeom>
              <a:noFill/>
            </p:spPr>
            <p:txBody>
              <a:bodyPr wrap="square" lIns="45720" rIns="45720" anchor="t">
                <a:spAutoFit/>
              </a:bodyPr>
              <a:lstStyle/>
              <a:p>
                <a:pPr algn="l"/>
                <a:r>
                  <a:rPr lang="en-IE" sz="2000" b="1" dirty="0">
                    <a:solidFill>
                      <a:srgbClr val="FFA015"/>
                    </a:solidFill>
                    <a:latin typeface="Abadi" panose="020B0604020104020204" pitchFamily="34" charset="0"/>
                  </a:rPr>
                  <a:t>8</a:t>
                </a:r>
                <a:endParaRPr sz="2000" b="1" dirty="0">
                  <a:solidFill>
                    <a:srgbClr val="FFA015"/>
                  </a:solidFill>
                  <a:latin typeface="Abadi" panose="020B0604020104020204" pitchFamily="34" charset="0"/>
                </a:endParaRPr>
              </a:p>
            </p:txBody>
          </p:sp>
          <p:sp>
            <p:nvSpPr>
              <p:cNvPr id="33" name="TextBox 32">
                <a:extLst>
                  <a:ext uri="{FF2B5EF4-FFF2-40B4-BE49-F238E27FC236}">
                    <a16:creationId xmlns:a16="http://schemas.microsoft.com/office/drawing/2014/main" id="{DFCC8090-C661-2492-F08F-13F0FA830A4C}"/>
                  </a:ext>
                </a:extLst>
              </p:cNvPr>
              <p:cNvSpPr txBox="1"/>
              <p:nvPr/>
            </p:nvSpPr>
            <p:spPr>
              <a:xfrm>
                <a:off x="4089015" y="3341980"/>
                <a:ext cx="1645920" cy="369332"/>
              </a:xfrm>
              <a:prstGeom prst="rect">
                <a:avLst/>
              </a:prstGeom>
              <a:noFill/>
            </p:spPr>
            <p:txBody>
              <a:bodyPr wrap="square" lIns="45720" rIns="45720" anchor="t">
                <a:spAutoFit/>
              </a:bodyPr>
              <a:lstStyle/>
              <a:p>
                <a:pPr algn="l"/>
                <a:r>
                  <a:rPr lang="en-IE" b="1" dirty="0">
                    <a:solidFill>
                      <a:srgbClr val="FFA015"/>
                    </a:solidFill>
                    <a:latin typeface="Abadi" panose="020B0604020104020204" pitchFamily="34" charset="0"/>
                  </a:rPr>
                  <a:t>18</a:t>
                </a:r>
                <a:endParaRPr b="1" dirty="0">
                  <a:solidFill>
                    <a:srgbClr val="FFA015"/>
                  </a:solidFill>
                  <a:latin typeface="Abadi" panose="020B0604020104020204" pitchFamily="34" charset="0"/>
                </a:endParaRPr>
              </a:p>
            </p:txBody>
          </p:sp>
        </p:grpSp>
        <p:sp>
          <p:nvSpPr>
            <p:cNvPr id="4" name="TextBox 3">
              <a:extLst>
                <a:ext uri="{FF2B5EF4-FFF2-40B4-BE49-F238E27FC236}">
                  <a16:creationId xmlns:a16="http://schemas.microsoft.com/office/drawing/2014/main" id="{3892BABB-202A-8B32-A5DA-FADB05A4034A}"/>
                </a:ext>
              </a:extLst>
            </p:cNvPr>
            <p:cNvSpPr txBox="1"/>
            <p:nvPr/>
          </p:nvSpPr>
          <p:spPr>
            <a:xfrm>
              <a:off x="5367795" y="2269881"/>
              <a:ext cx="1828800" cy="307777"/>
            </a:xfrm>
            <a:prstGeom prst="rect">
              <a:avLst/>
            </a:prstGeom>
            <a:noFill/>
          </p:spPr>
          <p:txBody>
            <a:bodyPr wrap="square" lIns="45720" rIns="45720" anchor="t">
              <a:spAutoFit/>
            </a:bodyPr>
            <a:lstStyle/>
            <a:p>
              <a:pPr algn="l"/>
              <a:r>
                <a:rPr lang="en-IE" sz="1400" b="1" dirty="0" err="1"/>
                <a:t>maxSum</a:t>
              </a:r>
              <a:endParaRPr sz="1400" b="1" dirty="0"/>
            </a:p>
          </p:txBody>
        </p:sp>
        <p:sp>
          <p:nvSpPr>
            <p:cNvPr id="6" name="TextBox 5">
              <a:extLst>
                <a:ext uri="{FF2B5EF4-FFF2-40B4-BE49-F238E27FC236}">
                  <a16:creationId xmlns:a16="http://schemas.microsoft.com/office/drawing/2014/main" id="{8C003C10-5B63-748A-8889-FFEB09305FAC}"/>
                </a:ext>
              </a:extLst>
            </p:cNvPr>
            <p:cNvSpPr txBox="1"/>
            <p:nvPr/>
          </p:nvSpPr>
          <p:spPr>
            <a:xfrm>
              <a:off x="5465959" y="2930131"/>
              <a:ext cx="1645920" cy="369332"/>
            </a:xfrm>
            <a:prstGeom prst="rect">
              <a:avLst/>
            </a:prstGeom>
            <a:noFill/>
          </p:spPr>
          <p:txBody>
            <a:bodyPr wrap="square" lIns="45720" rIns="45720" anchor="t">
              <a:spAutoFit/>
            </a:bodyPr>
            <a:lstStyle/>
            <a:p>
              <a:pPr algn="l"/>
              <a:r>
                <a:rPr lang="en-IE" b="1" dirty="0">
                  <a:solidFill>
                    <a:schemeClr val="tx2">
                      <a:lumMod val="75000"/>
                    </a:schemeClr>
                  </a:solidFill>
                  <a:latin typeface="Abadi" panose="020B0604020104020204" pitchFamily="34" charset="0"/>
                </a:rPr>
                <a:t>13</a:t>
              </a:r>
              <a:endParaRPr b="1" dirty="0">
                <a:solidFill>
                  <a:schemeClr val="tx2">
                    <a:lumMod val="75000"/>
                  </a:schemeClr>
                </a:solidFill>
                <a:latin typeface="Abadi" panose="020B0604020104020204" pitchFamily="34" charset="0"/>
              </a:endParaRPr>
            </a:p>
          </p:txBody>
        </p:sp>
        <p:sp>
          <p:nvSpPr>
            <p:cNvPr id="10" name="TextBox 9">
              <a:extLst>
                <a:ext uri="{FF2B5EF4-FFF2-40B4-BE49-F238E27FC236}">
                  <a16:creationId xmlns:a16="http://schemas.microsoft.com/office/drawing/2014/main" id="{20226A00-6BF7-3CD0-444D-63F72842AC81}"/>
                </a:ext>
              </a:extLst>
            </p:cNvPr>
            <p:cNvSpPr txBox="1"/>
            <p:nvPr/>
          </p:nvSpPr>
          <p:spPr>
            <a:xfrm>
              <a:off x="5459235" y="3771379"/>
              <a:ext cx="1645920" cy="369332"/>
            </a:xfrm>
            <a:prstGeom prst="rect">
              <a:avLst/>
            </a:prstGeom>
            <a:noFill/>
          </p:spPr>
          <p:txBody>
            <a:bodyPr wrap="square" lIns="45720" rIns="45720" anchor="t">
              <a:spAutoFit/>
            </a:bodyPr>
            <a:lstStyle/>
            <a:p>
              <a:pPr algn="l"/>
              <a:r>
                <a:rPr lang="en-IE" b="1" dirty="0">
                  <a:solidFill>
                    <a:srgbClr val="FFA015"/>
                  </a:solidFill>
                  <a:latin typeface="Abadi" panose="020B0604020104020204" pitchFamily="34" charset="0"/>
                </a:rPr>
                <a:t>18</a:t>
              </a:r>
              <a:endParaRPr b="1" dirty="0">
                <a:solidFill>
                  <a:srgbClr val="FFA015"/>
                </a:solidFill>
                <a:latin typeface="Abadi" panose="020B0604020104020204" pitchFamily="34" charset="0"/>
              </a:endParaRPr>
            </a:p>
          </p:txBody>
        </p:sp>
      </p:grpSp>
      <p:grpSp>
        <p:nvGrpSpPr>
          <p:cNvPr id="14" name="Group 13">
            <a:extLst>
              <a:ext uri="{FF2B5EF4-FFF2-40B4-BE49-F238E27FC236}">
                <a16:creationId xmlns:a16="http://schemas.microsoft.com/office/drawing/2014/main" id="{80CEA2AE-D7DB-4150-21A8-4DE238EF6C11}"/>
              </a:ext>
            </a:extLst>
          </p:cNvPr>
          <p:cNvGrpSpPr/>
          <p:nvPr/>
        </p:nvGrpSpPr>
        <p:grpSpPr>
          <a:xfrm>
            <a:off x="777241" y="2438386"/>
            <a:ext cx="5089988" cy="990614"/>
            <a:chOff x="3123752" y="2299716"/>
            <a:chExt cx="5779008" cy="1124712"/>
          </a:xfrm>
        </p:grpSpPr>
        <p:sp>
          <p:nvSpPr>
            <p:cNvPr id="16" name="Rounded Rectangle 7">
              <a:extLst>
                <a:ext uri="{FF2B5EF4-FFF2-40B4-BE49-F238E27FC236}">
                  <a16:creationId xmlns:a16="http://schemas.microsoft.com/office/drawing/2014/main" id="{9690B8D1-E8B9-2EF7-113F-7EADDE38DD83}"/>
                </a:ext>
              </a:extLst>
            </p:cNvPr>
            <p:cNvSpPr/>
            <p:nvPr/>
          </p:nvSpPr>
          <p:spPr>
            <a:xfrm>
              <a:off x="3123752" y="2299716"/>
              <a:ext cx="1097280" cy="822960"/>
            </a:xfrm>
            <a:prstGeom prst="roundRect">
              <a:avLst/>
            </a:prstGeom>
            <a:solidFill>
              <a:schemeClr val="tx2">
                <a:lumMod val="60000"/>
                <a:lumOff val="40000"/>
              </a:schemeClr>
            </a:solidFill>
            <a:ln>
              <a:solidFill>
                <a:srgbClr val="08708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1</a:t>
              </a:r>
            </a:p>
          </p:txBody>
        </p:sp>
        <p:sp>
          <p:nvSpPr>
            <p:cNvPr id="18" name="TextBox 17">
              <a:extLst>
                <a:ext uri="{FF2B5EF4-FFF2-40B4-BE49-F238E27FC236}">
                  <a16:creationId xmlns:a16="http://schemas.microsoft.com/office/drawing/2014/main" id="{2354B57F-C0F7-9EDB-C464-91C7FEF651FE}"/>
                </a:ext>
              </a:extLst>
            </p:cNvPr>
            <p:cNvSpPr txBox="1"/>
            <p:nvPr/>
          </p:nvSpPr>
          <p:spPr>
            <a:xfrm>
              <a:off x="3123752" y="3195828"/>
              <a:ext cx="1097280" cy="228600"/>
            </a:xfrm>
            <a:prstGeom prst="rect">
              <a:avLst/>
            </a:prstGeom>
            <a:noFill/>
          </p:spPr>
          <p:txBody>
            <a:bodyPr wrap="square" lIns="45720" rIns="45720" anchor="t">
              <a:spAutoFit/>
            </a:bodyPr>
            <a:lstStyle/>
            <a:p>
              <a:pPr algn="ctr"/>
              <a:r>
                <a:rPr sz="1000" b="0">
                  <a:solidFill>
                    <a:srgbClr val="B0BED2"/>
                  </a:solidFill>
                  <a:latin typeface="Aptos"/>
                </a:rPr>
                <a:t>0</a:t>
              </a:r>
            </a:p>
          </p:txBody>
        </p:sp>
        <p:sp>
          <p:nvSpPr>
            <p:cNvPr id="22" name="Rounded Rectangle 11">
              <a:extLst>
                <a:ext uri="{FF2B5EF4-FFF2-40B4-BE49-F238E27FC236}">
                  <a16:creationId xmlns:a16="http://schemas.microsoft.com/office/drawing/2014/main" id="{EBF49BB1-66B0-AEFC-E69A-0E2A2957F784}"/>
                </a:ext>
              </a:extLst>
            </p:cNvPr>
            <p:cNvSpPr/>
            <p:nvPr/>
          </p:nvSpPr>
          <p:spPr>
            <a:xfrm>
              <a:off x="4294184"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3</a:t>
              </a:r>
            </a:p>
          </p:txBody>
        </p:sp>
        <p:sp>
          <p:nvSpPr>
            <p:cNvPr id="24" name="TextBox 23">
              <a:extLst>
                <a:ext uri="{FF2B5EF4-FFF2-40B4-BE49-F238E27FC236}">
                  <a16:creationId xmlns:a16="http://schemas.microsoft.com/office/drawing/2014/main" id="{51F7E2E9-1B4E-43B8-77BC-508839529E5B}"/>
                </a:ext>
              </a:extLst>
            </p:cNvPr>
            <p:cNvSpPr txBox="1"/>
            <p:nvPr/>
          </p:nvSpPr>
          <p:spPr>
            <a:xfrm>
              <a:off x="4294184" y="3195828"/>
              <a:ext cx="1097280" cy="228600"/>
            </a:xfrm>
            <a:prstGeom prst="rect">
              <a:avLst/>
            </a:prstGeom>
            <a:noFill/>
          </p:spPr>
          <p:txBody>
            <a:bodyPr wrap="square" lIns="45720" rIns="45720" anchor="t">
              <a:spAutoFit/>
            </a:bodyPr>
            <a:lstStyle/>
            <a:p>
              <a:pPr algn="ctr"/>
              <a:r>
                <a:rPr sz="1000" b="0">
                  <a:solidFill>
                    <a:srgbClr val="B0BED2"/>
                  </a:solidFill>
                  <a:latin typeface="Aptos"/>
                </a:rPr>
                <a:t>1</a:t>
              </a:r>
            </a:p>
          </p:txBody>
        </p:sp>
        <p:sp>
          <p:nvSpPr>
            <p:cNvPr id="26" name="Rounded Rectangle 13">
              <a:extLst>
                <a:ext uri="{FF2B5EF4-FFF2-40B4-BE49-F238E27FC236}">
                  <a16:creationId xmlns:a16="http://schemas.microsoft.com/office/drawing/2014/main" id="{D2329149-0632-8ED8-9C34-CF2D7DED527F}"/>
                </a:ext>
              </a:extLst>
            </p:cNvPr>
            <p:cNvSpPr/>
            <p:nvPr/>
          </p:nvSpPr>
          <p:spPr>
            <a:xfrm>
              <a:off x="5464616"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4</a:t>
              </a:r>
            </a:p>
          </p:txBody>
        </p:sp>
        <p:sp>
          <p:nvSpPr>
            <p:cNvPr id="28" name="TextBox 27">
              <a:extLst>
                <a:ext uri="{FF2B5EF4-FFF2-40B4-BE49-F238E27FC236}">
                  <a16:creationId xmlns:a16="http://schemas.microsoft.com/office/drawing/2014/main" id="{51AA39F0-DD57-4A47-2DEA-EB6298B6AB72}"/>
                </a:ext>
              </a:extLst>
            </p:cNvPr>
            <p:cNvSpPr txBox="1"/>
            <p:nvPr/>
          </p:nvSpPr>
          <p:spPr>
            <a:xfrm>
              <a:off x="5464616" y="3195828"/>
              <a:ext cx="1097280" cy="228600"/>
            </a:xfrm>
            <a:prstGeom prst="rect">
              <a:avLst/>
            </a:prstGeom>
            <a:noFill/>
          </p:spPr>
          <p:txBody>
            <a:bodyPr wrap="square" lIns="45720" rIns="45720" anchor="t">
              <a:spAutoFit/>
            </a:bodyPr>
            <a:lstStyle/>
            <a:p>
              <a:pPr algn="ctr"/>
              <a:r>
                <a:rPr sz="1000" b="0">
                  <a:solidFill>
                    <a:srgbClr val="B0BED2"/>
                  </a:solidFill>
                  <a:latin typeface="Aptos"/>
                </a:rPr>
                <a:t>2</a:t>
              </a:r>
            </a:p>
          </p:txBody>
        </p:sp>
        <p:sp>
          <p:nvSpPr>
            <p:cNvPr id="30" name="Rounded Rectangle 15">
              <a:extLst>
                <a:ext uri="{FF2B5EF4-FFF2-40B4-BE49-F238E27FC236}">
                  <a16:creationId xmlns:a16="http://schemas.microsoft.com/office/drawing/2014/main" id="{F71CF2E5-D120-BC7B-0CAA-D3C8ABA7AE74}"/>
                </a:ext>
              </a:extLst>
            </p:cNvPr>
            <p:cNvSpPr/>
            <p:nvPr/>
          </p:nvSpPr>
          <p:spPr>
            <a:xfrm>
              <a:off x="6635048"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6</a:t>
              </a:r>
            </a:p>
          </p:txBody>
        </p:sp>
        <p:sp>
          <p:nvSpPr>
            <p:cNvPr id="32" name="TextBox 31">
              <a:extLst>
                <a:ext uri="{FF2B5EF4-FFF2-40B4-BE49-F238E27FC236}">
                  <a16:creationId xmlns:a16="http://schemas.microsoft.com/office/drawing/2014/main" id="{E31839CD-33DF-2F10-45A5-6AED2A29A18F}"/>
                </a:ext>
              </a:extLst>
            </p:cNvPr>
            <p:cNvSpPr txBox="1"/>
            <p:nvPr/>
          </p:nvSpPr>
          <p:spPr>
            <a:xfrm>
              <a:off x="6635048" y="3195828"/>
              <a:ext cx="1097280" cy="228600"/>
            </a:xfrm>
            <a:prstGeom prst="rect">
              <a:avLst/>
            </a:prstGeom>
            <a:noFill/>
          </p:spPr>
          <p:txBody>
            <a:bodyPr wrap="square" lIns="45720" rIns="45720" anchor="t">
              <a:spAutoFit/>
            </a:bodyPr>
            <a:lstStyle/>
            <a:p>
              <a:pPr algn="ctr"/>
              <a:r>
                <a:rPr sz="1000" b="0">
                  <a:solidFill>
                    <a:srgbClr val="B0BED2"/>
                  </a:solidFill>
                  <a:latin typeface="Aptos"/>
                </a:rPr>
                <a:t>3</a:t>
              </a:r>
            </a:p>
          </p:txBody>
        </p:sp>
        <p:sp>
          <p:nvSpPr>
            <p:cNvPr id="34" name="Rounded Rectangle 17">
              <a:extLst>
                <a:ext uri="{FF2B5EF4-FFF2-40B4-BE49-F238E27FC236}">
                  <a16:creationId xmlns:a16="http://schemas.microsoft.com/office/drawing/2014/main" id="{DB91B952-7332-3834-6DC2-4D486892D2DD}"/>
                </a:ext>
              </a:extLst>
            </p:cNvPr>
            <p:cNvSpPr/>
            <p:nvPr/>
          </p:nvSpPr>
          <p:spPr>
            <a:xfrm>
              <a:off x="7805480" y="2299716"/>
              <a:ext cx="1097280" cy="822960"/>
            </a:xfrm>
            <a:prstGeom prst="roundRect">
              <a:avLst/>
            </a:prstGeom>
            <a:solidFill>
              <a:schemeClr val="tx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8</a:t>
              </a:r>
            </a:p>
          </p:txBody>
        </p:sp>
        <p:sp>
          <p:nvSpPr>
            <p:cNvPr id="36" name="TextBox 35">
              <a:extLst>
                <a:ext uri="{FF2B5EF4-FFF2-40B4-BE49-F238E27FC236}">
                  <a16:creationId xmlns:a16="http://schemas.microsoft.com/office/drawing/2014/main" id="{99B59C66-5565-CE2D-F662-1E966D5EAB39}"/>
                </a:ext>
              </a:extLst>
            </p:cNvPr>
            <p:cNvSpPr txBox="1"/>
            <p:nvPr/>
          </p:nvSpPr>
          <p:spPr>
            <a:xfrm>
              <a:off x="7805480" y="3195828"/>
              <a:ext cx="1097280" cy="228600"/>
            </a:xfrm>
            <a:prstGeom prst="rect">
              <a:avLst/>
            </a:prstGeom>
            <a:noFill/>
          </p:spPr>
          <p:txBody>
            <a:bodyPr wrap="square" lIns="45720" rIns="45720" anchor="t">
              <a:spAutoFit/>
            </a:bodyPr>
            <a:lstStyle/>
            <a:p>
              <a:pPr algn="ctr"/>
              <a:r>
                <a:rPr sz="1000" b="0">
                  <a:solidFill>
                    <a:srgbClr val="B0BED2"/>
                  </a:solidFill>
                  <a:latin typeface="Aptos"/>
                </a:rPr>
                <a:t>4</a:t>
              </a:r>
            </a:p>
          </p:txBody>
        </p:sp>
      </p:grpSp>
      <p:sp>
        <p:nvSpPr>
          <p:cNvPr id="46" name="Rounded Rectangle 21">
            <a:extLst>
              <a:ext uri="{FF2B5EF4-FFF2-40B4-BE49-F238E27FC236}">
                <a16:creationId xmlns:a16="http://schemas.microsoft.com/office/drawing/2014/main" id="{A63634F3-8704-2941-A090-ECC693C7115B}"/>
              </a:ext>
            </a:extLst>
          </p:cNvPr>
          <p:cNvSpPr/>
          <p:nvPr/>
        </p:nvSpPr>
        <p:spPr>
          <a:xfrm>
            <a:off x="6861584" y="2499392"/>
            <a:ext cx="4553175" cy="663834"/>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1700" b="0" dirty="0">
                <a:solidFill>
                  <a:srgbClr val="F5F8FC"/>
                </a:solidFill>
                <a:latin typeface="Aptos"/>
              </a:rPr>
              <a:t>Initial window: 1 + 3 + 4</a:t>
            </a:r>
          </a:p>
          <a:p>
            <a:pPr algn="ctr">
              <a:spcAft>
                <a:spcPts val="700"/>
              </a:spcAft>
            </a:pPr>
            <a:r>
              <a:rPr lang="en-IE" sz="1700" dirty="0">
                <a:solidFill>
                  <a:srgbClr val="F5F8FC"/>
                </a:solidFill>
                <a:latin typeface="Aptos"/>
              </a:rPr>
              <a:t>Initial </a:t>
            </a:r>
            <a:r>
              <a:rPr lang="en-IE" sz="1700" dirty="0" err="1">
                <a:solidFill>
                  <a:srgbClr val="F5F8FC"/>
                </a:solidFill>
                <a:latin typeface="Aptos"/>
              </a:rPr>
              <a:t>windowSum</a:t>
            </a:r>
            <a:r>
              <a:rPr lang="en-IE" sz="1700" dirty="0">
                <a:solidFill>
                  <a:srgbClr val="F5F8FC"/>
                </a:solidFill>
                <a:latin typeface="Aptos"/>
              </a:rPr>
              <a:t> = 8</a:t>
            </a:r>
            <a:endParaRPr lang="en-IE" sz="1700" b="0" dirty="0">
              <a:solidFill>
                <a:srgbClr val="F5F8FC"/>
              </a:solidFill>
              <a:latin typeface="Aptos"/>
            </a:endParaRPr>
          </a:p>
        </p:txBody>
      </p:sp>
      <p:sp>
        <p:nvSpPr>
          <p:cNvPr id="50" name="Rounded Rectangle 21">
            <a:extLst>
              <a:ext uri="{FF2B5EF4-FFF2-40B4-BE49-F238E27FC236}">
                <a16:creationId xmlns:a16="http://schemas.microsoft.com/office/drawing/2014/main" id="{DA68751B-1E19-DB92-F0AF-8EBAE60EB522}"/>
              </a:ext>
            </a:extLst>
          </p:cNvPr>
          <p:cNvSpPr/>
          <p:nvPr/>
        </p:nvSpPr>
        <p:spPr>
          <a:xfrm>
            <a:off x="1113871" y="4248725"/>
            <a:ext cx="3411962" cy="663834"/>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1700" dirty="0">
                <a:solidFill>
                  <a:srgbClr val="F5F8FC"/>
                </a:solidFill>
                <a:latin typeface="Aptos"/>
              </a:rPr>
              <a:t>right = 3 (k), left </a:t>
            </a:r>
            <a:r>
              <a:rPr lang="en-IE" sz="1700" b="0" dirty="0">
                <a:solidFill>
                  <a:srgbClr val="F5F8FC"/>
                </a:solidFill>
                <a:latin typeface="Aptos"/>
              </a:rPr>
              <a:t>= 0 (right – k)</a:t>
            </a:r>
          </a:p>
        </p:txBody>
      </p:sp>
      <p:sp>
        <p:nvSpPr>
          <p:cNvPr id="54" name="Rounded Rectangle 21">
            <a:extLst>
              <a:ext uri="{FF2B5EF4-FFF2-40B4-BE49-F238E27FC236}">
                <a16:creationId xmlns:a16="http://schemas.microsoft.com/office/drawing/2014/main" id="{19F2ECAA-3AFF-FDE5-2E6A-E274844B91CF}"/>
              </a:ext>
            </a:extLst>
          </p:cNvPr>
          <p:cNvSpPr/>
          <p:nvPr/>
        </p:nvSpPr>
        <p:spPr>
          <a:xfrm>
            <a:off x="1113870" y="5150133"/>
            <a:ext cx="3411962" cy="663834"/>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1700" dirty="0">
                <a:solidFill>
                  <a:srgbClr val="F5F8FC"/>
                </a:solidFill>
                <a:latin typeface="Aptos"/>
              </a:rPr>
              <a:t>right = 4, left = 1 (right – k)</a:t>
            </a:r>
          </a:p>
        </p:txBody>
      </p:sp>
    </p:spTree>
    <p:extLst>
      <p:ext uri="{BB962C8B-B14F-4D97-AF65-F5344CB8AC3E}">
        <p14:creationId xmlns:p14="http://schemas.microsoft.com/office/powerpoint/2010/main" val="3226059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8B932-084B-9304-9064-7A46F5068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C80B3D-9007-072E-BFB3-87C6F2DFC290}"/>
              </a:ext>
            </a:extLst>
          </p:cNvPr>
          <p:cNvSpPr>
            <a:spLocks noGrp="1"/>
          </p:cNvSpPr>
          <p:nvPr>
            <p:ph type="title"/>
          </p:nvPr>
        </p:nvSpPr>
        <p:spPr/>
        <p:txBody>
          <a:bodyPr/>
          <a:lstStyle/>
          <a:p>
            <a:r>
              <a:rPr lang="en-IE" dirty="0"/>
              <a:t>Sample Implementation</a:t>
            </a:r>
          </a:p>
        </p:txBody>
      </p:sp>
      <p:grpSp>
        <p:nvGrpSpPr>
          <p:cNvPr id="11" name="Group 10">
            <a:extLst>
              <a:ext uri="{FF2B5EF4-FFF2-40B4-BE49-F238E27FC236}">
                <a16:creationId xmlns:a16="http://schemas.microsoft.com/office/drawing/2014/main" id="{23A09C77-106B-763E-E69E-9A695F50E50F}"/>
              </a:ext>
            </a:extLst>
          </p:cNvPr>
          <p:cNvGrpSpPr/>
          <p:nvPr/>
        </p:nvGrpSpPr>
        <p:grpSpPr>
          <a:xfrm>
            <a:off x="7194176" y="2166894"/>
            <a:ext cx="3961504" cy="2956434"/>
            <a:chOff x="7194176" y="2469453"/>
            <a:chExt cx="3961504" cy="2956434"/>
          </a:xfrm>
        </p:grpSpPr>
        <p:sp>
          <p:nvSpPr>
            <p:cNvPr id="7" name="Rounded Rectangle 22">
              <a:extLst>
                <a:ext uri="{FF2B5EF4-FFF2-40B4-BE49-F238E27FC236}">
                  <a16:creationId xmlns:a16="http://schemas.microsoft.com/office/drawing/2014/main" id="{5E4A7EED-714B-B3F5-2070-0134E32ADC1A}"/>
                </a:ext>
              </a:extLst>
            </p:cNvPr>
            <p:cNvSpPr/>
            <p:nvPr/>
          </p:nvSpPr>
          <p:spPr>
            <a:xfrm>
              <a:off x="7194176" y="2951628"/>
              <a:ext cx="3961504" cy="1054249"/>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spcAft>
                  <a:spcPts val="700"/>
                </a:spcAft>
              </a:pPr>
              <a:r>
                <a:rPr lang="en-IE" sz="1700" b="1" dirty="0">
                  <a:solidFill>
                    <a:schemeClr val="accent2">
                      <a:lumMod val="40000"/>
                      <a:lumOff val="60000"/>
                    </a:schemeClr>
                  </a:solidFill>
                  <a:latin typeface="Aptos"/>
                </a:rPr>
                <a:t>Validation requirement</a:t>
              </a:r>
              <a:r>
                <a:rPr lang="en-IE" sz="1700" b="1" dirty="0">
                  <a:solidFill>
                    <a:schemeClr val="bg1">
                      <a:lumMod val="95000"/>
                    </a:schemeClr>
                  </a:solidFill>
                  <a:latin typeface="Aptos"/>
                </a:rPr>
                <a:t>: </a:t>
              </a:r>
            </a:p>
            <a:p>
              <a:pPr>
                <a:spcAft>
                  <a:spcPts val="700"/>
                </a:spcAft>
              </a:pPr>
              <a:r>
                <a:rPr lang="en-IE" sz="1700" dirty="0">
                  <a:solidFill>
                    <a:schemeClr val="bg1">
                      <a:lumMod val="95000"/>
                    </a:schemeClr>
                  </a:solidFill>
                  <a:latin typeface="Aptos"/>
                </a:rPr>
                <a:t>Confirm the array contains sufficient elements for at least ONE subarray</a:t>
              </a:r>
              <a:endParaRPr sz="1700" dirty="0">
                <a:solidFill>
                  <a:schemeClr val="bg1">
                    <a:lumMod val="95000"/>
                  </a:schemeClr>
                </a:solidFill>
                <a:latin typeface="Aptos"/>
              </a:endParaRPr>
            </a:p>
          </p:txBody>
        </p:sp>
        <p:sp>
          <p:nvSpPr>
            <p:cNvPr id="9" name="Rounded Rectangle 22">
              <a:extLst>
                <a:ext uri="{FF2B5EF4-FFF2-40B4-BE49-F238E27FC236}">
                  <a16:creationId xmlns:a16="http://schemas.microsoft.com/office/drawing/2014/main" id="{8909518A-9F1F-6888-CAFE-EA3AAE45C446}"/>
                </a:ext>
              </a:extLst>
            </p:cNvPr>
            <p:cNvSpPr/>
            <p:nvPr/>
          </p:nvSpPr>
          <p:spPr>
            <a:xfrm>
              <a:off x="7194176" y="4371638"/>
              <a:ext cx="3961504" cy="1054249"/>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spcAft>
                  <a:spcPts val="700"/>
                </a:spcAft>
              </a:pPr>
              <a:r>
                <a:rPr lang="en-IE" sz="1700" b="1" dirty="0">
                  <a:solidFill>
                    <a:schemeClr val="accent2">
                      <a:lumMod val="40000"/>
                      <a:lumOff val="60000"/>
                    </a:schemeClr>
                  </a:solidFill>
                  <a:latin typeface="Aptos"/>
                </a:rPr>
                <a:t>Return</a:t>
              </a:r>
              <a:r>
                <a:rPr lang="en-IE" sz="1700" b="1" dirty="0">
                  <a:solidFill>
                    <a:schemeClr val="bg1">
                      <a:lumMod val="95000"/>
                    </a:schemeClr>
                  </a:solidFill>
                  <a:latin typeface="Aptos"/>
                </a:rPr>
                <a:t> </a:t>
              </a:r>
              <a:r>
                <a:rPr lang="en-IE" sz="1700" b="1" dirty="0">
                  <a:solidFill>
                    <a:schemeClr val="accent2">
                      <a:lumMod val="40000"/>
                      <a:lumOff val="60000"/>
                    </a:schemeClr>
                  </a:solidFill>
                  <a:latin typeface="Aptos"/>
                </a:rPr>
                <a:t>information</a:t>
              </a:r>
              <a:r>
                <a:rPr lang="en-IE" sz="1700" b="1" dirty="0">
                  <a:solidFill>
                    <a:schemeClr val="bg1">
                      <a:lumMod val="95000"/>
                    </a:schemeClr>
                  </a:solidFill>
                  <a:latin typeface="Aptos"/>
                </a:rPr>
                <a:t>: </a:t>
              </a:r>
            </a:p>
            <a:p>
              <a:pPr>
                <a:spcAft>
                  <a:spcPts val="700"/>
                </a:spcAft>
              </a:pPr>
              <a:r>
                <a:rPr lang="en-IE" sz="1700" dirty="0">
                  <a:solidFill>
                    <a:schemeClr val="bg1">
                      <a:lumMod val="95000"/>
                    </a:schemeClr>
                  </a:solidFill>
                  <a:latin typeface="Aptos"/>
                </a:rPr>
                <a:t>We return the </a:t>
              </a:r>
              <a:r>
                <a:rPr lang="en-IE" sz="1700" i="1" dirty="0">
                  <a:solidFill>
                    <a:schemeClr val="bg1">
                      <a:lumMod val="95000"/>
                    </a:schemeClr>
                  </a:solidFill>
                  <a:latin typeface="Aptos"/>
                </a:rPr>
                <a:t>total</a:t>
              </a:r>
              <a:r>
                <a:rPr lang="en-IE" sz="1700" dirty="0">
                  <a:solidFill>
                    <a:schemeClr val="bg1">
                      <a:lumMod val="95000"/>
                    </a:schemeClr>
                  </a:solidFill>
                  <a:latin typeface="Aptos"/>
                </a:rPr>
                <a:t>, not the values producing it (or their positions)</a:t>
              </a:r>
              <a:endParaRPr sz="1700" dirty="0">
                <a:solidFill>
                  <a:schemeClr val="bg1">
                    <a:lumMod val="95000"/>
                  </a:schemeClr>
                </a:solidFill>
                <a:latin typeface="Aptos"/>
              </a:endParaRPr>
            </a:p>
          </p:txBody>
        </p:sp>
        <p:sp>
          <p:nvSpPr>
            <p:cNvPr id="10" name="TextBox 9">
              <a:extLst>
                <a:ext uri="{FF2B5EF4-FFF2-40B4-BE49-F238E27FC236}">
                  <a16:creationId xmlns:a16="http://schemas.microsoft.com/office/drawing/2014/main" id="{14D768A0-15FA-426B-3F67-24CEABB3DAE5}"/>
                </a:ext>
              </a:extLst>
            </p:cNvPr>
            <p:cNvSpPr txBox="1"/>
            <p:nvPr/>
          </p:nvSpPr>
          <p:spPr>
            <a:xfrm>
              <a:off x="8268077" y="2469453"/>
              <a:ext cx="1813702" cy="400110"/>
            </a:xfrm>
            <a:prstGeom prst="rect">
              <a:avLst/>
            </a:prstGeom>
            <a:noFill/>
          </p:spPr>
          <p:txBody>
            <a:bodyPr wrap="none" rtlCol="0">
              <a:spAutoFit/>
            </a:bodyPr>
            <a:lstStyle/>
            <a:p>
              <a:r>
                <a:rPr lang="en-IE" sz="2000" dirty="0">
                  <a:latin typeface="Abadi" panose="020B0604020104020204" pitchFamily="34" charset="0"/>
                </a:rPr>
                <a:t>Points to Note:</a:t>
              </a:r>
            </a:p>
          </p:txBody>
        </p:sp>
      </p:grpSp>
      <p:pic>
        <p:nvPicPr>
          <p:cNvPr id="8" name="Picture 7">
            <a:extLst>
              <a:ext uri="{FF2B5EF4-FFF2-40B4-BE49-F238E27FC236}">
                <a16:creationId xmlns:a16="http://schemas.microsoft.com/office/drawing/2014/main" id="{24E9C21B-3F01-12D9-2F62-45EADA1290B9}"/>
              </a:ext>
            </a:extLst>
          </p:cNvPr>
          <p:cNvPicPr>
            <a:picLocks noChangeAspect="1"/>
          </p:cNvPicPr>
          <p:nvPr/>
        </p:nvPicPr>
        <p:blipFill>
          <a:blip r:embed="rId2"/>
          <a:stretch>
            <a:fillRect/>
          </a:stretch>
        </p:blipFill>
        <p:spPr>
          <a:xfrm>
            <a:off x="1036320" y="1805597"/>
            <a:ext cx="5977154" cy="5004636"/>
          </a:xfrm>
          <a:prstGeom prst="rect">
            <a:avLst/>
          </a:prstGeom>
        </p:spPr>
      </p:pic>
      <p:sp>
        <p:nvSpPr>
          <p:cNvPr id="13" name="Rectangle: Rounded Corners 12">
            <a:extLst>
              <a:ext uri="{FF2B5EF4-FFF2-40B4-BE49-F238E27FC236}">
                <a16:creationId xmlns:a16="http://schemas.microsoft.com/office/drawing/2014/main" id="{736B22B4-E912-56CA-87FA-C873178D44F2}"/>
              </a:ext>
            </a:extLst>
          </p:cNvPr>
          <p:cNvSpPr/>
          <p:nvPr/>
        </p:nvSpPr>
        <p:spPr>
          <a:xfrm>
            <a:off x="4024897" y="5938838"/>
            <a:ext cx="4276165" cy="6325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Implementation: </a:t>
            </a:r>
            <a:r>
              <a:rPr lang="en-IE" dirty="0" err="1"/>
              <a:t>b_two_pointer.utils</a:t>
            </a:r>
            <a:r>
              <a:rPr lang="en-IE" dirty="0"/>
              <a:t>/ArrayUtils.java</a:t>
            </a:r>
          </a:p>
        </p:txBody>
      </p:sp>
    </p:spTree>
    <p:extLst>
      <p:ext uri="{BB962C8B-B14F-4D97-AF65-F5344CB8AC3E}">
        <p14:creationId xmlns:p14="http://schemas.microsoft.com/office/powerpoint/2010/main" val="2197915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C9FCD-7542-19C5-672C-48C57A69B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6B78D-1BE1-4BC6-5081-105DDFAB47F5}"/>
              </a:ext>
            </a:extLst>
          </p:cNvPr>
          <p:cNvSpPr>
            <a:spLocks noGrp="1"/>
          </p:cNvSpPr>
          <p:nvPr>
            <p:ph type="title"/>
          </p:nvPr>
        </p:nvSpPr>
        <p:spPr/>
        <p:txBody>
          <a:bodyPr>
            <a:normAutofit/>
          </a:bodyPr>
          <a:lstStyle/>
          <a:p>
            <a:r>
              <a:rPr lang="en-IE" dirty="0"/>
              <a:t>Brute Force vs Sliding Window Approach: </a:t>
            </a:r>
            <a:br>
              <a:rPr lang="en-IE" dirty="0"/>
            </a:br>
            <a:r>
              <a:rPr lang="en-IE" dirty="0"/>
              <a:t>Complexity Comparison</a:t>
            </a:r>
          </a:p>
        </p:txBody>
      </p:sp>
      <p:sp>
        <p:nvSpPr>
          <p:cNvPr id="3" name="Content Placeholder 2">
            <a:extLst>
              <a:ext uri="{FF2B5EF4-FFF2-40B4-BE49-F238E27FC236}">
                <a16:creationId xmlns:a16="http://schemas.microsoft.com/office/drawing/2014/main" id="{7A9CF329-C0CF-964C-1863-C03959D35116}"/>
              </a:ext>
            </a:extLst>
          </p:cNvPr>
          <p:cNvSpPr>
            <a:spLocks noGrp="1"/>
          </p:cNvSpPr>
          <p:nvPr>
            <p:ph idx="1"/>
          </p:nvPr>
        </p:nvSpPr>
        <p:spPr>
          <a:xfrm>
            <a:off x="1097280" y="1845734"/>
            <a:ext cx="10058400" cy="1630331"/>
          </a:xfrm>
        </p:spPr>
        <p:txBody>
          <a:bodyPr>
            <a:normAutofit/>
          </a:bodyPr>
          <a:lstStyle/>
          <a:p>
            <a:pPr lvl="1"/>
            <a:r>
              <a:rPr lang="en-IE" sz="3200" dirty="0"/>
              <a:t>Massive difference in complexity categorisation:</a:t>
            </a:r>
          </a:p>
          <a:p>
            <a:pPr lvl="2"/>
            <a:r>
              <a:rPr lang="en-IE" sz="2800" dirty="0"/>
              <a:t>Sliding window approach: </a:t>
            </a:r>
            <a:r>
              <a:rPr lang="en-IE" sz="2800" u="sng" dirty="0">
                <a:solidFill>
                  <a:srgbClr val="FF0000"/>
                </a:solidFill>
              </a:rPr>
              <a:t>Linear</a:t>
            </a:r>
            <a:r>
              <a:rPr lang="en-IE" sz="2800" dirty="0"/>
              <a:t> complexity</a:t>
            </a:r>
            <a:endParaRPr lang="en-IE" sz="2800" dirty="0">
              <a:solidFill>
                <a:srgbClr val="FF0000"/>
              </a:solidFill>
            </a:endParaRPr>
          </a:p>
          <a:p>
            <a:pPr lvl="2"/>
            <a:r>
              <a:rPr lang="en-IE" sz="2800" dirty="0"/>
              <a:t>Brute force approach: </a:t>
            </a:r>
            <a:r>
              <a:rPr lang="en-IE" sz="2800" u="sng" dirty="0">
                <a:solidFill>
                  <a:srgbClr val="FF0000"/>
                </a:solidFill>
              </a:rPr>
              <a:t>Pseudolinear</a:t>
            </a:r>
            <a:r>
              <a:rPr lang="en-IE" sz="2800" dirty="0"/>
              <a:t> (up to </a:t>
            </a:r>
            <a:r>
              <a:rPr lang="en-IE" sz="2800" b="1" dirty="0">
                <a:solidFill>
                  <a:srgbClr val="FF0000"/>
                </a:solidFill>
              </a:rPr>
              <a:t>quadratic!</a:t>
            </a:r>
            <a:r>
              <a:rPr lang="en-IE" sz="2800" dirty="0"/>
              <a:t>) complexity</a:t>
            </a:r>
            <a:endParaRPr lang="en-IE" sz="2800" dirty="0">
              <a:solidFill>
                <a:srgbClr val="FF0000"/>
              </a:solidFill>
            </a:endParaRPr>
          </a:p>
          <a:p>
            <a:pPr lvl="2"/>
            <a:endParaRPr lang="en-IE" sz="2800" dirty="0">
              <a:solidFill>
                <a:srgbClr val="FF0000"/>
              </a:solidFill>
            </a:endParaRPr>
          </a:p>
          <a:p>
            <a:pPr lvl="1"/>
            <a:endParaRPr lang="en-IE" sz="3200" dirty="0"/>
          </a:p>
        </p:txBody>
      </p:sp>
      <p:sp>
        <p:nvSpPr>
          <p:cNvPr id="5" name="Rounded Rectangle 31">
            <a:extLst>
              <a:ext uri="{FF2B5EF4-FFF2-40B4-BE49-F238E27FC236}">
                <a16:creationId xmlns:a16="http://schemas.microsoft.com/office/drawing/2014/main" id="{A56DD3A8-2428-F7F2-DDAB-75099A88EC46}"/>
              </a:ext>
            </a:extLst>
          </p:cNvPr>
          <p:cNvSpPr/>
          <p:nvPr/>
        </p:nvSpPr>
        <p:spPr>
          <a:xfrm>
            <a:off x="1097280" y="3476065"/>
            <a:ext cx="4537038" cy="2312893"/>
          </a:xfrm>
          <a:prstGeom prst="roundRect">
            <a:avLst/>
          </a:prstGeom>
          <a:solidFill>
            <a:schemeClr val="bg1">
              <a:lumMod val="9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2400" b="1" u="sng" dirty="0">
                <a:solidFill>
                  <a:srgbClr val="38D1E0"/>
                </a:solidFill>
              </a:rPr>
              <a:t>Brute Force</a:t>
            </a:r>
          </a:p>
          <a:p>
            <a:pPr>
              <a:spcAft>
                <a:spcPts val="700"/>
              </a:spcAft>
            </a:pPr>
            <a:r>
              <a:rPr lang="en-IE" sz="2000" dirty="0">
                <a:solidFill>
                  <a:schemeClr val="tx2">
                    <a:lumMod val="75000"/>
                  </a:schemeClr>
                </a:solidFill>
              </a:rPr>
              <a:t>Nested loops calculate sum of many overlapping subarrays of size k</a:t>
            </a:r>
          </a:p>
          <a:p>
            <a:r>
              <a:rPr lang="en-IE" sz="2000" i="1" dirty="0">
                <a:solidFill>
                  <a:schemeClr val="tx2">
                    <a:lumMod val="75000"/>
                  </a:schemeClr>
                </a:solidFill>
              </a:rPr>
              <a:t>Pseudolinear</a:t>
            </a:r>
            <a:r>
              <a:rPr lang="en-IE" sz="2000" dirty="0">
                <a:solidFill>
                  <a:schemeClr val="tx2">
                    <a:lumMod val="75000"/>
                  </a:schemeClr>
                </a:solidFill>
              </a:rPr>
              <a:t> if the k constant is low</a:t>
            </a:r>
          </a:p>
          <a:p>
            <a:pPr>
              <a:spcAft>
                <a:spcPts val="700"/>
              </a:spcAft>
            </a:pPr>
            <a:r>
              <a:rPr lang="en-IE" sz="2000" b="1" dirty="0">
                <a:solidFill>
                  <a:schemeClr val="tx2">
                    <a:lumMod val="75000"/>
                  </a:schemeClr>
                </a:solidFill>
              </a:rPr>
              <a:t>Quadratic</a:t>
            </a:r>
            <a:r>
              <a:rPr lang="en-IE" sz="2000" dirty="0">
                <a:solidFill>
                  <a:schemeClr val="tx2">
                    <a:lumMod val="75000"/>
                  </a:schemeClr>
                </a:solidFill>
              </a:rPr>
              <a:t> if k approaches n!</a:t>
            </a:r>
          </a:p>
          <a:p>
            <a:pPr>
              <a:spcAft>
                <a:spcPts val="700"/>
              </a:spcAft>
              <a:buClr>
                <a:schemeClr val="accent1"/>
              </a:buClr>
              <a:buSzPct val="100000"/>
            </a:pPr>
            <a:r>
              <a:rPr lang="en-IE" sz="2000" dirty="0">
                <a:solidFill>
                  <a:schemeClr val="tx2">
                    <a:lumMod val="75000"/>
                  </a:schemeClr>
                </a:solidFill>
              </a:rPr>
              <a:t>Time cost: </a:t>
            </a:r>
            <a:r>
              <a:rPr lang="en-IE" sz="2000" dirty="0">
                <a:solidFill>
                  <a:srgbClr val="FF0000"/>
                </a:solidFill>
              </a:rPr>
              <a:t>O(n*k)</a:t>
            </a:r>
            <a:endParaRPr sz="1600" dirty="0">
              <a:solidFill>
                <a:schemeClr val="tx2">
                  <a:lumMod val="75000"/>
                </a:schemeClr>
              </a:solidFill>
            </a:endParaRPr>
          </a:p>
        </p:txBody>
      </p:sp>
      <p:sp>
        <p:nvSpPr>
          <p:cNvPr id="7" name="Rounded Rectangle 31">
            <a:extLst>
              <a:ext uri="{FF2B5EF4-FFF2-40B4-BE49-F238E27FC236}">
                <a16:creationId xmlns:a16="http://schemas.microsoft.com/office/drawing/2014/main" id="{7173320F-72B1-31F1-FBDB-C4EB6C41DD9E}"/>
              </a:ext>
            </a:extLst>
          </p:cNvPr>
          <p:cNvSpPr/>
          <p:nvPr/>
        </p:nvSpPr>
        <p:spPr>
          <a:xfrm>
            <a:off x="6618642" y="3476066"/>
            <a:ext cx="4537038" cy="2312892"/>
          </a:xfrm>
          <a:prstGeom prst="roundRect">
            <a:avLst/>
          </a:prstGeom>
          <a:solidFill>
            <a:schemeClr val="bg1">
              <a:lumMod val="9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2400" b="1" u="sng" dirty="0">
                <a:solidFill>
                  <a:srgbClr val="7030A0"/>
                </a:solidFill>
              </a:rPr>
              <a:t>Two Pointers</a:t>
            </a:r>
          </a:p>
          <a:p>
            <a:r>
              <a:rPr lang="en-IE" sz="2000" dirty="0">
                <a:solidFill>
                  <a:schemeClr val="tx2">
                    <a:lumMod val="75000"/>
                  </a:schemeClr>
                </a:solidFill>
              </a:rPr>
              <a:t>Left and right pointers move forward </a:t>
            </a:r>
            <a:br>
              <a:rPr lang="en-IE" sz="2000" dirty="0">
                <a:solidFill>
                  <a:schemeClr val="tx2">
                    <a:lumMod val="75000"/>
                  </a:schemeClr>
                </a:solidFill>
              </a:rPr>
            </a:br>
            <a:r>
              <a:rPr lang="en-IE" sz="2000" dirty="0">
                <a:solidFill>
                  <a:schemeClr val="tx2">
                    <a:lumMod val="75000"/>
                  </a:schemeClr>
                </a:solidFill>
              </a:rPr>
              <a:t>by 1 on each iteration</a:t>
            </a:r>
          </a:p>
          <a:p>
            <a:endParaRPr lang="en-IE" sz="1200" dirty="0">
              <a:solidFill>
                <a:schemeClr val="tx2">
                  <a:lumMod val="75000"/>
                </a:schemeClr>
              </a:solidFill>
            </a:endParaRPr>
          </a:p>
          <a:p>
            <a:r>
              <a:rPr lang="en-IE" sz="2000" dirty="0">
                <a:solidFill>
                  <a:schemeClr val="tx2">
                    <a:lumMod val="75000"/>
                  </a:schemeClr>
                </a:solidFill>
              </a:rPr>
              <a:t>Max number of steps taken: n</a:t>
            </a:r>
          </a:p>
          <a:p>
            <a:pPr>
              <a:spcAft>
                <a:spcPts val="700"/>
              </a:spcAft>
              <a:buClr>
                <a:schemeClr val="accent1"/>
              </a:buClr>
              <a:buSzPct val="100000"/>
            </a:pPr>
            <a:r>
              <a:rPr lang="en-IE" sz="2000" dirty="0">
                <a:solidFill>
                  <a:schemeClr val="tx2">
                    <a:lumMod val="75000"/>
                  </a:schemeClr>
                </a:solidFill>
              </a:rPr>
              <a:t>Time cost: </a:t>
            </a:r>
            <a:r>
              <a:rPr lang="en-IE" sz="2000" dirty="0">
                <a:solidFill>
                  <a:srgbClr val="FF0000"/>
                </a:solidFill>
              </a:rPr>
              <a:t>O(n)</a:t>
            </a:r>
            <a:endParaRPr sz="1600" dirty="0">
              <a:solidFill>
                <a:schemeClr val="tx2">
                  <a:lumMod val="75000"/>
                </a:schemeClr>
              </a:solidFill>
            </a:endParaRPr>
          </a:p>
        </p:txBody>
      </p:sp>
      <p:sp>
        <p:nvSpPr>
          <p:cNvPr id="9" name="TextBox 8">
            <a:extLst>
              <a:ext uri="{FF2B5EF4-FFF2-40B4-BE49-F238E27FC236}">
                <a16:creationId xmlns:a16="http://schemas.microsoft.com/office/drawing/2014/main" id="{716AE3EC-3272-2F58-D419-1B1FBD0D03BE}"/>
              </a:ext>
            </a:extLst>
          </p:cNvPr>
          <p:cNvSpPr txBox="1"/>
          <p:nvPr/>
        </p:nvSpPr>
        <p:spPr>
          <a:xfrm>
            <a:off x="728831" y="5876473"/>
            <a:ext cx="10515600" cy="400110"/>
          </a:xfrm>
          <a:prstGeom prst="rect">
            <a:avLst/>
          </a:prstGeom>
          <a:noFill/>
        </p:spPr>
        <p:txBody>
          <a:bodyPr wrap="square" lIns="45720" rIns="45720" anchor="t">
            <a:spAutoFit/>
          </a:bodyPr>
          <a:lstStyle/>
          <a:p>
            <a:pPr algn="l"/>
            <a:r>
              <a:rPr lang="en-IE" sz="2000" b="0" dirty="0">
                <a:solidFill>
                  <a:schemeClr val="tx1">
                    <a:lumMod val="75000"/>
                    <a:lumOff val="25000"/>
                  </a:schemeClr>
                </a:solidFill>
              </a:rPr>
              <a:t>Space costs: O(1) extra space </a:t>
            </a:r>
            <a:r>
              <a:rPr lang="en-IE" sz="2000" dirty="0">
                <a:solidFill>
                  <a:schemeClr val="tx1">
                    <a:lumMod val="75000"/>
                    <a:lumOff val="25000"/>
                  </a:schemeClr>
                </a:solidFill>
              </a:rPr>
              <a:t>needed for both, to cover pointers used and calculation variables</a:t>
            </a:r>
            <a:endParaRPr sz="2000" b="0" dirty="0">
              <a:solidFill>
                <a:schemeClr val="tx1">
                  <a:lumMod val="75000"/>
                  <a:lumOff val="25000"/>
                </a:schemeClr>
              </a:solidFill>
            </a:endParaRPr>
          </a:p>
        </p:txBody>
      </p:sp>
    </p:spTree>
    <p:extLst>
      <p:ext uri="{BB962C8B-B14F-4D97-AF65-F5344CB8AC3E}">
        <p14:creationId xmlns:p14="http://schemas.microsoft.com/office/powerpoint/2010/main" val="163313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B600E-A9B8-A85E-73C3-0E38715F6666}"/>
              </a:ext>
            </a:extLst>
          </p:cNvPr>
          <p:cNvSpPr>
            <a:spLocks noGrp="1"/>
          </p:cNvSpPr>
          <p:nvPr>
            <p:ph type="title"/>
          </p:nvPr>
        </p:nvSpPr>
        <p:spPr/>
        <p:txBody>
          <a:bodyPr/>
          <a:lstStyle/>
          <a:p>
            <a:r>
              <a:rPr lang="en-IE" dirty="0"/>
              <a:t>Problem #3 Deduplicating Data In-Place</a:t>
            </a:r>
          </a:p>
        </p:txBody>
      </p:sp>
      <p:sp>
        <p:nvSpPr>
          <p:cNvPr id="4" name="Content Placeholder 2">
            <a:extLst>
              <a:ext uri="{FF2B5EF4-FFF2-40B4-BE49-F238E27FC236}">
                <a16:creationId xmlns:a16="http://schemas.microsoft.com/office/drawing/2014/main" id="{60A9376D-876D-E54F-9B52-13426DD76CDC}"/>
              </a:ext>
            </a:extLst>
          </p:cNvPr>
          <p:cNvSpPr txBox="1">
            <a:spLocks/>
          </p:cNvSpPr>
          <p:nvPr/>
        </p:nvSpPr>
        <p:spPr>
          <a:xfrm>
            <a:off x="1097280" y="1855694"/>
            <a:ext cx="4998720" cy="4013400"/>
          </a:xfrm>
          <a:prstGeom prst="rect">
            <a:avLst/>
          </a:prstGeom>
        </p:spPr>
        <p:txBody>
          <a:bodyPr vert="horz" lIns="0" tIns="45720" rIns="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IE" sz="3600" dirty="0"/>
              <a:t>Problem: </a:t>
            </a:r>
          </a:p>
          <a:p>
            <a:pPr lvl="2"/>
            <a:r>
              <a:rPr lang="en-IE" sz="3200" dirty="0"/>
              <a:t>Given an array of sorted data, remove all duplicate elements in-place</a:t>
            </a:r>
          </a:p>
          <a:p>
            <a:pPr lvl="2"/>
            <a:endParaRPr lang="en-IE" sz="3200" dirty="0"/>
          </a:p>
          <a:p>
            <a:pPr lvl="1"/>
            <a:r>
              <a:rPr lang="en-IE" sz="3600" dirty="0"/>
              <a:t>Example:</a:t>
            </a:r>
          </a:p>
          <a:p>
            <a:pPr lvl="2"/>
            <a:r>
              <a:rPr lang="en-IE" sz="3200" dirty="0"/>
              <a:t>[1, 1, 1, 2, 2, 2, 3, 3, 4, 5]</a:t>
            </a:r>
          </a:p>
          <a:p>
            <a:pPr lvl="1"/>
            <a:r>
              <a:rPr lang="en-IE" sz="3600" dirty="0">
                <a:solidFill>
                  <a:schemeClr val="accent5"/>
                </a:solidFill>
              </a:rPr>
              <a:t>Expected result: </a:t>
            </a:r>
          </a:p>
          <a:p>
            <a:pPr lvl="2"/>
            <a:r>
              <a:rPr lang="en-IE" sz="3200" dirty="0"/>
              <a:t>[1, 2, 3, 4, 5, 0, 0, 0, 0, 0]</a:t>
            </a:r>
            <a:endParaRPr lang="en-IE" sz="3200" dirty="0">
              <a:solidFill>
                <a:schemeClr val="accent5"/>
              </a:solidFill>
            </a:endParaRPr>
          </a:p>
        </p:txBody>
      </p:sp>
      <p:sp>
        <p:nvSpPr>
          <p:cNvPr id="5" name="Content Placeholder 2">
            <a:extLst>
              <a:ext uri="{FF2B5EF4-FFF2-40B4-BE49-F238E27FC236}">
                <a16:creationId xmlns:a16="http://schemas.microsoft.com/office/drawing/2014/main" id="{A236004E-C2E2-56EF-541B-44A6DD60D113}"/>
              </a:ext>
            </a:extLst>
          </p:cNvPr>
          <p:cNvSpPr txBox="1">
            <a:spLocks/>
          </p:cNvSpPr>
          <p:nvPr/>
        </p:nvSpPr>
        <p:spPr>
          <a:xfrm>
            <a:off x="6096000" y="1855694"/>
            <a:ext cx="5266766" cy="4370294"/>
          </a:xfrm>
          <a:prstGeom prst="rect">
            <a:avLst/>
          </a:prstGeom>
        </p:spPr>
        <p:txBody>
          <a:bodyPr vert="horz" lIns="0" tIns="45720" rIns="0" bIns="45720" rtlCol="0">
            <a:normAutofit fontScale="6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IE" sz="3600" dirty="0">
                <a:solidFill>
                  <a:srgbClr val="FF0000"/>
                </a:solidFill>
              </a:rPr>
              <a:t>Brute force idea: </a:t>
            </a:r>
            <a:br>
              <a:rPr lang="en-IE" sz="3600" dirty="0">
                <a:solidFill>
                  <a:srgbClr val="FF0000"/>
                </a:solidFill>
              </a:rPr>
            </a:br>
            <a:r>
              <a:rPr lang="en-IE" sz="3600" dirty="0">
                <a:solidFill>
                  <a:srgbClr val="FF0000"/>
                </a:solidFill>
              </a:rPr>
              <a:t>Shift data back after each run ends </a:t>
            </a:r>
          </a:p>
          <a:p>
            <a:pPr lvl="2"/>
            <a:r>
              <a:rPr lang="en-IE" sz="3200" dirty="0"/>
              <a:t>While still within data:</a:t>
            </a:r>
          </a:p>
          <a:p>
            <a:pPr lvl="3"/>
            <a:r>
              <a:rPr lang="en-IE" sz="3200" dirty="0"/>
              <a:t>If current element is different to next element:</a:t>
            </a:r>
          </a:p>
          <a:p>
            <a:pPr lvl="4"/>
            <a:r>
              <a:rPr lang="en-IE" sz="3200" dirty="0"/>
              <a:t>Shift everything back by one</a:t>
            </a:r>
          </a:p>
          <a:p>
            <a:pPr lvl="4"/>
            <a:r>
              <a:rPr lang="en-IE" sz="3200" dirty="0"/>
              <a:t>Reduce how much data is left to process</a:t>
            </a:r>
          </a:p>
          <a:p>
            <a:pPr lvl="3"/>
            <a:r>
              <a:rPr lang="en-IE" sz="3200" dirty="0"/>
              <a:t>Otherwise move forward by one</a:t>
            </a:r>
          </a:p>
          <a:p>
            <a:pPr lvl="2"/>
            <a:r>
              <a:rPr lang="en-IE" sz="3200" dirty="0"/>
              <a:t>Wipe “ghost” data from end of array</a:t>
            </a:r>
          </a:p>
          <a:p>
            <a:pPr lvl="1"/>
            <a:endParaRPr lang="en-IE" sz="3600" dirty="0"/>
          </a:p>
          <a:p>
            <a:pPr lvl="1"/>
            <a:r>
              <a:rPr lang="en-IE" sz="3600" dirty="0">
                <a:solidFill>
                  <a:srgbClr val="FF0000"/>
                </a:solidFill>
              </a:rPr>
              <a:t>Uses nested loops </a:t>
            </a:r>
          </a:p>
          <a:p>
            <a:pPr lvl="2"/>
            <a:r>
              <a:rPr lang="en-IE" sz="3200" dirty="0"/>
              <a:t>Iterates through all data</a:t>
            </a:r>
          </a:p>
          <a:p>
            <a:pPr lvl="2"/>
            <a:r>
              <a:rPr lang="en-IE" sz="3200" dirty="0"/>
              <a:t>Where duplicate is found, remaining data is copied backwards, </a:t>
            </a:r>
            <a:r>
              <a:rPr lang="en-IE" sz="3200" b="1" u="sng" dirty="0"/>
              <a:t>even other duplicate data</a:t>
            </a:r>
          </a:p>
          <a:p>
            <a:pPr lvl="2"/>
            <a:r>
              <a:rPr lang="en-IE" sz="3200" dirty="0">
                <a:solidFill>
                  <a:srgbClr val="FF0000"/>
                </a:solidFill>
              </a:rPr>
              <a:t>O(n</a:t>
            </a:r>
            <a:r>
              <a:rPr lang="en-IE" sz="3200" baseline="30000" dirty="0">
                <a:solidFill>
                  <a:srgbClr val="FF0000"/>
                </a:solidFill>
              </a:rPr>
              <a:t>2</a:t>
            </a:r>
            <a:r>
              <a:rPr lang="en-IE" sz="3200" dirty="0">
                <a:solidFill>
                  <a:srgbClr val="FF0000"/>
                </a:solidFill>
              </a:rPr>
              <a:t>)</a:t>
            </a:r>
          </a:p>
        </p:txBody>
      </p:sp>
    </p:spTree>
    <p:extLst>
      <p:ext uri="{BB962C8B-B14F-4D97-AF65-F5344CB8AC3E}">
        <p14:creationId xmlns:p14="http://schemas.microsoft.com/office/powerpoint/2010/main" val="3027114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6813C-8063-1139-EA75-AB8AEF291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D678B-70C4-8971-DE9C-748DCD2C632C}"/>
              </a:ext>
            </a:extLst>
          </p:cNvPr>
          <p:cNvSpPr>
            <a:spLocks noGrp="1"/>
          </p:cNvSpPr>
          <p:nvPr>
            <p:ph type="title"/>
          </p:nvPr>
        </p:nvSpPr>
        <p:spPr/>
        <p:txBody>
          <a:bodyPr/>
          <a:lstStyle/>
          <a:p>
            <a:r>
              <a:rPr lang="en-IE" dirty="0"/>
              <a:t>Identify the Repetition</a:t>
            </a:r>
          </a:p>
        </p:txBody>
      </p:sp>
      <p:sp>
        <p:nvSpPr>
          <p:cNvPr id="3" name="Content Placeholder 2">
            <a:extLst>
              <a:ext uri="{FF2B5EF4-FFF2-40B4-BE49-F238E27FC236}">
                <a16:creationId xmlns:a16="http://schemas.microsoft.com/office/drawing/2014/main" id="{01E07336-7A02-8FCE-2E4E-36C08C0D5264}"/>
              </a:ext>
            </a:extLst>
          </p:cNvPr>
          <p:cNvSpPr>
            <a:spLocks noGrp="1"/>
          </p:cNvSpPr>
          <p:nvPr>
            <p:ph idx="1"/>
          </p:nvPr>
        </p:nvSpPr>
        <p:spPr>
          <a:xfrm>
            <a:off x="1097280" y="1845734"/>
            <a:ext cx="10058400" cy="481210"/>
          </a:xfrm>
        </p:spPr>
        <p:txBody>
          <a:bodyPr>
            <a:normAutofit fontScale="92500" lnSpcReduction="20000"/>
          </a:bodyPr>
          <a:lstStyle/>
          <a:p>
            <a:pPr lvl="1"/>
            <a:r>
              <a:rPr lang="en-IE" sz="3200" dirty="0"/>
              <a:t>We’re moving a lot of data multiple times!</a:t>
            </a:r>
          </a:p>
          <a:p>
            <a:pPr lvl="2"/>
            <a:endParaRPr lang="en-IE" sz="2800" dirty="0"/>
          </a:p>
          <a:p>
            <a:pPr lvl="1"/>
            <a:endParaRPr lang="en-IE" sz="2800" dirty="0"/>
          </a:p>
        </p:txBody>
      </p:sp>
      <p:pic>
        <p:nvPicPr>
          <p:cNvPr id="7" name="Picture 6">
            <a:extLst>
              <a:ext uri="{FF2B5EF4-FFF2-40B4-BE49-F238E27FC236}">
                <a16:creationId xmlns:a16="http://schemas.microsoft.com/office/drawing/2014/main" id="{7298F24B-8A04-E481-BCBB-4CBB4BFCB3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4184" y="2236914"/>
            <a:ext cx="8764592" cy="4090142"/>
          </a:xfrm>
          <a:prstGeom prst="rect">
            <a:avLst/>
          </a:prstGeom>
        </p:spPr>
      </p:pic>
    </p:spTree>
    <p:extLst>
      <p:ext uri="{BB962C8B-B14F-4D97-AF65-F5344CB8AC3E}">
        <p14:creationId xmlns:p14="http://schemas.microsoft.com/office/powerpoint/2010/main" val="2658288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C3886-9EF1-D635-3049-F81758375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EFE70-164A-4CD5-5A20-B44910775D6B}"/>
              </a:ext>
            </a:extLst>
          </p:cNvPr>
          <p:cNvSpPr>
            <a:spLocks noGrp="1"/>
          </p:cNvSpPr>
          <p:nvPr>
            <p:ph type="title"/>
          </p:nvPr>
        </p:nvSpPr>
        <p:spPr/>
        <p:txBody>
          <a:bodyPr/>
          <a:lstStyle/>
          <a:p>
            <a:r>
              <a:rPr lang="en-IE" dirty="0"/>
              <a:t>SOLVE the Repetition</a:t>
            </a:r>
          </a:p>
        </p:txBody>
      </p:sp>
      <p:sp>
        <p:nvSpPr>
          <p:cNvPr id="3" name="Content Placeholder 2">
            <a:extLst>
              <a:ext uri="{FF2B5EF4-FFF2-40B4-BE49-F238E27FC236}">
                <a16:creationId xmlns:a16="http://schemas.microsoft.com/office/drawing/2014/main" id="{391B5FF6-9096-F3BF-2D27-869E78C3A379}"/>
              </a:ext>
            </a:extLst>
          </p:cNvPr>
          <p:cNvSpPr>
            <a:spLocks noGrp="1"/>
          </p:cNvSpPr>
          <p:nvPr>
            <p:ph idx="1"/>
          </p:nvPr>
        </p:nvSpPr>
        <p:spPr>
          <a:xfrm>
            <a:off x="1097280" y="1845733"/>
            <a:ext cx="10058400" cy="4279401"/>
          </a:xfrm>
        </p:spPr>
        <p:txBody>
          <a:bodyPr>
            <a:normAutofit/>
          </a:bodyPr>
          <a:lstStyle/>
          <a:p>
            <a:pPr lvl="1"/>
            <a:r>
              <a:rPr lang="en-IE" sz="3200" dirty="0"/>
              <a:t>Repetition: We move the data later in the array many times over, even though we don’t know we need it</a:t>
            </a:r>
          </a:p>
          <a:p>
            <a:pPr lvl="2"/>
            <a:r>
              <a:rPr lang="en-IE" sz="2800" dirty="0"/>
              <a:t>It might be a unique value</a:t>
            </a:r>
          </a:p>
          <a:p>
            <a:pPr lvl="2"/>
            <a:r>
              <a:rPr lang="en-IE" sz="2800" dirty="0"/>
              <a:t>It might be a duplicate</a:t>
            </a:r>
          </a:p>
          <a:p>
            <a:pPr lvl="2"/>
            <a:endParaRPr lang="en-IE" sz="2800" dirty="0"/>
          </a:p>
          <a:p>
            <a:pPr lvl="1"/>
            <a:r>
              <a:rPr lang="en-IE" sz="3200" dirty="0"/>
              <a:t>How do we stop moving the same values over and over?</a:t>
            </a:r>
          </a:p>
          <a:p>
            <a:pPr lvl="2"/>
            <a:r>
              <a:rPr lang="en-IE" sz="2900" dirty="0">
                <a:solidFill>
                  <a:srgbClr val="FF0000"/>
                </a:solidFill>
              </a:rPr>
              <a:t>Stop moving values we don’t know we need</a:t>
            </a:r>
          </a:p>
          <a:p>
            <a:pPr lvl="2"/>
            <a:r>
              <a:rPr lang="en-IE" sz="2900" dirty="0">
                <a:solidFill>
                  <a:srgbClr val="FF0000"/>
                </a:solidFill>
              </a:rPr>
              <a:t>Just copy the unique value</a:t>
            </a:r>
            <a:endParaRPr lang="en-IE" sz="2800" dirty="0"/>
          </a:p>
        </p:txBody>
      </p:sp>
    </p:spTree>
    <p:extLst>
      <p:ext uri="{BB962C8B-B14F-4D97-AF65-F5344CB8AC3E}">
        <p14:creationId xmlns:p14="http://schemas.microsoft.com/office/powerpoint/2010/main" val="4256771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B042F-498E-628A-68B8-3B768EC1CE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3934B-D0B2-F107-9FD7-7065BEE1EC53}"/>
              </a:ext>
            </a:extLst>
          </p:cNvPr>
          <p:cNvSpPr>
            <a:spLocks noGrp="1"/>
          </p:cNvSpPr>
          <p:nvPr>
            <p:ph type="title"/>
          </p:nvPr>
        </p:nvSpPr>
        <p:spPr/>
        <p:txBody>
          <a:bodyPr/>
          <a:lstStyle/>
          <a:p>
            <a:r>
              <a:rPr lang="en-IE" dirty="0"/>
              <a:t>The Benefit of Sorted Data</a:t>
            </a:r>
          </a:p>
        </p:txBody>
      </p:sp>
      <p:sp>
        <p:nvSpPr>
          <p:cNvPr id="3" name="Content Placeholder 2">
            <a:extLst>
              <a:ext uri="{FF2B5EF4-FFF2-40B4-BE49-F238E27FC236}">
                <a16:creationId xmlns:a16="http://schemas.microsoft.com/office/drawing/2014/main" id="{AF773F12-1CC3-F554-4F4A-21F534970FD1}"/>
              </a:ext>
            </a:extLst>
          </p:cNvPr>
          <p:cNvSpPr>
            <a:spLocks noGrp="1"/>
          </p:cNvSpPr>
          <p:nvPr>
            <p:ph idx="1"/>
          </p:nvPr>
        </p:nvSpPr>
        <p:spPr/>
        <p:txBody>
          <a:bodyPr>
            <a:normAutofit/>
          </a:bodyPr>
          <a:lstStyle/>
          <a:p>
            <a:pPr lvl="1"/>
            <a:r>
              <a:rPr lang="en-IE" sz="3600" dirty="0"/>
              <a:t>Sorted data guarantees the data is ascending</a:t>
            </a:r>
          </a:p>
          <a:p>
            <a:pPr lvl="2"/>
            <a:endParaRPr lang="en-IE" sz="3200" dirty="0"/>
          </a:p>
          <a:p>
            <a:pPr lvl="1"/>
            <a:r>
              <a:rPr lang="en-IE" sz="3600" dirty="0"/>
              <a:t>This guarantees </a:t>
            </a:r>
            <a:r>
              <a:rPr lang="en-IE" sz="3600" dirty="0">
                <a:solidFill>
                  <a:srgbClr val="FF0000"/>
                </a:solidFill>
              </a:rPr>
              <a:t>duplicates are grouped</a:t>
            </a:r>
          </a:p>
          <a:p>
            <a:pPr lvl="2"/>
            <a:r>
              <a:rPr lang="en-IE" sz="3200" dirty="0"/>
              <a:t>Matching elements are always beside each other</a:t>
            </a:r>
          </a:p>
          <a:p>
            <a:pPr lvl="2"/>
            <a:r>
              <a:rPr lang="en-IE" sz="3200" dirty="0"/>
              <a:t>If something doesn’t match the one before it, we should keep it -&gt; it is the start of the next run</a:t>
            </a:r>
          </a:p>
        </p:txBody>
      </p:sp>
    </p:spTree>
    <p:extLst>
      <p:ext uri="{BB962C8B-B14F-4D97-AF65-F5344CB8AC3E}">
        <p14:creationId xmlns:p14="http://schemas.microsoft.com/office/powerpoint/2010/main" val="3606453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72001-65C7-5FA4-1393-03FECFF55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D4522-A79D-0C27-5C81-4FD6C3CC8E2C}"/>
              </a:ext>
            </a:extLst>
          </p:cNvPr>
          <p:cNvSpPr>
            <a:spLocks noGrp="1"/>
          </p:cNvSpPr>
          <p:nvPr>
            <p:ph type="title"/>
          </p:nvPr>
        </p:nvSpPr>
        <p:spPr/>
        <p:txBody>
          <a:bodyPr>
            <a:normAutofit/>
          </a:bodyPr>
          <a:lstStyle/>
          <a:p>
            <a:r>
              <a:rPr lang="en-IE" dirty="0"/>
              <a:t>The “Read/Write” Pattern: </a:t>
            </a:r>
            <a:br>
              <a:rPr lang="en-IE" dirty="0"/>
            </a:br>
            <a:r>
              <a:rPr lang="en-IE" dirty="0"/>
              <a:t>Pointers With Different Roles and Speeds</a:t>
            </a:r>
          </a:p>
        </p:txBody>
      </p:sp>
      <p:sp>
        <p:nvSpPr>
          <p:cNvPr id="33" name="Rounded Rectangle 21">
            <a:extLst>
              <a:ext uri="{FF2B5EF4-FFF2-40B4-BE49-F238E27FC236}">
                <a16:creationId xmlns:a16="http://schemas.microsoft.com/office/drawing/2014/main" id="{A8947482-C329-3ECB-1331-50CEB7301398}"/>
              </a:ext>
            </a:extLst>
          </p:cNvPr>
          <p:cNvSpPr/>
          <p:nvPr/>
        </p:nvSpPr>
        <p:spPr>
          <a:xfrm>
            <a:off x="914400" y="3570190"/>
            <a:ext cx="4754880" cy="822960"/>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1700" b="1" dirty="0">
                <a:solidFill>
                  <a:schemeClr val="tx2">
                    <a:lumMod val="75000"/>
                  </a:schemeClr>
                </a:solidFill>
                <a:latin typeface="Aptos"/>
              </a:rPr>
              <a:t>write</a:t>
            </a:r>
            <a:r>
              <a:rPr sz="1700" b="1" dirty="0">
                <a:solidFill>
                  <a:schemeClr val="tx2">
                    <a:lumMod val="75000"/>
                  </a:schemeClr>
                </a:solidFill>
                <a:latin typeface="Aptos"/>
              </a:rPr>
              <a:t> = </a:t>
            </a:r>
            <a:r>
              <a:rPr lang="en-IE" sz="1700" b="1" dirty="0">
                <a:solidFill>
                  <a:schemeClr val="tx2">
                    <a:lumMod val="75000"/>
                  </a:schemeClr>
                </a:solidFill>
                <a:latin typeface="Aptos"/>
              </a:rPr>
              <a:t>1</a:t>
            </a:r>
            <a:endParaRPr sz="1700" b="1" dirty="0">
              <a:solidFill>
                <a:schemeClr val="tx2">
                  <a:lumMod val="75000"/>
                </a:schemeClr>
              </a:solidFill>
              <a:latin typeface="Aptos"/>
            </a:endParaRPr>
          </a:p>
          <a:p>
            <a:pPr>
              <a:spcAft>
                <a:spcPts val="700"/>
              </a:spcAft>
            </a:pPr>
            <a:r>
              <a:rPr sz="1700" b="0" dirty="0">
                <a:solidFill>
                  <a:srgbClr val="F5F8FC"/>
                </a:solidFill>
                <a:latin typeface="Aptos"/>
              </a:rPr>
              <a:t>Start at </a:t>
            </a:r>
            <a:r>
              <a:rPr lang="en-IE" sz="1700" b="0" dirty="0">
                <a:solidFill>
                  <a:srgbClr val="F5F8FC"/>
                </a:solidFill>
                <a:latin typeface="Aptos"/>
              </a:rPr>
              <a:t>SECOND</a:t>
            </a:r>
            <a:r>
              <a:rPr sz="1700" b="0" dirty="0">
                <a:solidFill>
                  <a:srgbClr val="F5F8FC"/>
                </a:solidFill>
                <a:latin typeface="Aptos"/>
              </a:rPr>
              <a:t> array element</a:t>
            </a:r>
          </a:p>
        </p:txBody>
      </p:sp>
      <p:sp>
        <p:nvSpPr>
          <p:cNvPr id="35" name="Rounded Rectangle 22">
            <a:extLst>
              <a:ext uri="{FF2B5EF4-FFF2-40B4-BE49-F238E27FC236}">
                <a16:creationId xmlns:a16="http://schemas.microsoft.com/office/drawing/2014/main" id="{3575BA38-3FAC-1817-136E-948CC9305A24}"/>
              </a:ext>
            </a:extLst>
          </p:cNvPr>
          <p:cNvSpPr/>
          <p:nvPr/>
        </p:nvSpPr>
        <p:spPr>
          <a:xfrm>
            <a:off x="6400800" y="3570190"/>
            <a:ext cx="4876800" cy="822960"/>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1700" b="1" dirty="0">
                <a:solidFill>
                  <a:srgbClr val="FFA015"/>
                </a:solidFill>
                <a:latin typeface="Aptos"/>
              </a:rPr>
              <a:t>read  = write</a:t>
            </a:r>
            <a:endParaRPr sz="1700" b="1" dirty="0">
              <a:solidFill>
                <a:srgbClr val="FFA015"/>
              </a:solidFill>
              <a:latin typeface="Aptos"/>
            </a:endParaRPr>
          </a:p>
          <a:p>
            <a:pPr>
              <a:spcAft>
                <a:spcPts val="700"/>
              </a:spcAft>
            </a:pPr>
            <a:r>
              <a:rPr sz="1700" b="0" dirty="0">
                <a:solidFill>
                  <a:srgbClr val="F5F8FC"/>
                </a:solidFill>
                <a:latin typeface="Aptos"/>
              </a:rPr>
              <a:t>Start at </a:t>
            </a:r>
            <a:r>
              <a:rPr lang="en-IE" sz="1700" b="0" dirty="0">
                <a:solidFill>
                  <a:srgbClr val="F5F8FC"/>
                </a:solidFill>
                <a:latin typeface="Aptos"/>
              </a:rPr>
              <a:t>same index as write</a:t>
            </a:r>
            <a:endParaRPr sz="1700" b="0" dirty="0">
              <a:solidFill>
                <a:srgbClr val="F5F8FC"/>
              </a:solidFill>
              <a:latin typeface="Aptos"/>
            </a:endParaRPr>
          </a:p>
        </p:txBody>
      </p:sp>
      <p:sp>
        <p:nvSpPr>
          <p:cNvPr id="37" name="TextBox 36">
            <a:extLst>
              <a:ext uri="{FF2B5EF4-FFF2-40B4-BE49-F238E27FC236}">
                <a16:creationId xmlns:a16="http://schemas.microsoft.com/office/drawing/2014/main" id="{28349844-CEF4-D180-C7BC-A54BDBFC03B2}"/>
              </a:ext>
            </a:extLst>
          </p:cNvPr>
          <p:cNvSpPr txBox="1"/>
          <p:nvPr/>
        </p:nvSpPr>
        <p:spPr>
          <a:xfrm>
            <a:off x="1066800" y="4654754"/>
            <a:ext cx="10058400" cy="1708160"/>
          </a:xfrm>
          <a:prstGeom prst="rect">
            <a:avLst/>
          </a:prstGeom>
          <a:noFill/>
        </p:spPr>
        <p:txBody>
          <a:bodyPr wrap="square" lIns="45720" rIns="45720" anchor="t">
            <a:spAutoFit/>
          </a:bodyPr>
          <a:lstStyle/>
          <a:p>
            <a:pPr marL="285750" indent="-285750">
              <a:buFont typeface="Arial" panose="020B0604020202020204" pitchFamily="34" charset="0"/>
              <a:buChar char="•"/>
            </a:pPr>
            <a:r>
              <a:rPr lang="en-IE" sz="2000" dirty="0"/>
              <a:t>Read pointer: “What is the next value?”</a:t>
            </a:r>
          </a:p>
          <a:p>
            <a:pPr marL="285750" indent="-285750">
              <a:buFont typeface="Arial" panose="020B0604020202020204" pitchFamily="34" charset="0"/>
              <a:buChar char="•"/>
            </a:pPr>
            <a:r>
              <a:rPr lang="en-IE" sz="2000" dirty="0"/>
              <a:t>Write pointer: “Where should the next new (unique) value go?”</a:t>
            </a:r>
          </a:p>
          <a:p>
            <a:pPr marL="742950" lvl="1" indent="-285750">
              <a:buFont typeface="Arial" panose="020B0604020202020204" pitchFamily="34" charset="0"/>
              <a:buChar char="•"/>
            </a:pPr>
            <a:r>
              <a:rPr lang="en-IE" sz="2000" dirty="0"/>
              <a:t>write-1: Last unique value we encountered</a:t>
            </a:r>
          </a:p>
          <a:p>
            <a:pPr marL="285750" indent="-285750" algn="l">
              <a:buFont typeface="Arial" panose="020B0604020202020204" pitchFamily="34" charset="0"/>
              <a:buChar char="•"/>
            </a:pPr>
            <a:endParaRPr lang="en-IE" sz="700" dirty="0"/>
          </a:p>
          <a:p>
            <a:pPr marL="285750" indent="-285750" algn="l">
              <a:buFont typeface="Arial" panose="020B0604020202020204" pitchFamily="34" charset="0"/>
              <a:buChar char="•"/>
            </a:pPr>
            <a:r>
              <a:rPr sz="2000" dirty="0"/>
              <a:t>At each step</a:t>
            </a:r>
            <a:r>
              <a:rPr lang="en-IE" sz="2000" dirty="0"/>
              <a:t>: Check if data[read] != data[write-1]</a:t>
            </a:r>
            <a:r>
              <a:rPr sz="2000" dirty="0"/>
              <a:t>.</a:t>
            </a:r>
            <a:endParaRPr lang="en-IE" sz="2000" dirty="0"/>
          </a:p>
          <a:p>
            <a:pPr marL="742950" lvl="1" indent="-285750">
              <a:buFont typeface="Arial" panose="020B0604020202020204" pitchFamily="34" charset="0"/>
              <a:buChar char="•"/>
            </a:pPr>
            <a:r>
              <a:rPr lang="en-IE" dirty="0"/>
              <a:t>If they are not equal: copy data[read] into data[write] and move write pointer to next slot </a:t>
            </a:r>
          </a:p>
        </p:txBody>
      </p:sp>
      <p:grpSp>
        <p:nvGrpSpPr>
          <p:cNvPr id="3" name="Group 2">
            <a:extLst>
              <a:ext uri="{FF2B5EF4-FFF2-40B4-BE49-F238E27FC236}">
                <a16:creationId xmlns:a16="http://schemas.microsoft.com/office/drawing/2014/main" id="{E5FDE4F5-A6E6-95C8-91D3-49E160E31143}"/>
              </a:ext>
            </a:extLst>
          </p:cNvPr>
          <p:cNvGrpSpPr/>
          <p:nvPr/>
        </p:nvGrpSpPr>
        <p:grpSpPr>
          <a:xfrm>
            <a:off x="3123752" y="1964346"/>
            <a:ext cx="5779008" cy="1460082"/>
            <a:chOff x="3123752" y="1964346"/>
            <a:chExt cx="5779008" cy="1460082"/>
          </a:xfrm>
        </p:grpSpPr>
        <p:sp>
          <p:nvSpPr>
            <p:cNvPr id="5" name="Rounded Rectangle 7">
              <a:extLst>
                <a:ext uri="{FF2B5EF4-FFF2-40B4-BE49-F238E27FC236}">
                  <a16:creationId xmlns:a16="http://schemas.microsoft.com/office/drawing/2014/main" id="{2232C7DE-AE2E-2CD8-D00A-CC2161801748}"/>
                </a:ext>
              </a:extLst>
            </p:cNvPr>
            <p:cNvSpPr/>
            <p:nvPr/>
          </p:nvSpPr>
          <p:spPr>
            <a:xfrm>
              <a:off x="3123752" y="2299716"/>
              <a:ext cx="1097280" cy="822960"/>
            </a:xfrm>
            <a:prstGeom prst="roundRect">
              <a:avLst/>
            </a:prstGeom>
            <a:solidFill>
              <a:schemeClr val="accent6"/>
            </a:solidFill>
            <a:ln>
              <a:solidFill>
                <a:srgbClr val="08708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5F8FC"/>
                  </a:solidFill>
                  <a:latin typeface="Consolas"/>
                </a:rPr>
                <a:t>1</a:t>
              </a:r>
            </a:p>
          </p:txBody>
        </p:sp>
        <p:sp>
          <p:nvSpPr>
            <p:cNvPr id="7" name="TextBox 6">
              <a:extLst>
                <a:ext uri="{FF2B5EF4-FFF2-40B4-BE49-F238E27FC236}">
                  <a16:creationId xmlns:a16="http://schemas.microsoft.com/office/drawing/2014/main" id="{E8AD9003-7BC1-4C9F-5931-908E63D3CB8B}"/>
                </a:ext>
              </a:extLst>
            </p:cNvPr>
            <p:cNvSpPr txBox="1"/>
            <p:nvPr/>
          </p:nvSpPr>
          <p:spPr>
            <a:xfrm>
              <a:off x="3123752" y="3195828"/>
              <a:ext cx="1097280" cy="228600"/>
            </a:xfrm>
            <a:prstGeom prst="rect">
              <a:avLst/>
            </a:prstGeom>
            <a:noFill/>
          </p:spPr>
          <p:txBody>
            <a:bodyPr wrap="square" lIns="45720" rIns="45720" anchor="t">
              <a:spAutoFit/>
            </a:bodyPr>
            <a:lstStyle/>
            <a:p>
              <a:pPr algn="ctr"/>
              <a:r>
                <a:rPr sz="1000" b="0">
                  <a:solidFill>
                    <a:srgbClr val="B0BED2"/>
                  </a:solidFill>
                  <a:latin typeface="Aptos"/>
                </a:rPr>
                <a:t>0</a:t>
              </a:r>
            </a:p>
          </p:txBody>
        </p:sp>
        <p:sp>
          <p:nvSpPr>
            <p:cNvPr id="9" name="TextBox 8">
              <a:extLst>
                <a:ext uri="{FF2B5EF4-FFF2-40B4-BE49-F238E27FC236}">
                  <a16:creationId xmlns:a16="http://schemas.microsoft.com/office/drawing/2014/main" id="{FC83A0D9-5E95-11F7-4EB3-6F676E85606E}"/>
                </a:ext>
              </a:extLst>
            </p:cNvPr>
            <p:cNvSpPr txBox="1"/>
            <p:nvPr/>
          </p:nvSpPr>
          <p:spPr>
            <a:xfrm>
              <a:off x="3905032" y="1970532"/>
              <a:ext cx="1188720" cy="369332"/>
            </a:xfrm>
            <a:prstGeom prst="rect">
              <a:avLst/>
            </a:prstGeom>
            <a:noFill/>
          </p:spPr>
          <p:txBody>
            <a:bodyPr wrap="square" lIns="45720" rIns="45720" anchor="t">
              <a:spAutoFit/>
            </a:bodyPr>
            <a:lstStyle/>
            <a:p>
              <a:pPr algn="ctr"/>
              <a:r>
                <a:rPr lang="en-IE" b="1" dirty="0">
                  <a:solidFill>
                    <a:srgbClr val="38D1E0"/>
                  </a:solidFill>
                  <a:latin typeface="Aptos"/>
                </a:rPr>
                <a:t>WRITE</a:t>
              </a:r>
              <a:endParaRPr b="1" dirty="0">
                <a:solidFill>
                  <a:srgbClr val="38D1E0"/>
                </a:solidFill>
                <a:latin typeface="Aptos"/>
              </a:endParaRPr>
            </a:p>
          </p:txBody>
        </p:sp>
        <p:sp>
          <p:nvSpPr>
            <p:cNvPr id="13" name="Rounded Rectangle 11">
              <a:extLst>
                <a:ext uri="{FF2B5EF4-FFF2-40B4-BE49-F238E27FC236}">
                  <a16:creationId xmlns:a16="http://schemas.microsoft.com/office/drawing/2014/main" id="{AF7C5F5B-D82E-F43D-FFC5-135356894320}"/>
                </a:ext>
              </a:extLst>
            </p:cNvPr>
            <p:cNvSpPr/>
            <p:nvPr/>
          </p:nvSpPr>
          <p:spPr>
            <a:xfrm>
              <a:off x="4294184" y="2299716"/>
              <a:ext cx="1097280" cy="822960"/>
            </a:xfrm>
            <a:prstGeom prst="roundRect">
              <a:avLst/>
            </a:prstGeom>
            <a:solidFill>
              <a:srgbClr val="FFC000"/>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E" sz="2000" b="1" dirty="0">
                  <a:solidFill>
                    <a:srgbClr val="F5F8FC"/>
                  </a:solidFill>
                  <a:latin typeface="Consolas"/>
                </a:rPr>
                <a:t>1</a:t>
              </a:r>
              <a:endParaRPr sz="2000" b="1" dirty="0">
                <a:solidFill>
                  <a:srgbClr val="F5F8FC"/>
                </a:solidFill>
                <a:latin typeface="Consolas"/>
              </a:endParaRPr>
            </a:p>
          </p:txBody>
        </p:sp>
        <p:sp>
          <p:nvSpPr>
            <p:cNvPr id="15" name="TextBox 14">
              <a:extLst>
                <a:ext uri="{FF2B5EF4-FFF2-40B4-BE49-F238E27FC236}">
                  <a16:creationId xmlns:a16="http://schemas.microsoft.com/office/drawing/2014/main" id="{0954A910-6D07-0D47-D5A1-79B10B538641}"/>
                </a:ext>
              </a:extLst>
            </p:cNvPr>
            <p:cNvSpPr txBox="1"/>
            <p:nvPr/>
          </p:nvSpPr>
          <p:spPr>
            <a:xfrm>
              <a:off x="4294184" y="3195828"/>
              <a:ext cx="1097280" cy="228600"/>
            </a:xfrm>
            <a:prstGeom prst="rect">
              <a:avLst/>
            </a:prstGeom>
            <a:noFill/>
          </p:spPr>
          <p:txBody>
            <a:bodyPr wrap="square" lIns="45720" rIns="45720" anchor="t">
              <a:spAutoFit/>
            </a:bodyPr>
            <a:lstStyle/>
            <a:p>
              <a:pPr algn="ctr"/>
              <a:r>
                <a:rPr sz="1000" b="0">
                  <a:solidFill>
                    <a:srgbClr val="B0BED2"/>
                  </a:solidFill>
                  <a:latin typeface="Aptos"/>
                </a:rPr>
                <a:t>1</a:t>
              </a:r>
            </a:p>
          </p:txBody>
        </p:sp>
        <p:sp>
          <p:nvSpPr>
            <p:cNvPr id="17" name="Rounded Rectangle 13">
              <a:extLst>
                <a:ext uri="{FF2B5EF4-FFF2-40B4-BE49-F238E27FC236}">
                  <a16:creationId xmlns:a16="http://schemas.microsoft.com/office/drawing/2014/main" id="{C884EAB9-690A-7D97-DB38-DCB386EBE2F8}"/>
                </a:ext>
              </a:extLst>
            </p:cNvPr>
            <p:cNvSpPr/>
            <p:nvPr/>
          </p:nvSpPr>
          <p:spPr>
            <a:xfrm>
              <a:off x="5464616"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E" sz="2000" b="1" dirty="0">
                  <a:solidFill>
                    <a:srgbClr val="F5F8FC"/>
                  </a:solidFill>
                  <a:latin typeface="Consolas"/>
                </a:rPr>
                <a:t>1</a:t>
              </a:r>
              <a:endParaRPr sz="2000" b="1" dirty="0">
                <a:solidFill>
                  <a:srgbClr val="F5F8FC"/>
                </a:solidFill>
                <a:latin typeface="Consolas"/>
              </a:endParaRPr>
            </a:p>
          </p:txBody>
        </p:sp>
        <p:sp>
          <p:nvSpPr>
            <p:cNvPr id="19" name="TextBox 18">
              <a:extLst>
                <a:ext uri="{FF2B5EF4-FFF2-40B4-BE49-F238E27FC236}">
                  <a16:creationId xmlns:a16="http://schemas.microsoft.com/office/drawing/2014/main" id="{FC526793-A6F4-19A0-3EE0-80855EBA9BA0}"/>
                </a:ext>
              </a:extLst>
            </p:cNvPr>
            <p:cNvSpPr txBox="1"/>
            <p:nvPr/>
          </p:nvSpPr>
          <p:spPr>
            <a:xfrm>
              <a:off x="5464616" y="3195828"/>
              <a:ext cx="1097280" cy="228600"/>
            </a:xfrm>
            <a:prstGeom prst="rect">
              <a:avLst/>
            </a:prstGeom>
            <a:noFill/>
          </p:spPr>
          <p:txBody>
            <a:bodyPr wrap="square" lIns="45720" rIns="45720" anchor="t">
              <a:spAutoFit/>
            </a:bodyPr>
            <a:lstStyle/>
            <a:p>
              <a:pPr algn="ctr"/>
              <a:r>
                <a:rPr sz="1000" b="0">
                  <a:solidFill>
                    <a:srgbClr val="B0BED2"/>
                  </a:solidFill>
                  <a:latin typeface="Aptos"/>
                </a:rPr>
                <a:t>2</a:t>
              </a:r>
            </a:p>
          </p:txBody>
        </p:sp>
        <p:sp>
          <p:nvSpPr>
            <p:cNvPr id="21" name="Rounded Rectangle 15">
              <a:extLst>
                <a:ext uri="{FF2B5EF4-FFF2-40B4-BE49-F238E27FC236}">
                  <a16:creationId xmlns:a16="http://schemas.microsoft.com/office/drawing/2014/main" id="{8BBFFDAC-4BEF-81C1-B1D7-86ACFFB4EC68}"/>
                </a:ext>
              </a:extLst>
            </p:cNvPr>
            <p:cNvSpPr/>
            <p:nvPr/>
          </p:nvSpPr>
          <p:spPr>
            <a:xfrm>
              <a:off x="6635048"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E" sz="2000" b="1" dirty="0">
                  <a:solidFill>
                    <a:srgbClr val="F5F8FC"/>
                  </a:solidFill>
                  <a:latin typeface="Consolas"/>
                </a:rPr>
                <a:t>2</a:t>
              </a:r>
              <a:endParaRPr sz="2000" b="1" dirty="0">
                <a:solidFill>
                  <a:srgbClr val="F5F8FC"/>
                </a:solidFill>
                <a:latin typeface="Consolas"/>
              </a:endParaRPr>
            </a:p>
          </p:txBody>
        </p:sp>
        <p:sp>
          <p:nvSpPr>
            <p:cNvPr id="23" name="TextBox 22">
              <a:extLst>
                <a:ext uri="{FF2B5EF4-FFF2-40B4-BE49-F238E27FC236}">
                  <a16:creationId xmlns:a16="http://schemas.microsoft.com/office/drawing/2014/main" id="{5E12EFC1-E7E9-61BE-A506-EB0156D17441}"/>
                </a:ext>
              </a:extLst>
            </p:cNvPr>
            <p:cNvSpPr txBox="1"/>
            <p:nvPr/>
          </p:nvSpPr>
          <p:spPr>
            <a:xfrm>
              <a:off x="6635048" y="3195828"/>
              <a:ext cx="1097280" cy="228600"/>
            </a:xfrm>
            <a:prstGeom prst="rect">
              <a:avLst/>
            </a:prstGeom>
            <a:noFill/>
          </p:spPr>
          <p:txBody>
            <a:bodyPr wrap="square" lIns="45720" rIns="45720" anchor="t">
              <a:spAutoFit/>
            </a:bodyPr>
            <a:lstStyle/>
            <a:p>
              <a:pPr algn="ctr"/>
              <a:r>
                <a:rPr sz="1000" b="0">
                  <a:solidFill>
                    <a:srgbClr val="B0BED2"/>
                  </a:solidFill>
                  <a:latin typeface="Aptos"/>
                </a:rPr>
                <a:t>3</a:t>
              </a:r>
            </a:p>
          </p:txBody>
        </p:sp>
        <p:sp>
          <p:nvSpPr>
            <p:cNvPr id="25" name="Rounded Rectangle 17">
              <a:extLst>
                <a:ext uri="{FF2B5EF4-FFF2-40B4-BE49-F238E27FC236}">
                  <a16:creationId xmlns:a16="http://schemas.microsoft.com/office/drawing/2014/main" id="{61736FA4-114B-97AF-4771-1530FD73A02E}"/>
                </a:ext>
              </a:extLst>
            </p:cNvPr>
            <p:cNvSpPr/>
            <p:nvPr/>
          </p:nvSpPr>
          <p:spPr>
            <a:xfrm>
              <a:off x="7805480" y="2299716"/>
              <a:ext cx="1097280" cy="822960"/>
            </a:xfrm>
            <a:prstGeom prst="roundRect">
              <a:avLst/>
            </a:prstGeom>
            <a:solidFill>
              <a:schemeClr val="tx2">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IE" sz="2000" b="1" dirty="0">
                  <a:solidFill>
                    <a:srgbClr val="F5F8FC"/>
                  </a:solidFill>
                  <a:latin typeface="Consolas"/>
                </a:rPr>
                <a:t>2</a:t>
              </a:r>
              <a:endParaRPr sz="2000" b="1" dirty="0">
                <a:solidFill>
                  <a:srgbClr val="F5F8FC"/>
                </a:solidFill>
                <a:latin typeface="Consolas"/>
              </a:endParaRPr>
            </a:p>
          </p:txBody>
        </p:sp>
        <p:sp>
          <p:nvSpPr>
            <p:cNvPr id="27" name="TextBox 26">
              <a:extLst>
                <a:ext uri="{FF2B5EF4-FFF2-40B4-BE49-F238E27FC236}">
                  <a16:creationId xmlns:a16="http://schemas.microsoft.com/office/drawing/2014/main" id="{4D0DDA1E-3EA6-1E32-A0DB-71FF1B8083E3}"/>
                </a:ext>
              </a:extLst>
            </p:cNvPr>
            <p:cNvSpPr txBox="1"/>
            <p:nvPr/>
          </p:nvSpPr>
          <p:spPr>
            <a:xfrm>
              <a:off x="7805480" y="3195828"/>
              <a:ext cx="1097280" cy="228600"/>
            </a:xfrm>
            <a:prstGeom prst="rect">
              <a:avLst/>
            </a:prstGeom>
            <a:noFill/>
          </p:spPr>
          <p:txBody>
            <a:bodyPr wrap="square" lIns="45720" rIns="45720" anchor="t">
              <a:spAutoFit/>
            </a:bodyPr>
            <a:lstStyle/>
            <a:p>
              <a:pPr algn="ctr"/>
              <a:r>
                <a:rPr sz="1000" b="0">
                  <a:solidFill>
                    <a:srgbClr val="B0BED2"/>
                  </a:solidFill>
                  <a:latin typeface="Aptos"/>
                </a:rPr>
                <a:t>4</a:t>
              </a:r>
            </a:p>
          </p:txBody>
        </p:sp>
        <p:sp>
          <p:nvSpPr>
            <p:cNvPr id="29" name="TextBox 28">
              <a:extLst>
                <a:ext uri="{FF2B5EF4-FFF2-40B4-BE49-F238E27FC236}">
                  <a16:creationId xmlns:a16="http://schemas.microsoft.com/office/drawing/2014/main" id="{59BF9676-436B-77D3-26D2-0F5CC18722E7}"/>
                </a:ext>
              </a:extLst>
            </p:cNvPr>
            <p:cNvSpPr txBox="1"/>
            <p:nvPr/>
          </p:nvSpPr>
          <p:spPr>
            <a:xfrm>
              <a:off x="4630089" y="1964346"/>
              <a:ext cx="1188720" cy="369332"/>
            </a:xfrm>
            <a:prstGeom prst="rect">
              <a:avLst/>
            </a:prstGeom>
            <a:noFill/>
          </p:spPr>
          <p:txBody>
            <a:bodyPr wrap="square" lIns="45720" rIns="45720" anchor="t">
              <a:spAutoFit/>
            </a:bodyPr>
            <a:lstStyle/>
            <a:p>
              <a:pPr algn="ctr"/>
              <a:r>
                <a:rPr lang="en-IE" b="1" dirty="0">
                  <a:solidFill>
                    <a:srgbClr val="FFB74D"/>
                  </a:solidFill>
                  <a:latin typeface="Aptos"/>
                </a:rPr>
                <a:t>READ</a:t>
              </a:r>
              <a:endParaRPr b="1" dirty="0">
                <a:solidFill>
                  <a:srgbClr val="FFB74D"/>
                </a:solidFill>
                <a:latin typeface="Aptos"/>
              </a:endParaRPr>
            </a:p>
          </p:txBody>
        </p:sp>
        <p:cxnSp>
          <p:nvCxnSpPr>
            <p:cNvPr id="41" name="Straight Arrow Connector 40">
              <a:extLst>
                <a:ext uri="{FF2B5EF4-FFF2-40B4-BE49-F238E27FC236}">
                  <a16:creationId xmlns:a16="http://schemas.microsoft.com/office/drawing/2014/main" id="{52CE6FC0-5505-C1CE-C10D-53D9314F83CA}"/>
                </a:ext>
              </a:extLst>
            </p:cNvPr>
            <p:cNvCxnSpPr>
              <a:cxnSpLocks/>
            </p:cNvCxnSpPr>
            <p:nvPr/>
          </p:nvCxnSpPr>
          <p:spPr>
            <a:xfrm>
              <a:off x="4491314" y="2283577"/>
              <a:ext cx="0" cy="190679"/>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09EFA2E-BFA5-758A-9CBB-400F85C93770}"/>
                </a:ext>
              </a:extLst>
            </p:cNvPr>
            <p:cNvCxnSpPr>
              <a:cxnSpLocks/>
            </p:cNvCxnSpPr>
            <p:nvPr/>
          </p:nvCxnSpPr>
          <p:spPr>
            <a:xfrm>
              <a:off x="5224449" y="2277390"/>
              <a:ext cx="0" cy="19067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4534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39B4056F-1959-4627-A683-77F6C0603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0C6892A-893F-8774-B197-4496D20337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5382" y="470849"/>
            <a:ext cx="8362336" cy="3902422"/>
          </a:xfrm>
          <a:prstGeom prst="rect">
            <a:avLst/>
          </a:prstGeom>
        </p:spPr>
      </p:pic>
      <p:sp>
        <p:nvSpPr>
          <p:cNvPr id="65" name="Rectangle 64">
            <a:extLst>
              <a:ext uri="{FF2B5EF4-FFF2-40B4-BE49-F238E27FC236}">
                <a16:creationId xmlns:a16="http://schemas.microsoft.com/office/drawing/2014/main" id="{D8D7349B-C9FA-4FCE-A1FF-948F460A3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554906"/>
            <a:ext cx="12188952" cy="23030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2" name="Title 1">
            <a:extLst>
              <a:ext uri="{FF2B5EF4-FFF2-40B4-BE49-F238E27FC236}">
                <a16:creationId xmlns:a16="http://schemas.microsoft.com/office/drawing/2014/main" id="{78B51CF2-B2E8-9851-B325-F4D1AED482B4}"/>
              </a:ext>
            </a:extLst>
          </p:cNvPr>
          <p:cNvSpPr>
            <a:spLocks noGrp="1"/>
          </p:cNvSpPr>
          <p:nvPr>
            <p:ph type="title"/>
          </p:nvPr>
        </p:nvSpPr>
        <p:spPr>
          <a:xfrm>
            <a:off x="633998" y="4905301"/>
            <a:ext cx="4988879" cy="1554485"/>
          </a:xfrm>
        </p:spPr>
        <p:txBody>
          <a:bodyPr vert="horz" lIns="91440" tIns="45720" rIns="91440" bIns="45720" rtlCol="0" anchor="ctr">
            <a:normAutofit/>
          </a:bodyPr>
          <a:lstStyle/>
          <a:p>
            <a:pPr algn="r"/>
            <a:r>
              <a:rPr lang="en-US" sz="4000" dirty="0">
                <a:solidFill>
                  <a:srgbClr val="FFFFFF"/>
                </a:solidFill>
              </a:rPr>
              <a:t>Read/Write Pointers </a:t>
            </a:r>
            <a:br>
              <a:rPr lang="en-US" sz="4000" dirty="0">
                <a:solidFill>
                  <a:srgbClr val="FFFFFF"/>
                </a:solidFill>
              </a:rPr>
            </a:br>
            <a:r>
              <a:rPr lang="en-US" sz="4000" dirty="0">
                <a:solidFill>
                  <a:srgbClr val="FFFFFF"/>
                </a:solidFill>
              </a:rPr>
              <a:t>in Action</a:t>
            </a:r>
          </a:p>
        </p:txBody>
      </p:sp>
      <p:sp>
        <p:nvSpPr>
          <p:cNvPr id="66" name="Rectangle 65">
            <a:extLst>
              <a:ext uri="{FF2B5EF4-FFF2-40B4-BE49-F238E27FC236}">
                <a16:creationId xmlns:a16="http://schemas.microsoft.com/office/drawing/2014/main" id="{4AF746F9-E85F-4BED-9D7E-562262E8B3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55490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cxnSp>
        <p:nvCxnSpPr>
          <p:cNvPr id="67" name="Straight Connector 66">
            <a:extLst>
              <a:ext uri="{FF2B5EF4-FFF2-40B4-BE49-F238E27FC236}">
                <a16:creationId xmlns:a16="http://schemas.microsoft.com/office/drawing/2014/main" id="{55646586-8E5D-4A2B-BDA9-01CE28AC89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0770" y="5247564"/>
            <a:ext cx="0" cy="87345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4ABDB53-E44C-7544-FB5D-A0533B35BE3E}"/>
              </a:ext>
            </a:extLst>
          </p:cNvPr>
          <p:cNvSpPr>
            <a:spLocks noGrp="1"/>
          </p:cNvSpPr>
          <p:nvPr>
            <p:ph idx="1"/>
          </p:nvPr>
        </p:nvSpPr>
        <p:spPr>
          <a:xfrm>
            <a:off x="6064301" y="4905300"/>
            <a:ext cx="5493699" cy="1554485"/>
          </a:xfrm>
        </p:spPr>
        <p:txBody>
          <a:bodyPr vert="horz" lIns="91440" tIns="45720" rIns="91440" bIns="45720" rtlCol="0" anchor="ctr">
            <a:normAutofit/>
          </a:bodyPr>
          <a:lstStyle/>
          <a:p>
            <a:pPr marL="0" lvl="1" indent="0">
              <a:spcBef>
                <a:spcPts val="1200"/>
              </a:spcBef>
              <a:spcAft>
                <a:spcPts val="200"/>
              </a:spcAft>
              <a:buSzPct val="100000"/>
              <a:buNone/>
            </a:pPr>
            <a:r>
              <a:rPr lang="en-US" cap="all" spc="200" dirty="0">
                <a:solidFill>
                  <a:srgbClr val="FFFFFF"/>
                </a:solidFill>
                <a:latin typeface="+mj-lt"/>
              </a:rPr>
              <a:t>Read finds new values</a:t>
            </a:r>
          </a:p>
          <a:p>
            <a:pPr marL="0" lvl="1" indent="0">
              <a:spcBef>
                <a:spcPts val="1200"/>
              </a:spcBef>
              <a:spcAft>
                <a:spcPts val="200"/>
              </a:spcAft>
              <a:buSzPct val="100000"/>
              <a:buNone/>
            </a:pPr>
            <a:r>
              <a:rPr lang="en-US" cap="all" spc="200" dirty="0">
                <a:solidFill>
                  <a:srgbClr val="FFFFFF"/>
                </a:solidFill>
                <a:latin typeface="+mj-lt"/>
              </a:rPr>
              <a:t>write tracks where to save them</a:t>
            </a:r>
          </a:p>
        </p:txBody>
      </p:sp>
    </p:spTree>
    <p:extLst>
      <p:ext uri="{BB962C8B-B14F-4D97-AF65-F5344CB8AC3E}">
        <p14:creationId xmlns:p14="http://schemas.microsoft.com/office/powerpoint/2010/main" val="264538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943C2-6781-A017-10B7-CE88772AF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849E1-7FAD-4ECE-B8EE-237B53522B5B}"/>
              </a:ext>
            </a:extLst>
          </p:cNvPr>
          <p:cNvSpPr>
            <a:spLocks noGrp="1"/>
          </p:cNvSpPr>
          <p:nvPr>
            <p:ph type="title"/>
          </p:nvPr>
        </p:nvSpPr>
        <p:spPr/>
        <p:txBody>
          <a:bodyPr/>
          <a:lstStyle/>
          <a:p>
            <a:r>
              <a:rPr lang="en-IE" dirty="0"/>
              <a:t>Sample Implementation</a:t>
            </a:r>
          </a:p>
        </p:txBody>
      </p:sp>
      <p:grpSp>
        <p:nvGrpSpPr>
          <p:cNvPr id="11" name="Group 10">
            <a:extLst>
              <a:ext uri="{FF2B5EF4-FFF2-40B4-BE49-F238E27FC236}">
                <a16:creationId xmlns:a16="http://schemas.microsoft.com/office/drawing/2014/main" id="{36F72E9E-FB7B-EE46-A7DA-1B47119B29DE}"/>
              </a:ext>
            </a:extLst>
          </p:cNvPr>
          <p:cNvGrpSpPr/>
          <p:nvPr/>
        </p:nvGrpSpPr>
        <p:grpSpPr>
          <a:xfrm>
            <a:off x="7194176" y="2166894"/>
            <a:ext cx="3961504" cy="2842135"/>
            <a:chOff x="7194176" y="2469453"/>
            <a:chExt cx="3961504" cy="2842135"/>
          </a:xfrm>
        </p:grpSpPr>
        <p:sp>
          <p:nvSpPr>
            <p:cNvPr id="7" name="Rounded Rectangle 22">
              <a:extLst>
                <a:ext uri="{FF2B5EF4-FFF2-40B4-BE49-F238E27FC236}">
                  <a16:creationId xmlns:a16="http://schemas.microsoft.com/office/drawing/2014/main" id="{CFEBDD85-6DB4-A3FC-6B14-1814A83C7A31}"/>
                </a:ext>
              </a:extLst>
            </p:cNvPr>
            <p:cNvSpPr/>
            <p:nvPr/>
          </p:nvSpPr>
          <p:spPr>
            <a:xfrm>
              <a:off x="7194176" y="2951628"/>
              <a:ext cx="3961504" cy="855771"/>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spcAft>
                  <a:spcPts val="700"/>
                </a:spcAft>
              </a:pPr>
              <a:r>
                <a:rPr lang="en-IE" sz="1700" b="1" dirty="0">
                  <a:solidFill>
                    <a:schemeClr val="accent2">
                      <a:lumMod val="40000"/>
                      <a:lumOff val="60000"/>
                    </a:schemeClr>
                  </a:solidFill>
                  <a:latin typeface="Aptos"/>
                </a:rPr>
                <a:t>Input</a:t>
              </a:r>
              <a:r>
                <a:rPr lang="en-IE" sz="1700" b="1" dirty="0">
                  <a:solidFill>
                    <a:schemeClr val="bg1">
                      <a:lumMod val="95000"/>
                    </a:schemeClr>
                  </a:solidFill>
                  <a:latin typeface="Aptos"/>
                </a:rPr>
                <a:t> </a:t>
              </a:r>
              <a:r>
                <a:rPr lang="en-IE" sz="1700" b="1" dirty="0">
                  <a:solidFill>
                    <a:schemeClr val="accent2">
                      <a:lumMod val="40000"/>
                      <a:lumOff val="60000"/>
                    </a:schemeClr>
                  </a:solidFill>
                  <a:latin typeface="Aptos"/>
                </a:rPr>
                <a:t>assumption</a:t>
              </a:r>
              <a:r>
                <a:rPr lang="en-IE" sz="1700" b="1" dirty="0">
                  <a:solidFill>
                    <a:schemeClr val="bg1">
                      <a:lumMod val="95000"/>
                    </a:schemeClr>
                  </a:solidFill>
                  <a:latin typeface="Aptos"/>
                </a:rPr>
                <a:t>: </a:t>
              </a:r>
            </a:p>
            <a:p>
              <a:pPr>
                <a:spcAft>
                  <a:spcPts val="700"/>
                </a:spcAft>
              </a:pPr>
              <a:r>
                <a:rPr lang="en-IE" sz="1700" dirty="0">
                  <a:solidFill>
                    <a:schemeClr val="bg1">
                      <a:lumMod val="95000"/>
                    </a:schemeClr>
                  </a:solidFill>
                  <a:latin typeface="Aptos"/>
                </a:rPr>
                <a:t>Data is assumed to be in sorted order</a:t>
              </a:r>
              <a:endParaRPr sz="1700" dirty="0">
                <a:solidFill>
                  <a:schemeClr val="bg1">
                    <a:lumMod val="95000"/>
                  </a:schemeClr>
                </a:solidFill>
                <a:latin typeface="Aptos"/>
              </a:endParaRPr>
            </a:p>
          </p:txBody>
        </p:sp>
        <p:sp>
          <p:nvSpPr>
            <p:cNvPr id="9" name="Rounded Rectangle 22">
              <a:extLst>
                <a:ext uri="{FF2B5EF4-FFF2-40B4-BE49-F238E27FC236}">
                  <a16:creationId xmlns:a16="http://schemas.microsoft.com/office/drawing/2014/main" id="{2A800320-D6C5-A072-618C-75F12C73FF02}"/>
                </a:ext>
              </a:extLst>
            </p:cNvPr>
            <p:cNvSpPr/>
            <p:nvPr/>
          </p:nvSpPr>
          <p:spPr>
            <a:xfrm>
              <a:off x="7194176" y="4371639"/>
              <a:ext cx="3961504" cy="939949"/>
            </a:xfrm>
            <a:prstGeom prst="roundRect">
              <a:avLst/>
            </a:prstGeom>
            <a:solidFill>
              <a:schemeClr val="bg1">
                <a:lumMod val="65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spcAft>
                  <a:spcPts val="700"/>
                </a:spcAft>
              </a:pPr>
              <a:r>
                <a:rPr lang="en-IE" sz="1700" b="1" dirty="0">
                  <a:solidFill>
                    <a:schemeClr val="accent2">
                      <a:lumMod val="40000"/>
                      <a:lumOff val="60000"/>
                    </a:schemeClr>
                  </a:solidFill>
                  <a:latin typeface="Aptos"/>
                </a:rPr>
                <a:t>Return</a:t>
              </a:r>
              <a:r>
                <a:rPr lang="en-IE" sz="1700" b="1" dirty="0">
                  <a:solidFill>
                    <a:schemeClr val="bg1">
                      <a:lumMod val="95000"/>
                    </a:schemeClr>
                  </a:solidFill>
                  <a:latin typeface="Aptos"/>
                </a:rPr>
                <a:t> </a:t>
              </a:r>
              <a:r>
                <a:rPr lang="en-IE" sz="1700" b="1" dirty="0">
                  <a:solidFill>
                    <a:schemeClr val="accent2">
                      <a:lumMod val="40000"/>
                      <a:lumOff val="60000"/>
                    </a:schemeClr>
                  </a:solidFill>
                  <a:latin typeface="Aptos"/>
                </a:rPr>
                <a:t>information</a:t>
              </a:r>
              <a:r>
                <a:rPr lang="en-IE" sz="1700" b="1" dirty="0">
                  <a:solidFill>
                    <a:schemeClr val="bg1">
                      <a:lumMod val="95000"/>
                    </a:schemeClr>
                  </a:solidFill>
                  <a:latin typeface="Aptos"/>
                </a:rPr>
                <a:t>: </a:t>
              </a:r>
            </a:p>
            <a:p>
              <a:pPr>
                <a:spcAft>
                  <a:spcPts val="700"/>
                </a:spcAft>
              </a:pPr>
              <a:r>
                <a:rPr lang="en-IE" sz="1700" dirty="0">
                  <a:solidFill>
                    <a:schemeClr val="bg1">
                      <a:lumMod val="95000"/>
                    </a:schemeClr>
                  </a:solidFill>
                  <a:latin typeface="Aptos"/>
                </a:rPr>
                <a:t>We return a </a:t>
              </a:r>
              <a:r>
                <a:rPr lang="en-IE" sz="1700" b="1" i="1" dirty="0">
                  <a:solidFill>
                    <a:schemeClr val="bg1">
                      <a:lumMod val="95000"/>
                    </a:schemeClr>
                  </a:solidFill>
                  <a:latin typeface="Aptos"/>
                </a:rPr>
                <a:t>count</a:t>
              </a:r>
              <a:r>
                <a:rPr lang="en-IE" sz="1700" dirty="0">
                  <a:solidFill>
                    <a:schemeClr val="bg1">
                      <a:lumMod val="95000"/>
                    </a:schemeClr>
                  </a:solidFill>
                  <a:latin typeface="Aptos"/>
                </a:rPr>
                <a:t> of real data, </a:t>
              </a:r>
              <a:r>
                <a:rPr lang="en-IE" sz="1700" u="sng" dirty="0">
                  <a:solidFill>
                    <a:schemeClr val="bg1">
                      <a:lumMod val="95000"/>
                    </a:schemeClr>
                  </a:solidFill>
                  <a:latin typeface="Aptos"/>
                </a:rPr>
                <a:t>not</a:t>
              </a:r>
              <a:r>
                <a:rPr lang="en-IE" sz="1700" dirty="0">
                  <a:solidFill>
                    <a:schemeClr val="bg1">
                      <a:lumMod val="95000"/>
                    </a:schemeClr>
                  </a:solidFill>
                  <a:latin typeface="Aptos"/>
                </a:rPr>
                <a:t> the array itself</a:t>
              </a:r>
              <a:endParaRPr sz="1700" dirty="0">
                <a:solidFill>
                  <a:schemeClr val="bg1">
                    <a:lumMod val="95000"/>
                  </a:schemeClr>
                </a:solidFill>
                <a:latin typeface="Aptos"/>
              </a:endParaRPr>
            </a:p>
          </p:txBody>
        </p:sp>
        <p:sp>
          <p:nvSpPr>
            <p:cNvPr id="10" name="TextBox 9">
              <a:extLst>
                <a:ext uri="{FF2B5EF4-FFF2-40B4-BE49-F238E27FC236}">
                  <a16:creationId xmlns:a16="http://schemas.microsoft.com/office/drawing/2014/main" id="{0196027D-50FB-DC25-BCEA-C2B2578318D0}"/>
                </a:ext>
              </a:extLst>
            </p:cNvPr>
            <p:cNvSpPr txBox="1"/>
            <p:nvPr/>
          </p:nvSpPr>
          <p:spPr>
            <a:xfrm>
              <a:off x="8268077" y="2469453"/>
              <a:ext cx="1813702" cy="400110"/>
            </a:xfrm>
            <a:prstGeom prst="rect">
              <a:avLst/>
            </a:prstGeom>
            <a:noFill/>
          </p:spPr>
          <p:txBody>
            <a:bodyPr wrap="none" rtlCol="0">
              <a:spAutoFit/>
            </a:bodyPr>
            <a:lstStyle/>
            <a:p>
              <a:r>
                <a:rPr lang="en-IE" sz="2000" dirty="0">
                  <a:latin typeface="Abadi" panose="020B0604020104020204" pitchFamily="34" charset="0"/>
                </a:rPr>
                <a:t>Points to Note:</a:t>
              </a:r>
            </a:p>
          </p:txBody>
        </p:sp>
      </p:grpSp>
      <p:pic>
        <p:nvPicPr>
          <p:cNvPr id="8" name="Picture 7">
            <a:extLst>
              <a:ext uri="{FF2B5EF4-FFF2-40B4-BE49-F238E27FC236}">
                <a16:creationId xmlns:a16="http://schemas.microsoft.com/office/drawing/2014/main" id="{B3C22955-7569-99A3-8867-3D8252CE308B}"/>
              </a:ext>
            </a:extLst>
          </p:cNvPr>
          <p:cNvPicPr>
            <a:picLocks noChangeAspect="1"/>
          </p:cNvPicPr>
          <p:nvPr/>
        </p:nvPicPr>
        <p:blipFill>
          <a:blip r:embed="rId2"/>
          <a:stretch>
            <a:fillRect/>
          </a:stretch>
        </p:blipFill>
        <p:spPr>
          <a:xfrm>
            <a:off x="1036320" y="1837177"/>
            <a:ext cx="5364978" cy="4304316"/>
          </a:xfrm>
          <a:prstGeom prst="rect">
            <a:avLst/>
          </a:prstGeom>
        </p:spPr>
      </p:pic>
      <p:sp>
        <p:nvSpPr>
          <p:cNvPr id="13" name="Rectangle: Rounded Corners 12">
            <a:extLst>
              <a:ext uri="{FF2B5EF4-FFF2-40B4-BE49-F238E27FC236}">
                <a16:creationId xmlns:a16="http://schemas.microsoft.com/office/drawing/2014/main" id="{8FB2EC3E-E21E-DAFB-E2AB-D63265152E8E}"/>
              </a:ext>
            </a:extLst>
          </p:cNvPr>
          <p:cNvSpPr/>
          <p:nvPr/>
        </p:nvSpPr>
        <p:spPr>
          <a:xfrm>
            <a:off x="3957917" y="5544513"/>
            <a:ext cx="4276165" cy="6325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Implementation: </a:t>
            </a:r>
            <a:r>
              <a:rPr lang="en-IE" dirty="0" err="1"/>
              <a:t>b_two_pointer.utils</a:t>
            </a:r>
            <a:r>
              <a:rPr lang="en-IE" dirty="0"/>
              <a:t>/ArrayUtils.java</a:t>
            </a:r>
          </a:p>
        </p:txBody>
      </p:sp>
    </p:spTree>
    <p:extLst>
      <p:ext uri="{BB962C8B-B14F-4D97-AF65-F5344CB8AC3E}">
        <p14:creationId xmlns:p14="http://schemas.microsoft.com/office/powerpoint/2010/main" val="2333958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6CE1C-666F-CE4C-6847-644D341EE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F0175-C5DE-2E95-5939-437BB4FE4E31}"/>
              </a:ext>
            </a:extLst>
          </p:cNvPr>
          <p:cNvSpPr>
            <a:spLocks noGrp="1"/>
          </p:cNvSpPr>
          <p:nvPr>
            <p:ph type="title"/>
          </p:nvPr>
        </p:nvSpPr>
        <p:spPr/>
        <p:txBody>
          <a:bodyPr>
            <a:normAutofit/>
          </a:bodyPr>
          <a:lstStyle/>
          <a:p>
            <a:r>
              <a:rPr lang="en-IE" dirty="0"/>
              <a:t>Brute Force vs Read-Write Approach: </a:t>
            </a:r>
            <a:br>
              <a:rPr lang="en-IE" dirty="0"/>
            </a:br>
            <a:r>
              <a:rPr lang="en-IE" dirty="0"/>
              <a:t>Complexity Comparison</a:t>
            </a:r>
          </a:p>
        </p:txBody>
      </p:sp>
      <p:sp>
        <p:nvSpPr>
          <p:cNvPr id="3" name="Content Placeholder 2">
            <a:extLst>
              <a:ext uri="{FF2B5EF4-FFF2-40B4-BE49-F238E27FC236}">
                <a16:creationId xmlns:a16="http://schemas.microsoft.com/office/drawing/2014/main" id="{E0F8C6B8-BA6A-8DAA-F6AE-EA55AC613AE3}"/>
              </a:ext>
            </a:extLst>
          </p:cNvPr>
          <p:cNvSpPr>
            <a:spLocks noGrp="1"/>
          </p:cNvSpPr>
          <p:nvPr>
            <p:ph idx="1"/>
          </p:nvPr>
        </p:nvSpPr>
        <p:spPr>
          <a:xfrm>
            <a:off x="1097280" y="1845734"/>
            <a:ext cx="10058400" cy="1630331"/>
          </a:xfrm>
        </p:spPr>
        <p:txBody>
          <a:bodyPr>
            <a:normAutofit/>
          </a:bodyPr>
          <a:lstStyle/>
          <a:p>
            <a:pPr lvl="1"/>
            <a:r>
              <a:rPr lang="en-IE" sz="3200" dirty="0"/>
              <a:t>Massive difference in complexity categorisation:</a:t>
            </a:r>
          </a:p>
          <a:p>
            <a:pPr lvl="2"/>
            <a:r>
              <a:rPr lang="en-IE" sz="2800" dirty="0"/>
              <a:t>Read-write approach: </a:t>
            </a:r>
            <a:r>
              <a:rPr lang="en-IE" sz="2800" u="sng" dirty="0">
                <a:solidFill>
                  <a:srgbClr val="FF0000"/>
                </a:solidFill>
              </a:rPr>
              <a:t>Linear</a:t>
            </a:r>
            <a:r>
              <a:rPr lang="en-IE" sz="2800" dirty="0"/>
              <a:t> complexity</a:t>
            </a:r>
            <a:endParaRPr lang="en-IE" sz="2800" dirty="0">
              <a:solidFill>
                <a:srgbClr val="FF0000"/>
              </a:solidFill>
            </a:endParaRPr>
          </a:p>
          <a:p>
            <a:pPr lvl="2"/>
            <a:r>
              <a:rPr lang="en-IE" sz="2800" dirty="0"/>
              <a:t>Brute force approach: </a:t>
            </a:r>
            <a:r>
              <a:rPr lang="en-IE" sz="2800" b="1" dirty="0">
                <a:solidFill>
                  <a:srgbClr val="FF0000"/>
                </a:solidFill>
              </a:rPr>
              <a:t>Quadratic</a:t>
            </a:r>
            <a:r>
              <a:rPr lang="en-IE" sz="2800" dirty="0"/>
              <a:t> complexity</a:t>
            </a:r>
            <a:endParaRPr lang="en-IE" sz="2800" dirty="0">
              <a:solidFill>
                <a:srgbClr val="FF0000"/>
              </a:solidFill>
            </a:endParaRPr>
          </a:p>
          <a:p>
            <a:pPr lvl="2"/>
            <a:endParaRPr lang="en-IE" sz="2800" dirty="0">
              <a:solidFill>
                <a:srgbClr val="FF0000"/>
              </a:solidFill>
            </a:endParaRPr>
          </a:p>
          <a:p>
            <a:pPr lvl="1"/>
            <a:endParaRPr lang="en-IE" sz="3200" dirty="0"/>
          </a:p>
        </p:txBody>
      </p:sp>
      <p:sp>
        <p:nvSpPr>
          <p:cNvPr id="5" name="Rounded Rectangle 31">
            <a:extLst>
              <a:ext uri="{FF2B5EF4-FFF2-40B4-BE49-F238E27FC236}">
                <a16:creationId xmlns:a16="http://schemas.microsoft.com/office/drawing/2014/main" id="{6D3BC221-939B-03B3-5B8D-53053DB01D8F}"/>
              </a:ext>
            </a:extLst>
          </p:cNvPr>
          <p:cNvSpPr/>
          <p:nvPr/>
        </p:nvSpPr>
        <p:spPr>
          <a:xfrm>
            <a:off x="1097280" y="3476065"/>
            <a:ext cx="3784002" cy="2312893"/>
          </a:xfrm>
          <a:prstGeom prst="roundRect">
            <a:avLst/>
          </a:prstGeom>
          <a:solidFill>
            <a:schemeClr val="bg1">
              <a:lumMod val="9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2400" b="1" u="sng" dirty="0">
                <a:solidFill>
                  <a:srgbClr val="38D1E0"/>
                </a:solidFill>
              </a:rPr>
              <a:t>Brute Force</a:t>
            </a:r>
          </a:p>
          <a:p>
            <a:pPr>
              <a:spcAft>
                <a:spcPts val="700"/>
              </a:spcAft>
            </a:pPr>
            <a:r>
              <a:rPr lang="en-IE" sz="2000" dirty="0">
                <a:solidFill>
                  <a:schemeClr val="tx2">
                    <a:lumMod val="75000"/>
                  </a:schemeClr>
                </a:solidFill>
              </a:rPr>
              <a:t>Nested loops shift overlapping subsections down in array</a:t>
            </a:r>
          </a:p>
          <a:p>
            <a:pPr>
              <a:spcAft>
                <a:spcPts val="700"/>
              </a:spcAft>
              <a:buClr>
                <a:schemeClr val="accent1"/>
              </a:buClr>
              <a:buSzPct val="100000"/>
            </a:pPr>
            <a:r>
              <a:rPr lang="en-IE" sz="2000" dirty="0">
                <a:solidFill>
                  <a:schemeClr val="tx2">
                    <a:lumMod val="75000"/>
                  </a:schemeClr>
                </a:solidFill>
              </a:rPr>
              <a:t>Time cost: </a:t>
            </a:r>
            <a:r>
              <a:rPr lang="en-IE" sz="2000" dirty="0">
                <a:solidFill>
                  <a:srgbClr val="FF0000"/>
                </a:solidFill>
              </a:rPr>
              <a:t>O(n</a:t>
            </a:r>
            <a:r>
              <a:rPr lang="en-IE" sz="2000" baseline="30000" dirty="0">
                <a:solidFill>
                  <a:srgbClr val="FF0000"/>
                </a:solidFill>
              </a:rPr>
              <a:t>2</a:t>
            </a:r>
            <a:r>
              <a:rPr lang="en-IE" sz="2000" dirty="0">
                <a:solidFill>
                  <a:srgbClr val="FF0000"/>
                </a:solidFill>
              </a:rPr>
              <a:t>)</a:t>
            </a:r>
            <a:endParaRPr sz="1600" dirty="0">
              <a:solidFill>
                <a:schemeClr val="tx2">
                  <a:lumMod val="75000"/>
                </a:schemeClr>
              </a:solidFill>
            </a:endParaRPr>
          </a:p>
        </p:txBody>
      </p:sp>
      <p:sp>
        <p:nvSpPr>
          <p:cNvPr id="7" name="Rounded Rectangle 31">
            <a:extLst>
              <a:ext uri="{FF2B5EF4-FFF2-40B4-BE49-F238E27FC236}">
                <a16:creationId xmlns:a16="http://schemas.microsoft.com/office/drawing/2014/main" id="{CB490C5C-CB60-8FE8-E204-07D08EFCE114}"/>
              </a:ext>
            </a:extLst>
          </p:cNvPr>
          <p:cNvSpPr/>
          <p:nvPr/>
        </p:nvSpPr>
        <p:spPr>
          <a:xfrm>
            <a:off x="5775512" y="3476066"/>
            <a:ext cx="5380168" cy="2312892"/>
          </a:xfrm>
          <a:prstGeom prst="roundRect">
            <a:avLst/>
          </a:prstGeom>
          <a:solidFill>
            <a:schemeClr val="bg1">
              <a:lumMod val="95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lang="en-IE" sz="2400" b="1" u="sng" dirty="0">
                <a:solidFill>
                  <a:srgbClr val="7030A0"/>
                </a:solidFill>
              </a:rPr>
              <a:t>Two Pointers</a:t>
            </a:r>
          </a:p>
          <a:p>
            <a:r>
              <a:rPr lang="en-IE" sz="2000" dirty="0">
                <a:solidFill>
                  <a:schemeClr val="tx2">
                    <a:lumMod val="75000"/>
                  </a:schemeClr>
                </a:solidFill>
              </a:rPr>
              <a:t>Write pointer moves forward when a new value is saved</a:t>
            </a:r>
          </a:p>
          <a:p>
            <a:r>
              <a:rPr lang="en-IE" sz="2000" dirty="0">
                <a:solidFill>
                  <a:schemeClr val="tx2">
                    <a:lumMod val="75000"/>
                  </a:schemeClr>
                </a:solidFill>
              </a:rPr>
              <a:t>Read pointer moves forward on every iteration</a:t>
            </a:r>
          </a:p>
          <a:p>
            <a:endParaRPr lang="en-IE" sz="1200" dirty="0">
              <a:solidFill>
                <a:schemeClr val="tx2">
                  <a:lumMod val="75000"/>
                </a:schemeClr>
              </a:solidFill>
            </a:endParaRPr>
          </a:p>
          <a:p>
            <a:r>
              <a:rPr lang="en-IE" sz="2000" dirty="0">
                <a:solidFill>
                  <a:schemeClr val="tx2">
                    <a:lumMod val="75000"/>
                  </a:schemeClr>
                </a:solidFill>
              </a:rPr>
              <a:t>Max number of steps taken: n</a:t>
            </a:r>
          </a:p>
          <a:p>
            <a:pPr>
              <a:spcAft>
                <a:spcPts val="700"/>
              </a:spcAft>
              <a:buClr>
                <a:schemeClr val="accent1"/>
              </a:buClr>
              <a:buSzPct val="100000"/>
            </a:pPr>
            <a:r>
              <a:rPr lang="en-IE" sz="2000" dirty="0">
                <a:solidFill>
                  <a:schemeClr val="tx2">
                    <a:lumMod val="75000"/>
                  </a:schemeClr>
                </a:solidFill>
              </a:rPr>
              <a:t>Time cost: </a:t>
            </a:r>
            <a:r>
              <a:rPr lang="en-IE" sz="2000" dirty="0">
                <a:solidFill>
                  <a:srgbClr val="FF0000"/>
                </a:solidFill>
              </a:rPr>
              <a:t>O(n)</a:t>
            </a:r>
            <a:endParaRPr sz="1600" dirty="0">
              <a:solidFill>
                <a:schemeClr val="tx2">
                  <a:lumMod val="75000"/>
                </a:schemeClr>
              </a:solidFill>
            </a:endParaRPr>
          </a:p>
        </p:txBody>
      </p:sp>
      <p:sp>
        <p:nvSpPr>
          <p:cNvPr id="9" name="TextBox 8">
            <a:extLst>
              <a:ext uri="{FF2B5EF4-FFF2-40B4-BE49-F238E27FC236}">
                <a16:creationId xmlns:a16="http://schemas.microsoft.com/office/drawing/2014/main" id="{ADA8DCEC-D2FF-D6CC-143A-C875A9010779}"/>
              </a:ext>
            </a:extLst>
          </p:cNvPr>
          <p:cNvSpPr txBox="1"/>
          <p:nvPr/>
        </p:nvSpPr>
        <p:spPr>
          <a:xfrm>
            <a:off x="728831" y="5876473"/>
            <a:ext cx="10515600" cy="400110"/>
          </a:xfrm>
          <a:prstGeom prst="rect">
            <a:avLst/>
          </a:prstGeom>
          <a:noFill/>
        </p:spPr>
        <p:txBody>
          <a:bodyPr wrap="square" lIns="45720" rIns="45720" anchor="t">
            <a:spAutoFit/>
          </a:bodyPr>
          <a:lstStyle/>
          <a:p>
            <a:pPr algn="l"/>
            <a:r>
              <a:rPr lang="en-IE" sz="2000" b="0" dirty="0">
                <a:solidFill>
                  <a:schemeClr val="tx1">
                    <a:lumMod val="75000"/>
                    <a:lumOff val="25000"/>
                  </a:schemeClr>
                </a:solidFill>
              </a:rPr>
              <a:t>Space costs: O(1) extra space </a:t>
            </a:r>
            <a:r>
              <a:rPr lang="en-IE" sz="2000" dirty="0">
                <a:solidFill>
                  <a:schemeClr val="tx1">
                    <a:lumMod val="75000"/>
                    <a:lumOff val="25000"/>
                  </a:schemeClr>
                </a:solidFill>
              </a:rPr>
              <a:t>needed for both, to cover pointers used</a:t>
            </a:r>
            <a:endParaRPr sz="2000" b="0" dirty="0">
              <a:solidFill>
                <a:schemeClr val="tx1">
                  <a:lumMod val="75000"/>
                  <a:lumOff val="25000"/>
                </a:schemeClr>
              </a:solidFill>
            </a:endParaRPr>
          </a:p>
        </p:txBody>
      </p:sp>
    </p:spTree>
    <p:extLst>
      <p:ext uri="{BB962C8B-B14F-4D97-AF65-F5344CB8AC3E}">
        <p14:creationId xmlns:p14="http://schemas.microsoft.com/office/powerpoint/2010/main" val="11806549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6B1B4-03CF-829C-FAD8-50313AE0AC4C}"/>
              </a:ext>
            </a:extLst>
          </p:cNvPr>
          <p:cNvSpPr>
            <a:spLocks noGrp="1"/>
          </p:cNvSpPr>
          <p:nvPr>
            <p:ph type="title"/>
          </p:nvPr>
        </p:nvSpPr>
        <p:spPr/>
        <p:txBody>
          <a:bodyPr/>
          <a:lstStyle/>
          <a:p>
            <a:r>
              <a:rPr lang="en-IE" dirty="0"/>
              <a:t>How to Recognise a Two-Pointer Problem</a:t>
            </a:r>
          </a:p>
        </p:txBody>
      </p:sp>
      <p:sp>
        <p:nvSpPr>
          <p:cNvPr id="3" name="Content Placeholder 2">
            <a:extLst>
              <a:ext uri="{FF2B5EF4-FFF2-40B4-BE49-F238E27FC236}">
                <a16:creationId xmlns:a16="http://schemas.microsoft.com/office/drawing/2014/main" id="{BFE3D943-9192-10F7-B39C-48A4B528395A}"/>
              </a:ext>
            </a:extLst>
          </p:cNvPr>
          <p:cNvSpPr>
            <a:spLocks noGrp="1"/>
          </p:cNvSpPr>
          <p:nvPr>
            <p:ph idx="1"/>
          </p:nvPr>
        </p:nvSpPr>
        <p:spPr>
          <a:xfrm>
            <a:off x="1097280" y="1845734"/>
            <a:ext cx="10058400" cy="2067360"/>
          </a:xfrm>
        </p:spPr>
        <p:txBody>
          <a:bodyPr>
            <a:normAutofit fontScale="92500" lnSpcReduction="20000"/>
          </a:bodyPr>
          <a:lstStyle/>
          <a:p>
            <a:pPr lvl="1"/>
            <a:r>
              <a:rPr lang="en-US" sz="3200" dirty="0"/>
              <a:t>Two pointer problems use </a:t>
            </a:r>
            <a:r>
              <a:rPr lang="en-US" sz="3200" b="1" u="sng" dirty="0"/>
              <a:t>safe</a:t>
            </a:r>
            <a:r>
              <a:rPr lang="en-US" sz="3200" b="1" dirty="0"/>
              <a:t> </a:t>
            </a:r>
            <a:r>
              <a:rPr lang="en-US" sz="3200" dirty="0"/>
              <a:t>pointer movement to eliminate possibilities</a:t>
            </a:r>
          </a:p>
          <a:p>
            <a:pPr lvl="2"/>
            <a:r>
              <a:rPr lang="en-US" sz="2800" dirty="0">
                <a:solidFill>
                  <a:srgbClr val="FF0000"/>
                </a:solidFill>
              </a:rPr>
              <a:t>Safe movement is key – we need to know we won’t miss anything when ruling out data</a:t>
            </a:r>
          </a:p>
          <a:p>
            <a:pPr lvl="1"/>
            <a:endParaRPr lang="en-US" sz="600" dirty="0"/>
          </a:p>
          <a:p>
            <a:pPr lvl="1"/>
            <a:r>
              <a:rPr lang="en-US" sz="3200" dirty="0"/>
              <a:t>Common situations:</a:t>
            </a:r>
          </a:p>
        </p:txBody>
      </p:sp>
      <p:sp>
        <p:nvSpPr>
          <p:cNvPr id="5" name="Rectangle: Rounded Corners 4">
            <a:extLst>
              <a:ext uri="{FF2B5EF4-FFF2-40B4-BE49-F238E27FC236}">
                <a16:creationId xmlns:a16="http://schemas.microsoft.com/office/drawing/2014/main" id="{D28AB8B1-7C87-9492-ED5B-BEFEAB3EC3CD}"/>
              </a:ext>
            </a:extLst>
          </p:cNvPr>
          <p:cNvSpPr/>
          <p:nvPr/>
        </p:nvSpPr>
        <p:spPr>
          <a:xfrm>
            <a:off x="718971" y="3778624"/>
            <a:ext cx="3281081" cy="23666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sz="2400" dirty="0">
                <a:solidFill>
                  <a:schemeClr val="tx2">
                    <a:lumMod val="75000"/>
                  </a:schemeClr>
                </a:solidFill>
              </a:rPr>
              <a:t>Closing Window</a:t>
            </a:r>
            <a:endParaRPr lang="en-IE" sz="2400" dirty="0"/>
          </a:p>
          <a:p>
            <a:pPr algn="ctr"/>
            <a:endParaRPr lang="en-IE" sz="1400" dirty="0"/>
          </a:p>
          <a:p>
            <a:r>
              <a:rPr lang="en-IE" dirty="0"/>
              <a:t>Data is sorted/sortable</a:t>
            </a:r>
          </a:p>
          <a:p>
            <a:r>
              <a:rPr lang="en-IE" dirty="0"/>
              <a:t>Task is to identify pairs/triplets</a:t>
            </a:r>
          </a:p>
          <a:p>
            <a:r>
              <a:rPr lang="en-IE" dirty="0"/>
              <a:t>Task is symmetrical, e.g. identify palindrome</a:t>
            </a:r>
          </a:p>
        </p:txBody>
      </p:sp>
      <p:sp>
        <p:nvSpPr>
          <p:cNvPr id="7" name="Rectangle: Rounded Corners 6">
            <a:extLst>
              <a:ext uri="{FF2B5EF4-FFF2-40B4-BE49-F238E27FC236}">
                <a16:creationId xmlns:a16="http://schemas.microsoft.com/office/drawing/2014/main" id="{51C61438-1D91-B223-A866-9564C03CABED}"/>
              </a:ext>
            </a:extLst>
          </p:cNvPr>
          <p:cNvSpPr/>
          <p:nvPr/>
        </p:nvSpPr>
        <p:spPr>
          <a:xfrm>
            <a:off x="4314825" y="3778624"/>
            <a:ext cx="3562350" cy="23666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sz="2400" dirty="0">
                <a:solidFill>
                  <a:schemeClr val="tx2">
                    <a:lumMod val="75000"/>
                  </a:schemeClr>
                </a:solidFill>
              </a:rPr>
              <a:t>Sliding Window</a:t>
            </a:r>
          </a:p>
          <a:p>
            <a:pPr algn="ctr"/>
            <a:endParaRPr lang="en-IE" sz="1400" dirty="0"/>
          </a:p>
          <a:p>
            <a:r>
              <a:rPr lang="en-IE" dirty="0"/>
              <a:t>Working with continuous sections</a:t>
            </a:r>
          </a:p>
          <a:p>
            <a:r>
              <a:rPr lang="en-IE" dirty="0"/>
              <a:t>Examining for a specific property (sum, average, unique count etc)</a:t>
            </a:r>
          </a:p>
          <a:p>
            <a:r>
              <a:rPr lang="en-IE" dirty="0"/>
              <a:t>Find max, min, longest</a:t>
            </a:r>
          </a:p>
        </p:txBody>
      </p:sp>
      <p:sp>
        <p:nvSpPr>
          <p:cNvPr id="9" name="Rectangle: Rounded Corners 8">
            <a:extLst>
              <a:ext uri="{FF2B5EF4-FFF2-40B4-BE49-F238E27FC236}">
                <a16:creationId xmlns:a16="http://schemas.microsoft.com/office/drawing/2014/main" id="{62450944-34B2-F073-9C32-7D28A64042C5}"/>
              </a:ext>
            </a:extLst>
          </p:cNvPr>
          <p:cNvSpPr/>
          <p:nvPr/>
        </p:nvSpPr>
        <p:spPr>
          <a:xfrm>
            <a:off x="8191948" y="3778624"/>
            <a:ext cx="3104479" cy="23666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sz="2400" dirty="0">
                <a:solidFill>
                  <a:schemeClr val="tx2">
                    <a:lumMod val="75000"/>
                  </a:schemeClr>
                </a:solidFill>
              </a:rPr>
              <a:t>Read-Write</a:t>
            </a:r>
          </a:p>
          <a:p>
            <a:pPr algn="ctr"/>
            <a:endParaRPr lang="en-IE" sz="1400" dirty="0"/>
          </a:p>
          <a:p>
            <a:r>
              <a:rPr lang="en-IE" dirty="0"/>
              <a:t>Usually for in-place work</a:t>
            </a:r>
          </a:p>
          <a:p>
            <a:r>
              <a:rPr lang="en-IE" dirty="0"/>
              <a:t>Useful for filtering data, e.g. removing duplicates or a specific value</a:t>
            </a:r>
          </a:p>
        </p:txBody>
      </p:sp>
    </p:spTree>
    <p:extLst>
      <p:ext uri="{BB962C8B-B14F-4D97-AF65-F5344CB8AC3E}">
        <p14:creationId xmlns:p14="http://schemas.microsoft.com/office/powerpoint/2010/main" val="3094387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2EBC9-526D-42C4-29D0-D150543844D3}"/>
              </a:ext>
            </a:extLst>
          </p:cNvPr>
          <p:cNvSpPr>
            <a:spLocks noGrp="1"/>
          </p:cNvSpPr>
          <p:nvPr>
            <p:ph type="title"/>
          </p:nvPr>
        </p:nvSpPr>
        <p:spPr/>
        <p:txBody>
          <a:bodyPr/>
          <a:lstStyle/>
          <a:p>
            <a:r>
              <a:rPr lang="en-IE" dirty="0"/>
              <a:t>Decision Flow Chart:</a:t>
            </a:r>
            <a:br>
              <a:rPr lang="en-IE" dirty="0"/>
            </a:br>
            <a:r>
              <a:rPr lang="en-IE" dirty="0"/>
              <a:t>Which (If Any) Two-Pointer Should I Use?</a:t>
            </a:r>
          </a:p>
        </p:txBody>
      </p:sp>
      <p:grpSp>
        <p:nvGrpSpPr>
          <p:cNvPr id="69" name="Group 68">
            <a:extLst>
              <a:ext uri="{FF2B5EF4-FFF2-40B4-BE49-F238E27FC236}">
                <a16:creationId xmlns:a16="http://schemas.microsoft.com/office/drawing/2014/main" id="{2318EC9E-BA44-A3B3-8576-DA6508727390}"/>
              </a:ext>
            </a:extLst>
          </p:cNvPr>
          <p:cNvGrpSpPr/>
          <p:nvPr/>
        </p:nvGrpSpPr>
        <p:grpSpPr>
          <a:xfrm>
            <a:off x="1513711" y="1737360"/>
            <a:ext cx="9519179" cy="4529670"/>
            <a:chOff x="1513711" y="1737360"/>
            <a:chExt cx="9519179" cy="4529670"/>
          </a:xfrm>
        </p:grpSpPr>
        <p:sp>
          <p:nvSpPr>
            <p:cNvPr id="6" name="Flowchart: Alternate Process 5">
              <a:extLst>
                <a:ext uri="{FF2B5EF4-FFF2-40B4-BE49-F238E27FC236}">
                  <a16:creationId xmlns:a16="http://schemas.microsoft.com/office/drawing/2014/main" id="{D14F45E2-9CEA-DE68-1A08-2FC1036CD2F9}"/>
                </a:ext>
              </a:extLst>
            </p:cNvPr>
            <p:cNvSpPr/>
            <p:nvPr/>
          </p:nvSpPr>
          <p:spPr>
            <a:xfrm>
              <a:off x="1513711" y="2987162"/>
              <a:ext cx="1790700" cy="56432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Closing window</a:t>
              </a:r>
            </a:p>
          </p:txBody>
        </p:sp>
        <p:sp>
          <p:nvSpPr>
            <p:cNvPr id="10" name="Flowchart: Alternate Process 9">
              <a:extLst>
                <a:ext uri="{FF2B5EF4-FFF2-40B4-BE49-F238E27FC236}">
                  <a16:creationId xmlns:a16="http://schemas.microsoft.com/office/drawing/2014/main" id="{2D4F2D6E-1C05-0A50-3FF8-EF5FEB470BF8}"/>
                </a:ext>
              </a:extLst>
            </p:cNvPr>
            <p:cNvSpPr/>
            <p:nvPr/>
          </p:nvSpPr>
          <p:spPr>
            <a:xfrm>
              <a:off x="3462805" y="4244830"/>
              <a:ext cx="1790700" cy="56432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Sliding window</a:t>
              </a:r>
            </a:p>
          </p:txBody>
        </p:sp>
        <p:sp>
          <p:nvSpPr>
            <p:cNvPr id="12" name="Flowchart: Alternate Process 11">
              <a:extLst>
                <a:ext uri="{FF2B5EF4-FFF2-40B4-BE49-F238E27FC236}">
                  <a16:creationId xmlns:a16="http://schemas.microsoft.com/office/drawing/2014/main" id="{335878AE-4506-BD55-0474-81193C6B943F}"/>
                </a:ext>
              </a:extLst>
            </p:cNvPr>
            <p:cNvSpPr/>
            <p:nvPr/>
          </p:nvSpPr>
          <p:spPr>
            <a:xfrm>
              <a:off x="5501296" y="5559144"/>
              <a:ext cx="1790700" cy="564328"/>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Read-write</a:t>
              </a:r>
            </a:p>
          </p:txBody>
        </p:sp>
        <p:sp>
          <p:nvSpPr>
            <p:cNvPr id="13" name="TextBox 12">
              <a:extLst>
                <a:ext uri="{FF2B5EF4-FFF2-40B4-BE49-F238E27FC236}">
                  <a16:creationId xmlns:a16="http://schemas.microsoft.com/office/drawing/2014/main" id="{45A14CF8-3B70-FC55-3B0B-1D43453E6F00}"/>
                </a:ext>
              </a:extLst>
            </p:cNvPr>
            <p:cNvSpPr txBox="1"/>
            <p:nvPr/>
          </p:nvSpPr>
          <p:spPr>
            <a:xfrm>
              <a:off x="1750718" y="1737360"/>
              <a:ext cx="5531514" cy="400110"/>
            </a:xfrm>
            <a:prstGeom prst="rect">
              <a:avLst/>
            </a:prstGeom>
            <a:noFill/>
          </p:spPr>
          <p:txBody>
            <a:bodyPr wrap="none" rtlCol="0">
              <a:spAutoFit/>
            </a:bodyPr>
            <a:lstStyle/>
            <a:p>
              <a:r>
                <a:rPr lang="en-IE" sz="2000" dirty="0"/>
                <a:t>Is the data sorted and looking for a pair/symmetry?</a:t>
              </a:r>
            </a:p>
          </p:txBody>
        </p:sp>
        <p:sp>
          <p:nvSpPr>
            <p:cNvPr id="15" name="TextBox 14">
              <a:extLst>
                <a:ext uri="{FF2B5EF4-FFF2-40B4-BE49-F238E27FC236}">
                  <a16:creationId xmlns:a16="http://schemas.microsoft.com/office/drawing/2014/main" id="{CC1C714C-35B4-A277-8156-F456254638D7}"/>
                </a:ext>
              </a:extLst>
            </p:cNvPr>
            <p:cNvSpPr txBox="1"/>
            <p:nvPr/>
          </p:nvSpPr>
          <p:spPr>
            <a:xfrm>
              <a:off x="4343301" y="3059668"/>
              <a:ext cx="4342407" cy="400110"/>
            </a:xfrm>
            <a:prstGeom prst="rect">
              <a:avLst/>
            </a:prstGeom>
            <a:noFill/>
          </p:spPr>
          <p:txBody>
            <a:bodyPr wrap="none" rtlCol="0">
              <a:spAutoFit/>
            </a:bodyPr>
            <a:lstStyle/>
            <a:p>
              <a:r>
                <a:rPr lang="en-IE" sz="2000" dirty="0"/>
                <a:t>Are you analysing a continuous section?</a:t>
              </a:r>
            </a:p>
          </p:txBody>
        </p:sp>
        <p:sp>
          <p:nvSpPr>
            <p:cNvPr id="17" name="TextBox 16">
              <a:extLst>
                <a:ext uri="{FF2B5EF4-FFF2-40B4-BE49-F238E27FC236}">
                  <a16:creationId xmlns:a16="http://schemas.microsoft.com/office/drawing/2014/main" id="{B13DC422-E09C-26DD-791A-3DCB4238E76F}"/>
                </a:ext>
              </a:extLst>
            </p:cNvPr>
            <p:cNvSpPr txBox="1"/>
            <p:nvPr/>
          </p:nvSpPr>
          <p:spPr>
            <a:xfrm>
              <a:off x="6308422" y="4352494"/>
              <a:ext cx="4157677" cy="400110"/>
            </a:xfrm>
            <a:prstGeom prst="rect">
              <a:avLst/>
            </a:prstGeom>
            <a:noFill/>
          </p:spPr>
          <p:txBody>
            <a:bodyPr wrap="none" rtlCol="0">
              <a:spAutoFit/>
            </a:bodyPr>
            <a:lstStyle/>
            <a:p>
              <a:r>
                <a:rPr lang="en-IE" sz="2000" dirty="0"/>
                <a:t>Is it an in-place modification/filtering?</a:t>
              </a:r>
            </a:p>
          </p:txBody>
        </p:sp>
        <p:sp>
          <p:nvSpPr>
            <p:cNvPr id="19" name="TextBox 18">
              <a:extLst>
                <a:ext uri="{FF2B5EF4-FFF2-40B4-BE49-F238E27FC236}">
                  <a16:creationId xmlns:a16="http://schemas.microsoft.com/office/drawing/2014/main" id="{92705C3B-0937-1078-7544-0D4932E3CBA7}"/>
                </a:ext>
              </a:extLst>
            </p:cNvPr>
            <p:cNvSpPr txBox="1"/>
            <p:nvPr/>
          </p:nvSpPr>
          <p:spPr>
            <a:xfrm>
              <a:off x="9187256" y="5559144"/>
              <a:ext cx="1845634" cy="707886"/>
            </a:xfrm>
            <a:prstGeom prst="rect">
              <a:avLst/>
            </a:prstGeom>
            <a:noFill/>
          </p:spPr>
          <p:txBody>
            <a:bodyPr wrap="none" rtlCol="0">
              <a:spAutoFit/>
            </a:bodyPr>
            <a:lstStyle/>
            <a:p>
              <a:pPr algn="ctr"/>
              <a:r>
                <a:rPr lang="en-IE" sz="2000" dirty="0"/>
                <a:t>Try </a:t>
              </a:r>
            </a:p>
            <a:p>
              <a:pPr algn="ctr"/>
              <a:r>
                <a:rPr lang="en-IE" sz="2000" dirty="0"/>
                <a:t>something else!</a:t>
              </a:r>
            </a:p>
          </p:txBody>
        </p:sp>
        <p:sp>
          <p:nvSpPr>
            <p:cNvPr id="20" name="Flowchart: Decision 19">
              <a:extLst>
                <a:ext uri="{FF2B5EF4-FFF2-40B4-BE49-F238E27FC236}">
                  <a16:creationId xmlns:a16="http://schemas.microsoft.com/office/drawing/2014/main" id="{D869CDD4-3620-2858-B43A-79A42B2020B0}"/>
                </a:ext>
              </a:extLst>
            </p:cNvPr>
            <p:cNvSpPr/>
            <p:nvPr/>
          </p:nvSpPr>
          <p:spPr>
            <a:xfrm>
              <a:off x="4159688" y="2309682"/>
              <a:ext cx="699247" cy="369332"/>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cxnSp>
          <p:nvCxnSpPr>
            <p:cNvPr id="22" name="Straight Connector 21">
              <a:extLst>
                <a:ext uri="{FF2B5EF4-FFF2-40B4-BE49-F238E27FC236}">
                  <a16:creationId xmlns:a16="http://schemas.microsoft.com/office/drawing/2014/main" id="{490D7678-479A-5799-28D3-A9329C2E5F99}"/>
                </a:ext>
              </a:extLst>
            </p:cNvPr>
            <p:cNvCxnSpPr>
              <a:stCxn id="13" idx="2"/>
              <a:endCxn id="20" idx="0"/>
            </p:cNvCxnSpPr>
            <p:nvPr/>
          </p:nvCxnSpPr>
          <p:spPr>
            <a:xfrm flipH="1">
              <a:off x="4509312" y="2137470"/>
              <a:ext cx="7163" cy="1722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9911CBEB-E355-6685-4598-18C0F2B487AE}"/>
                </a:ext>
              </a:extLst>
            </p:cNvPr>
            <p:cNvCxnSpPr>
              <a:stCxn id="20" idx="1"/>
              <a:endCxn id="6" idx="0"/>
            </p:cNvCxnSpPr>
            <p:nvPr/>
          </p:nvCxnSpPr>
          <p:spPr>
            <a:xfrm rot="10800000" flipV="1">
              <a:off x="2409062" y="2494348"/>
              <a:ext cx="1750627" cy="49281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Flowchart: Decision 25">
              <a:extLst>
                <a:ext uri="{FF2B5EF4-FFF2-40B4-BE49-F238E27FC236}">
                  <a16:creationId xmlns:a16="http://schemas.microsoft.com/office/drawing/2014/main" id="{69904ECE-00A7-DFAC-59FA-81FF90375131}"/>
                </a:ext>
              </a:extLst>
            </p:cNvPr>
            <p:cNvSpPr/>
            <p:nvPr/>
          </p:nvSpPr>
          <p:spPr>
            <a:xfrm>
              <a:off x="6164881" y="3704332"/>
              <a:ext cx="699247" cy="369332"/>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cxnSp>
          <p:nvCxnSpPr>
            <p:cNvPr id="27" name="Straight Connector 26">
              <a:extLst>
                <a:ext uri="{FF2B5EF4-FFF2-40B4-BE49-F238E27FC236}">
                  <a16:creationId xmlns:a16="http://schemas.microsoft.com/office/drawing/2014/main" id="{4C6E8A82-C202-0044-421D-29F820550C8D}"/>
                </a:ext>
              </a:extLst>
            </p:cNvPr>
            <p:cNvCxnSpPr>
              <a:cxnSpLocks/>
              <a:stCxn id="15" idx="2"/>
              <a:endCxn id="26" idx="0"/>
            </p:cNvCxnSpPr>
            <p:nvPr/>
          </p:nvCxnSpPr>
          <p:spPr>
            <a:xfrm>
              <a:off x="6514505" y="3459778"/>
              <a:ext cx="0" cy="2445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7657D65F-5A71-95B3-101C-1A93A520B6DC}"/>
                </a:ext>
              </a:extLst>
            </p:cNvPr>
            <p:cNvCxnSpPr>
              <a:cxnSpLocks/>
              <a:endCxn id="10" idx="0"/>
            </p:cNvCxnSpPr>
            <p:nvPr/>
          </p:nvCxnSpPr>
          <p:spPr>
            <a:xfrm rot="10800000" flipV="1">
              <a:off x="4358155" y="3878832"/>
              <a:ext cx="1998738" cy="3659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Flowchart: Decision 30">
              <a:extLst>
                <a:ext uri="{FF2B5EF4-FFF2-40B4-BE49-F238E27FC236}">
                  <a16:creationId xmlns:a16="http://schemas.microsoft.com/office/drawing/2014/main" id="{A53BE9EE-51FE-408F-14B2-0EBA400EA7E0}"/>
                </a:ext>
              </a:extLst>
            </p:cNvPr>
            <p:cNvSpPr/>
            <p:nvPr/>
          </p:nvSpPr>
          <p:spPr>
            <a:xfrm>
              <a:off x="8039110" y="5009097"/>
              <a:ext cx="699247" cy="369332"/>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cxnSp>
          <p:nvCxnSpPr>
            <p:cNvPr id="32" name="Straight Connector 31">
              <a:extLst>
                <a:ext uri="{FF2B5EF4-FFF2-40B4-BE49-F238E27FC236}">
                  <a16:creationId xmlns:a16="http://schemas.microsoft.com/office/drawing/2014/main" id="{DE1413D8-BC86-795B-A095-E622996B1F1A}"/>
                </a:ext>
              </a:extLst>
            </p:cNvPr>
            <p:cNvCxnSpPr>
              <a:cxnSpLocks/>
              <a:stCxn id="17" idx="2"/>
              <a:endCxn id="31" idx="0"/>
            </p:cNvCxnSpPr>
            <p:nvPr/>
          </p:nvCxnSpPr>
          <p:spPr>
            <a:xfrm>
              <a:off x="8387261" y="4752604"/>
              <a:ext cx="1473"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B3A76658-6DE9-39A5-041E-7E6AF2D28F4E}"/>
                </a:ext>
              </a:extLst>
            </p:cNvPr>
            <p:cNvCxnSpPr>
              <a:cxnSpLocks/>
              <a:stCxn id="31" idx="1"/>
              <a:endCxn id="12" idx="0"/>
            </p:cNvCxnSpPr>
            <p:nvPr/>
          </p:nvCxnSpPr>
          <p:spPr>
            <a:xfrm rot="10800000" flipV="1">
              <a:off x="6396646" y="5193762"/>
              <a:ext cx="1642464" cy="36538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A52CFE23-D642-8803-7F0B-58819069C2B4}"/>
                </a:ext>
              </a:extLst>
            </p:cNvPr>
            <p:cNvCxnSpPr>
              <a:stCxn id="20" idx="3"/>
              <a:endCxn id="15" idx="0"/>
            </p:cNvCxnSpPr>
            <p:nvPr/>
          </p:nvCxnSpPr>
          <p:spPr>
            <a:xfrm>
              <a:off x="4858935" y="2494348"/>
              <a:ext cx="1655570" cy="56532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CD49CCCF-5D35-502F-382D-7BEE674B21B8}"/>
                </a:ext>
              </a:extLst>
            </p:cNvPr>
            <p:cNvCxnSpPr>
              <a:stCxn id="26" idx="3"/>
              <a:endCxn id="17" idx="0"/>
            </p:cNvCxnSpPr>
            <p:nvPr/>
          </p:nvCxnSpPr>
          <p:spPr>
            <a:xfrm>
              <a:off x="6864128" y="3888998"/>
              <a:ext cx="1523133" cy="46349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FDC61E3D-8837-1DC7-9CC0-9A6D3D9B267C}"/>
                </a:ext>
              </a:extLst>
            </p:cNvPr>
            <p:cNvCxnSpPr>
              <a:stCxn id="31" idx="3"/>
              <a:endCxn id="19" idx="0"/>
            </p:cNvCxnSpPr>
            <p:nvPr/>
          </p:nvCxnSpPr>
          <p:spPr>
            <a:xfrm>
              <a:off x="8738357" y="5193763"/>
              <a:ext cx="1371716" cy="36538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Diagonal Corners Rounded 43">
              <a:extLst>
                <a:ext uri="{FF2B5EF4-FFF2-40B4-BE49-F238E27FC236}">
                  <a16:creationId xmlns:a16="http://schemas.microsoft.com/office/drawing/2014/main" id="{6015BCAB-37A7-131A-26E1-543AE53B147C}"/>
                </a:ext>
              </a:extLst>
            </p:cNvPr>
            <p:cNvSpPr/>
            <p:nvPr/>
          </p:nvSpPr>
          <p:spPr>
            <a:xfrm>
              <a:off x="2957848" y="2369998"/>
              <a:ext cx="699247" cy="369332"/>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Yes</a:t>
              </a:r>
            </a:p>
          </p:txBody>
        </p:sp>
        <p:sp>
          <p:nvSpPr>
            <p:cNvPr id="46" name="Rectangle: Diagonal Corners Rounded 45">
              <a:extLst>
                <a:ext uri="{FF2B5EF4-FFF2-40B4-BE49-F238E27FC236}">
                  <a16:creationId xmlns:a16="http://schemas.microsoft.com/office/drawing/2014/main" id="{E497307C-33F7-235F-8DEC-F851D8BF0A85}"/>
                </a:ext>
              </a:extLst>
            </p:cNvPr>
            <p:cNvSpPr/>
            <p:nvPr/>
          </p:nvSpPr>
          <p:spPr>
            <a:xfrm>
              <a:off x="4980080" y="3750819"/>
              <a:ext cx="699247" cy="369332"/>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Yes</a:t>
              </a:r>
            </a:p>
          </p:txBody>
        </p:sp>
        <p:sp>
          <p:nvSpPr>
            <p:cNvPr id="48" name="Rectangle: Diagonal Corners Rounded 47">
              <a:extLst>
                <a:ext uri="{FF2B5EF4-FFF2-40B4-BE49-F238E27FC236}">
                  <a16:creationId xmlns:a16="http://schemas.microsoft.com/office/drawing/2014/main" id="{54E1A395-6203-6C46-054E-046176CA4A99}"/>
                </a:ext>
              </a:extLst>
            </p:cNvPr>
            <p:cNvSpPr/>
            <p:nvPr/>
          </p:nvSpPr>
          <p:spPr>
            <a:xfrm>
              <a:off x="6932609" y="5034183"/>
              <a:ext cx="699247" cy="369332"/>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Yes</a:t>
              </a:r>
            </a:p>
          </p:txBody>
        </p:sp>
        <p:sp>
          <p:nvSpPr>
            <p:cNvPr id="52" name="Rectangle: Diagonal Corners Rounded 51">
              <a:extLst>
                <a:ext uri="{FF2B5EF4-FFF2-40B4-BE49-F238E27FC236}">
                  <a16:creationId xmlns:a16="http://schemas.microsoft.com/office/drawing/2014/main" id="{79695716-FDA1-AA47-0CA8-361B4CB714C3}"/>
                </a:ext>
              </a:extLst>
            </p:cNvPr>
            <p:cNvSpPr/>
            <p:nvPr/>
          </p:nvSpPr>
          <p:spPr>
            <a:xfrm>
              <a:off x="9127007" y="5046122"/>
              <a:ext cx="699247" cy="369332"/>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No</a:t>
              </a:r>
            </a:p>
          </p:txBody>
        </p:sp>
        <p:sp>
          <p:nvSpPr>
            <p:cNvPr id="56" name="Rectangle: Diagonal Corners Rounded 55">
              <a:extLst>
                <a:ext uri="{FF2B5EF4-FFF2-40B4-BE49-F238E27FC236}">
                  <a16:creationId xmlns:a16="http://schemas.microsoft.com/office/drawing/2014/main" id="{E3A72083-FCE4-CDAB-AF26-56A654578CEE}"/>
                </a:ext>
              </a:extLst>
            </p:cNvPr>
            <p:cNvSpPr/>
            <p:nvPr/>
          </p:nvSpPr>
          <p:spPr>
            <a:xfrm>
              <a:off x="7332002" y="3743106"/>
              <a:ext cx="699247" cy="369332"/>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No</a:t>
              </a:r>
            </a:p>
          </p:txBody>
        </p:sp>
        <p:sp>
          <p:nvSpPr>
            <p:cNvPr id="58" name="Rectangle: Diagonal Corners Rounded 57">
              <a:extLst>
                <a:ext uri="{FF2B5EF4-FFF2-40B4-BE49-F238E27FC236}">
                  <a16:creationId xmlns:a16="http://schemas.microsoft.com/office/drawing/2014/main" id="{715FA3AB-6869-C149-7DE7-940D3CDD07F0}"/>
                </a:ext>
              </a:extLst>
            </p:cNvPr>
            <p:cNvSpPr/>
            <p:nvPr/>
          </p:nvSpPr>
          <p:spPr>
            <a:xfrm>
              <a:off x="5272183" y="2355123"/>
              <a:ext cx="699247" cy="369332"/>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dirty="0"/>
                <a:t>No</a:t>
              </a:r>
            </a:p>
          </p:txBody>
        </p:sp>
      </p:grpSp>
    </p:spTree>
    <p:extLst>
      <p:ext uri="{BB962C8B-B14F-4D97-AF65-F5344CB8AC3E}">
        <p14:creationId xmlns:p14="http://schemas.microsoft.com/office/powerpoint/2010/main" val="3301907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84DB9-AF54-AD98-BC76-DF416F34F4E6}"/>
              </a:ext>
            </a:extLst>
          </p:cNvPr>
          <p:cNvSpPr>
            <a:spLocks noGrp="1"/>
          </p:cNvSpPr>
          <p:nvPr>
            <p:ph type="title"/>
          </p:nvPr>
        </p:nvSpPr>
        <p:spPr/>
        <p:txBody>
          <a:bodyPr/>
          <a:lstStyle/>
          <a:p>
            <a:r>
              <a:rPr lang="en-IE" dirty="0"/>
              <a:t>Practice Problem #1: </a:t>
            </a:r>
            <a:br>
              <a:rPr lang="en-IE" dirty="0"/>
            </a:br>
            <a:r>
              <a:rPr lang="en-IE" dirty="0"/>
              <a:t>Palindrome Detector</a:t>
            </a:r>
          </a:p>
        </p:txBody>
      </p:sp>
      <p:sp>
        <p:nvSpPr>
          <p:cNvPr id="3" name="Content Placeholder 2">
            <a:extLst>
              <a:ext uri="{FF2B5EF4-FFF2-40B4-BE49-F238E27FC236}">
                <a16:creationId xmlns:a16="http://schemas.microsoft.com/office/drawing/2014/main" id="{77BE5CC7-0851-330E-9F97-B04E87D2A258}"/>
              </a:ext>
            </a:extLst>
          </p:cNvPr>
          <p:cNvSpPr>
            <a:spLocks noGrp="1"/>
          </p:cNvSpPr>
          <p:nvPr>
            <p:ph idx="1"/>
          </p:nvPr>
        </p:nvSpPr>
        <p:spPr/>
        <p:txBody>
          <a:bodyPr>
            <a:normAutofit/>
          </a:bodyPr>
          <a:lstStyle/>
          <a:p>
            <a:pPr lvl="1"/>
            <a:r>
              <a:rPr lang="en-US" sz="3200" dirty="0"/>
              <a:t>Palindrome: A word that reads the same left to right as it does right to left</a:t>
            </a:r>
          </a:p>
          <a:p>
            <a:pPr lvl="2"/>
            <a:r>
              <a:rPr lang="en-US" sz="2800" dirty="0"/>
              <a:t>E.g. R-A-C-E-C-A-R</a:t>
            </a:r>
          </a:p>
          <a:p>
            <a:pPr lvl="2"/>
            <a:endParaRPr lang="en-US" sz="2800" dirty="0"/>
          </a:p>
          <a:p>
            <a:pPr lvl="1"/>
            <a:r>
              <a:rPr lang="en-US" sz="3200" dirty="0"/>
              <a:t>What approach would you use to solve this?</a:t>
            </a:r>
          </a:p>
        </p:txBody>
      </p:sp>
    </p:spTree>
    <p:extLst>
      <p:ext uri="{BB962C8B-B14F-4D97-AF65-F5344CB8AC3E}">
        <p14:creationId xmlns:p14="http://schemas.microsoft.com/office/powerpoint/2010/main" val="21972005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1840A-CD29-5EAB-9309-40576EDABE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ECAF6-A41D-D015-8DE1-EC3BF4B143AE}"/>
              </a:ext>
            </a:extLst>
          </p:cNvPr>
          <p:cNvSpPr>
            <a:spLocks noGrp="1"/>
          </p:cNvSpPr>
          <p:nvPr>
            <p:ph type="title"/>
          </p:nvPr>
        </p:nvSpPr>
        <p:spPr/>
        <p:txBody>
          <a:bodyPr/>
          <a:lstStyle/>
          <a:p>
            <a:r>
              <a:rPr lang="en-IE" dirty="0"/>
              <a:t>Practice Problem #1: </a:t>
            </a:r>
            <a:br>
              <a:rPr lang="en-IE" dirty="0"/>
            </a:br>
            <a:r>
              <a:rPr lang="en-IE" dirty="0"/>
              <a:t>Palindrome Detector</a:t>
            </a:r>
          </a:p>
        </p:txBody>
      </p:sp>
      <p:sp>
        <p:nvSpPr>
          <p:cNvPr id="3" name="Content Placeholder 2">
            <a:extLst>
              <a:ext uri="{FF2B5EF4-FFF2-40B4-BE49-F238E27FC236}">
                <a16:creationId xmlns:a16="http://schemas.microsoft.com/office/drawing/2014/main" id="{4F77C46E-F21B-B13C-2DB7-FC1FCF7E7F5A}"/>
              </a:ext>
            </a:extLst>
          </p:cNvPr>
          <p:cNvSpPr>
            <a:spLocks noGrp="1"/>
          </p:cNvSpPr>
          <p:nvPr>
            <p:ph idx="1"/>
          </p:nvPr>
        </p:nvSpPr>
        <p:spPr>
          <a:xfrm>
            <a:off x="1097280" y="1845733"/>
            <a:ext cx="10058400" cy="4541619"/>
          </a:xfrm>
        </p:spPr>
        <p:txBody>
          <a:bodyPr>
            <a:normAutofit/>
          </a:bodyPr>
          <a:lstStyle/>
          <a:p>
            <a:pPr lvl="1"/>
            <a:r>
              <a:rPr lang="en-US" sz="3200" dirty="0"/>
              <a:t>Palindrome: A word that reads the same left to right as it does right to left</a:t>
            </a:r>
          </a:p>
          <a:p>
            <a:pPr lvl="2"/>
            <a:r>
              <a:rPr lang="en-US" sz="2800" dirty="0"/>
              <a:t>E.g. R-A-C-E-C-A-R</a:t>
            </a:r>
          </a:p>
          <a:p>
            <a:pPr lvl="2"/>
            <a:endParaRPr lang="en-US" sz="2800" dirty="0"/>
          </a:p>
          <a:p>
            <a:pPr lvl="1"/>
            <a:r>
              <a:rPr lang="en-US" sz="3200" dirty="0"/>
              <a:t>Suggested solution: </a:t>
            </a:r>
            <a:r>
              <a:rPr lang="en-US" sz="3200" dirty="0">
                <a:solidFill>
                  <a:srgbClr val="FF0000"/>
                </a:solidFill>
              </a:rPr>
              <a:t>Closing window</a:t>
            </a:r>
          </a:p>
          <a:p>
            <a:pPr lvl="2"/>
            <a:r>
              <a:rPr lang="en-US" sz="2800" dirty="0"/>
              <a:t>Compare left and right:</a:t>
            </a:r>
          </a:p>
          <a:p>
            <a:pPr lvl="3"/>
            <a:r>
              <a:rPr lang="en-US" sz="2800" dirty="0"/>
              <a:t>If they differ, return false</a:t>
            </a:r>
          </a:p>
          <a:p>
            <a:pPr lvl="3"/>
            <a:r>
              <a:rPr lang="en-US" sz="2800" dirty="0"/>
              <a:t>If not, move left and right inwards</a:t>
            </a:r>
          </a:p>
          <a:p>
            <a:pPr lvl="2"/>
            <a:r>
              <a:rPr lang="en-US" sz="2800" dirty="0"/>
              <a:t>If left and right pointers meet or cross, return true</a:t>
            </a:r>
          </a:p>
          <a:p>
            <a:pPr lvl="2"/>
            <a:endParaRPr lang="en-US" sz="2800" dirty="0">
              <a:solidFill>
                <a:srgbClr val="FF0000"/>
              </a:solidFill>
            </a:endParaRPr>
          </a:p>
        </p:txBody>
      </p:sp>
      <p:sp>
        <p:nvSpPr>
          <p:cNvPr id="4" name="Rectangle: Rounded Corners 3">
            <a:extLst>
              <a:ext uri="{FF2B5EF4-FFF2-40B4-BE49-F238E27FC236}">
                <a16:creationId xmlns:a16="http://schemas.microsoft.com/office/drawing/2014/main" id="{2B14BEC9-45E5-13B0-813D-D1DCB5DFB6B8}"/>
              </a:ext>
            </a:extLst>
          </p:cNvPr>
          <p:cNvSpPr/>
          <p:nvPr/>
        </p:nvSpPr>
        <p:spPr>
          <a:xfrm>
            <a:off x="8404412" y="4013948"/>
            <a:ext cx="3119718" cy="14507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sz="2400" dirty="0"/>
              <a:t>Challenge: Implement this from the provided partial pseudocode!</a:t>
            </a:r>
          </a:p>
        </p:txBody>
      </p:sp>
      <p:grpSp>
        <p:nvGrpSpPr>
          <p:cNvPr id="5" name="Group 4">
            <a:extLst>
              <a:ext uri="{FF2B5EF4-FFF2-40B4-BE49-F238E27FC236}">
                <a16:creationId xmlns:a16="http://schemas.microsoft.com/office/drawing/2014/main" id="{54466A09-6610-56F0-62F1-E9A02A965682}"/>
              </a:ext>
            </a:extLst>
          </p:cNvPr>
          <p:cNvGrpSpPr/>
          <p:nvPr/>
        </p:nvGrpSpPr>
        <p:grpSpPr>
          <a:xfrm>
            <a:off x="5041302" y="2393575"/>
            <a:ext cx="5870448" cy="1205669"/>
            <a:chOff x="3078032" y="1884661"/>
            <a:chExt cx="5870448" cy="1539767"/>
          </a:xfrm>
        </p:grpSpPr>
        <p:sp>
          <p:nvSpPr>
            <p:cNvPr id="6" name="Rounded Rectangle 7">
              <a:extLst>
                <a:ext uri="{FF2B5EF4-FFF2-40B4-BE49-F238E27FC236}">
                  <a16:creationId xmlns:a16="http://schemas.microsoft.com/office/drawing/2014/main" id="{82D1DF09-59CC-254B-CEE8-2F621BB9F787}"/>
                </a:ext>
              </a:extLst>
            </p:cNvPr>
            <p:cNvSpPr/>
            <p:nvPr/>
          </p:nvSpPr>
          <p:spPr>
            <a:xfrm>
              <a:off x="3123752" y="2299716"/>
              <a:ext cx="1097280" cy="822960"/>
            </a:xfrm>
            <a:prstGeom prst="roundRect">
              <a:avLst/>
            </a:prstGeom>
            <a:solidFill>
              <a:schemeClr val="accent6"/>
            </a:solidFill>
            <a:ln>
              <a:solidFill>
                <a:srgbClr val="08708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b="1" dirty="0">
                  <a:solidFill>
                    <a:srgbClr val="F5F8FC"/>
                  </a:solidFill>
                  <a:latin typeface="Consolas"/>
                </a:rPr>
                <a:t>L</a:t>
              </a:r>
              <a:endParaRPr sz="2000" b="1" dirty="0">
                <a:solidFill>
                  <a:srgbClr val="F5F8FC"/>
                </a:solidFill>
                <a:latin typeface="Consolas"/>
              </a:endParaRPr>
            </a:p>
          </p:txBody>
        </p:sp>
        <p:sp>
          <p:nvSpPr>
            <p:cNvPr id="7" name="TextBox 6">
              <a:extLst>
                <a:ext uri="{FF2B5EF4-FFF2-40B4-BE49-F238E27FC236}">
                  <a16:creationId xmlns:a16="http://schemas.microsoft.com/office/drawing/2014/main" id="{977A156C-08C8-3936-4A95-1AED0F2D5AA5}"/>
                </a:ext>
              </a:extLst>
            </p:cNvPr>
            <p:cNvSpPr txBox="1"/>
            <p:nvPr/>
          </p:nvSpPr>
          <p:spPr>
            <a:xfrm>
              <a:off x="3123752" y="3195828"/>
              <a:ext cx="1097280" cy="228600"/>
            </a:xfrm>
            <a:prstGeom prst="rect">
              <a:avLst/>
            </a:prstGeom>
            <a:noFill/>
          </p:spPr>
          <p:txBody>
            <a:bodyPr wrap="square" lIns="45720" rIns="45720" anchor="t">
              <a:spAutoFit/>
            </a:bodyPr>
            <a:lstStyle/>
            <a:p>
              <a:pPr algn="ctr"/>
              <a:r>
                <a:rPr sz="1000" b="0">
                  <a:solidFill>
                    <a:srgbClr val="B0BED2"/>
                  </a:solidFill>
                  <a:latin typeface="Aptos"/>
                </a:rPr>
                <a:t>0</a:t>
              </a:r>
            </a:p>
          </p:txBody>
        </p:sp>
        <p:sp>
          <p:nvSpPr>
            <p:cNvPr id="8" name="TextBox 7">
              <a:extLst>
                <a:ext uri="{FF2B5EF4-FFF2-40B4-BE49-F238E27FC236}">
                  <a16:creationId xmlns:a16="http://schemas.microsoft.com/office/drawing/2014/main" id="{39E46889-1B7C-AEBE-BC90-B6509D430DB7}"/>
                </a:ext>
              </a:extLst>
            </p:cNvPr>
            <p:cNvSpPr txBox="1"/>
            <p:nvPr/>
          </p:nvSpPr>
          <p:spPr>
            <a:xfrm>
              <a:off x="3078032" y="1884662"/>
              <a:ext cx="1188720" cy="369331"/>
            </a:xfrm>
            <a:prstGeom prst="rect">
              <a:avLst/>
            </a:prstGeom>
            <a:noFill/>
          </p:spPr>
          <p:txBody>
            <a:bodyPr wrap="square" lIns="45720" rIns="45720" anchor="t">
              <a:spAutoFit/>
            </a:bodyPr>
            <a:lstStyle/>
            <a:p>
              <a:pPr algn="ctr"/>
              <a:r>
                <a:rPr b="1" dirty="0">
                  <a:solidFill>
                    <a:srgbClr val="38D1E0"/>
                  </a:solidFill>
                  <a:latin typeface="Aptos"/>
                </a:rPr>
                <a:t>LEFT</a:t>
              </a:r>
            </a:p>
          </p:txBody>
        </p:sp>
        <p:sp>
          <p:nvSpPr>
            <p:cNvPr id="9" name="Rounded Rectangle 11">
              <a:extLst>
                <a:ext uri="{FF2B5EF4-FFF2-40B4-BE49-F238E27FC236}">
                  <a16:creationId xmlns:a16="http://schemas.microsoft.com/office/drawing/2014/main" id="{CEC1A33C-3C9B-05F1-5057-F372790AB43B}"/>
                </a:ext>
              </a:extLst>
            </p:cNvPr>
            <p:cNvSpPr/>
            <p:nvPr/>
          </p:nvSpPr>
          <p:spPr>
            <a:xfrm>
              <a:off x="4294184"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b="1" dirty="0">
                  <a:solidFill>
                    <a:srgbClr val="F5F8FC"/>
                  </a:solidFill>
                  <a:latin typeface="Consolas"/>
                </a:rPr>
                <a:t>E</a:t>
              </a:r>
              <a:endParaRPr sz="2000" b="1" dirty="0">
                <a:solidFill>
                  <a:srgbClr val="F5F8FC"/>
                </a:solidFill>
                <a:latin typeface="Consolas"/>
              </a:endParaRPr>
            </a:p>
          </p:txBody>
        </p:sp>
        <p:sp>
          <p:nvSpPr>
            <p:cNvPr id="10" name="TextBox 9">
              <a:extLst>
                <a:ext uri="{FF2B5EF4-FFF2-40B4-BE49-F238E27FC236}">
                  <a16:creationId xmlns:a16="http://schemas.microsoft.com/office/drawing/2014/main" id="{525A8010-0C26-7A72-063E-4EEABA061438}"/>
                </a:ext>
              </a:extLst>
            </p:cNvPr>
            <p:cNvSpPr txBox="1"/>
            <p:nvPr/>
          </p:nvSpPr>
          <p:spPr>
            <a:xfrm>
              <a:off x="4294184" y="3195828"/>
              <a:ext cx="1097280" cy="228600"/>
            </a:xfrm>
            <a:prstGeom prst="rect">
              <a:avLst/>
            </a:prstGeom>
            <a:noFill/>
          </p:spPr>
          <p:txBody>
            <a:bodyPr wrap="square" lIns="45720" rIns="45720" anchor="t">
              <a:spAutoFit/>
            </a:bodyPr>
            <a:lstStyle/>
            <a:p>
              <a:pPr algn="ctr"/>
              <a:r>
                <a:rPr sz="1000" b="0">
                  <a:solidFill>
                    <a:srgbClr val="B0BED2"/>
                  </a:solidFill>
                  <a:latin typeface="Aptos"/>
                </a:rPr>
                <a:t>1</a:t>
              </a:r>
            </a:p>
          </p:txBody>
        </p:sp>
        <p:sp>
          <p:nvSpPr>
            <p:cNvPr id="11" name="Rounded Rectangle 13">
              <a:extLst>
                <a:ext uri="{FF2B5EF4-FFF2-40B4-BE49-F238E27FC236}">
                  <a16:creationId xmlns:a16="http://schemas.microsoft.com/office/drawing/2014/main" id="{BCE358EC-A0DA-3FC7-5485-EFF4413B2B83}"/>
                </a:ext>
              </a:extLst>
            </p:cNvPr>
            <p:cNvSpPr/>
            <p:nvPr/>
          </p:nvSpPr>
          <p:spPr>
            <a:xfrm>
              <a:off x="5464616"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b="1" dirty="0">
                  <a:solidFill>
                    <a:srgbClr val="F5F8FC"/>
                  </a:solidFill>
                  <a:latin typeface="Consolas"/>
                </a:rPr>
                <a:t>V</a:t>
              </a:r>
              <a:endParaRPr sz="2000" b="1" dirty="0">
                <a:solidFill>
                  <a:srgbClr val="F5F8FC"/>
                </a:solidFill>
                <a:latin typeface="Consolas"/>
              </a:endParaRPr>
            </a:p>
          </p:txBody>
        </p:sp>
        <p:sp>
          <p:nvSpPr>
            <p:cNvPr id="12" name="TextBox 11">
              <a:extLst>
                <a:ext uri="{FF2B5EF4-FFF2-40B4-BE49-F238E27FC236}">
                  <a16:creationId xmlns:a16="http://schemas.microsoft.com/office/drawing/2014/main" id="{A52B9DB9-CE9B-0C92-D1EE-E3B1BCCE3335}"/>
                </a:ext>
              </a:extLst>
            </p:cNvPr>
            <p:cNvSpPr txBox="1"/>
            <p:nvPr/>
          </p:nvSpPr>
          <p:spPr>
            <a:xfrm>
              <a:off x="5464616" y="3195828"/>
              <a:ext cx="1097280" cy="228600"/>
            </a:xfrm>
            <a:prstGeom prst="rect">
              <a:avLst/>
            </a:prstGeom>
            <a:noFill/>
          </p:spPr>
          <p:txBody>
            <a:bodyPr wrap="square" lIns="45720" rIns="45720" anchor="t">
              <a:spAutoFit/>
            </a:bodyPr>
            <a:lstStyle/>
            <a:p>
              <a:pPr algn="ctr"/>
              <a:r>
                <a:rPr sz="1000" b="0">
                  <a:solidFill>
                    <a:srgbClr val="B0BED2"/>
                  </a:solidFill>
                  <a:latin typeface="Aptos"/>
                </a:rPr>
                <a:t>2</a:t>
              </a:r>
            </a:p>
          </p:txBody>
        </p:sp>
        <p:sp>
          <p:nvSpPr>
            <p:cNvPr id="13" name="Rounded Rectangle 15">
              <a:extLst>
                <a:ext uri="{FF2B5EF4-FFF2-40B4-BE49-F238E27FC236}">
                  <a16:creationId xmlns:a16="http://schemas.microsoft.com/office/drawing/2014/main" id="{D8CD06D7-BD4B-C591-B76F-5C519FC04CEE}"/>
                </a:ext>
              </a:extLst>
            </p:cNvPr>
            <p:cNvSpPr/>
            <p:nvPr/>
          </p:nvSpPr>
          <p:spPr>
            <a:xfrm>
              <a:off x="6635048" y="2299716"/>
              <a:ext cx="1097280" cy="822960"/>
            </a:xfrm>
            <a:prstGeom prst="roundRect">
              <a:avLst/>
            </a:prstGeom>
            <a:solidFill>
              <a:schemeClr val="tx2">
                <a:lumMod val="60000"/>
                <a:lumOff val="40000"/>
              </a:schemeClr>
            </a:solidFill>
            <a:ln>
              <a:solidFill>
                <a:srgbClr val="46587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b="1" dirty="0">
                  <a:solidFill>
                    <a:srgbClr val="F5F8FC"/>
                  </a:solidFill>
                  <a:latin typeface="Consolas"/>
                </a:rPr>
                <a:t>E</a:t>
              </a:r>
              <a:endParaRPr sz="2000" b="1" dirty="0">
                <a:solidFill>
                  <a:srgbClr val="F5F8FC"/>
                </a:solidFill>
                <a:latin typeface="Consolas"/>
              </a:endParaRPr>
            </a:p>
          </p:txBody>
        </p:sp>
        <p:sp>
          <p:nvSpPr>
            <p:cNvPr id="14" name="TextBox 13">
              <a:extLst>
                <a:ext uri="{FF2B5EF4-FFF2-40B4-BE49-F238E27FC236}">
                  <a16:creationId xmlns:a16="http://schemas.microsoft.com/office/drawing/2014/main" id="{21C069F7-FCB2-1060-8341-7F53FC607446}"/>
                </a:ext>
              </a:extLst>
            </p:cNvPr>
            <p:cNvSpPr txBox="1"/>
            <p:nvPr/>
          </p:nvSpPr>
          <p:spPr>
            <a:xfrm>
              <a:off x="6635048" y="3195828"/>
              <a:ext cx="1097280" cy="228600"/>
            </a:xfrm>
            <a:prstGeom prst="rect">
              <a:avLst/>
            </a:prstGeom>
            <a:noFill/>
          </p:spPr>
          <p:txBody>
            <a:bodyPr wrap="square" lIns="45720" rIns="45720" anchor="t">
              <a:spAutoFit/>
            </a:bodyPr>
            <a:lstStyle/>
            <a:p>
              <a:pPr algn="ctr"/>
              <a:r>
                <a:rPr sz="1000" b="0">
                  <a:solidFill>
                    <a:srgbClr val="B0BED2"/>
                  </a:solidFill>
                  <a:latin typeface="Aptos"/>
                </a:rPr>
                <a:t>3</a:t>
              </a:r>
            </a:p>
          </p:txBody>
        </p:sp>
        <p:sp>
          <p:nvSpPr>
            <p:cNvPr id="15" name="Rounded Rectangle 17">
              <a:extLst>
                <a:ext uri="{FF2B5EF4-FFF2-40B4-BE49-F238E27FC236}">
                  <a16:creationId xmlns:a16="http://schemas.microsoft.com/office/drawing/2014/main" id="{3F8AAA03-FB24-794B-084E-D9EBEFC99059}"/>
                </a:ext>
              </a:extLst>
            </p:cNvPr>
            <p:cNvSpPr/>
            <p:nvPr/>
          </p:nvSpPr>
          <p:spPr>
            <a:xfrm>
              <a:off x="7805480" y="2299716"/>
              <a:ext cx="1097280" cy="822960"/>
            </a:xfrm>
            <a:prstGeom prst="roundRect">
              <a:avLst/>
            </a:prstGeom>
            <a:solidFill>
              <a:srgbClr val="FFC000"/>
            </a:solidFill>
            <a:ln>
              <a:solidFill>
                <a:srgbClr val="965B1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b="1" dirty="0">
                  <a:solidFill>
                    <a:srgbClr val="F5F8FC"/>
                  </a:solidFill>
                  <a:latin typeface="Consolas"/>
                </a:rPr>
                <a:t>L</a:t>
              </a:r>
              <a:endParaRPr sz="2000" b="1" dirty="0">
                <a:solidFill>
                  <a:srgbClr val="F5F8FC"/>
                </a:solidFill>
                <a:latin typeface="Consolas"/>
              </a:endParaRPr>
            </a:p>
          </p:txBody>
        </p:sp>
        <p:sp>
          <p:nvSpPr>
            <p:cNvPr id="16" name="TextBox 15">
              <a:extLst>
                <a:ext uri="{FF2B5EF4-FFF2-40B4-BE49-F238E27FC236}">
                  <a16:creationId xmlns:a16="http://schemas.microsoft.com/office/drawing/2014/main" id="{DEE7B5C6-8AEC-BD7A-7302-835FA973395D}"/>
                </a:ext>
              </a:extLst>
            </p:cNvPr>
            <p:cNvSpPr txBox="1"/>
            <p:nvPr/>
          </p:nvSpPr>
          <p:spPr>
            <a:xfrm>
              <a:off x="7805480" y="3195828"/>
              <a:ext cx="1097280" cy="228600"/>
            </a:xfrm>
            <a:prstGeom prst="rect">
              <a:avLst/>
            </a:prstGeom>
            <a:noFill/>
          </p:spPr>
          <p:txBody>
            <a:bodyPr wrap="square" lIns="45720" rIns="45720" anchor="t">
              <a:spAutoFit/>
            </a:bodyPr>
            <a:lstStyle/>
            <a:p>
              <a:pPr algn="ctr"/>
              <a:r>
                <a:rPr sz="1000" b="0">
                  <a:solidFill>
                    <a:srgbClr val="B0BED2"/>
                  </a:solidFill>
                  <a:latin typeface="Aptos"/>
                </a:rPr>
                <a:t>4</a:t>
              </a:r>
            </a:p>
          </p:txBody>
        </p:sp>
        <p:sp>
          <p:nvSpPr>
            <p:cNvPr id="17" name="TextBox 16">
              <a:extLst>
                <a:ext uri="{FF2B5EF4-FFF2-40B4-BE49-F238E27FC236}">
                  <a16:creationId xmlns:a16="http://schemas.microsoft.com/office/drawing/2014/main" id="{7745B117-3B62-8D85-D9B7-37B24FC2F368}"/>
                </a:ext>
              </a:extLst>
            </p:cNvPr>
            <p:cNvSpPr txBox="1"/>
            <p:nvPr/>
          </p:nvSpPr>
          <p:spPr>
            <a:xfrm>
              <a:off x="7759760" y="1884661"/>
              <a:ext cx="1188720" cy="369331"/>
            </a:xfrm>
            <a:prstGeom prst="rect">
              <a:avLst/>
            </a:prstGeom>
            <a:noFill/>
          </p:spPr>
          <p:txBody>
            <a:bodyPr wrap="square" lIns="45720" rIns="45720" anchor="t">
              <a:spAutoFit/>
            </a:bodyPr>
            <a:lstStyle/>
            <a:p>
              <a:pPr algn="ctr"/>
              <a:r>
                <a:rPr b="1" dirty="0">
                  <a:solidFill>
                    <a:srgbClr val="FFB74D"/>
                  </a:solidFill>
                  <a:latin typeface="Aptos"/>
                </a:rPr>
                <a:t>RIGHT</a:t>
              </a:r>
            </a:p>
          </p:txBody>
        </p:sp>
        <p:sp>
          <p:nvSpPr>
            <p:cNvPr id="18" name="TextBox 17">
              <a:extLst>
                <a:ext uri="{FF2B5EF4-FFF2-40B4-BE49-F238E27FC236}">
                  <a16:creationId xmlns:a16="http://schemas.microsoft.com/office/drawing/2014/main" id="{4067AF49-5D96-1579-B928-79037914B2D3}"/>
                </a:ext>
              </a:extLst>
            </p:cNvPr>
            <p:cNvSpPr txBox="1"/>
            <p:nvPr/>
          </p:nvSpPr>
          <p:spPr>
            <a:xfrm>
              <a:off x="7759760" y="2189988"/>
              <a:ext cx="1188720" cy="201168"/>
            </a:xfrm>
            <a:prstGeom prst="rect">
              <a:avLst/>
            </a:prstGeom>
            <a:noFill/>
          </p:spPr>
          <p:txBody>
            <a:bodyPr wrap="square" lIns="45720" rIns="45720" anchor="t">
              <a:spAutoFit/>
            </a:bodyPr>
            <a:lstStyle/>
            <a:p>
              <a:pPr algn="ctr"/>
              <a:r>
                <a:rPr sz="1400" b="1" dirty="0">
                  <a:solidFill>
                    <a:srgbClr val="FFB74D"/>
                  </a:solidFill>
                  <a:latin typeface="Aptos"/>
                </a:rPr>
                <a:t>↓</a:t>
              </a:r>
            </a:p>
          </p:txBody>
        </p:sp>
        <p:cxnSp>
          <p:nvCxnSpPr>
            <p:cNvPr id="19" name="Straight Arrow Connector 18">
              <a:extLst>
                <a:ext uri="{FF2B5EF4-FFF2-40B4-BE49-F238E27FC236}">
                  <a16:creationId xmlns:a16="http://schemas.microsoft.com/office/drawing/2014/main" id="{EBFBEE35-C9D8-8605-BD2B-1539F1FB197D}"/>
                </a:ext>
              </a:extLst>
            </p:cNvPr>
            <p:cNvCxnSpPr>
              <a:cxnSpLocks/>
            </p:cNvCxnSpPr>
            <p:nvPr/>
          </p:nvCxnSpPr>
          <p:spPr>
            <a:xfrm>
              <a:off x="3664314" y="2283577"/>
              <a:ext cx="0" cy="190679"/>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1F1E055-9246-E683-9EEA-E60EFAAA1CAE}"/>
                </a:ext>
              </a:extLst>
            </p:cNvPr>
            <p:cNvCxnSpPr>
              <a:cxnSpLocks/>
            </p:cNvCxnSpPr>
            <p:nvPr/>
          </p:nvCxnSpPr>
          <p:spPr>
            <a:xfrm>
              <a:off x="8354120" y="2283576"/>
              <a:ext cx="0" cy="19067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5596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67134-C2CC-CDC1-2DB0-ED71319F9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83B8A-558E-ACD7-794E-8B5500567BE3}"/>
              </a:ext>
            </a:extLst>
          </p:cNvPr>
          <p:cNvSpPr>
            <a:spLocks noGrp="1"/>
          </p:cNvSpPr>
          <p:nvPr>
            <p:ph type="title"/>
          </p:nvPr>
        </p:nvSpPr>
        <p:spPr/>
        <p:txBody>
          <a:bodyPr/>
          <a:lstStyle/>
          <a:p>
            <a:r>
              <a:rPr lang="en-IE" dirty="0"/>
              <a:t>Practice Problem #2: </a:t>
            </a:r>
            <a:br>
              <a:rPr lang="en-IE" dirty="0"/>
            </a:br>
            <a:r>
              <a:rPr lang="en-IE" dirty="0"/>
              <a:t>Reverse an Array In-Place</a:t>
            </a:r>
          </a:p>
        </p:txBody>
      </p:sp>
      <p:sp>
        <p:nvSpPr>
          <p:cNvPr id="3" name="Content Placeholder 2">
            <a:extLst>
              <a:ext uri="{FF2B5EF4-FFF2-40B4-BE49-F238E27FC236}">
                <a16:creationId xmlns:a16="http://schemas.microsoft.com/office/drawing/2014/main" id="{97BE6069-B8EF-F4C5-CAB1-5AE7D60499F2}"/>
              </a:ext>
            </a:extLst>
          </p:cNvPr>
          <p:cNvSpPr>
            <a:spLocks noGrp="1"/>
          </p:cNvSpPr>
          <p:nvPr>
            <p:ph idx="1"/>
          </p:nvPr>
        </p:nvSpPr>
        <p:spPr>
          <a:xfrm>
            <a:off x="1097280" y="1845734"/>
            <a:ext cx="5169049" cy="3976842"/>
          </a:xfrm>
        </p:spPr>
        <p:txBody>
          <a:bodyPr>
            <a:normAutofit lnSpcReduction="10000"/>
          </a:bodyPr>
          <a:lstStyle/>
          <a:p>
            <a:pPr lvl="1"/>
            <a:r>
              <a:rPr lang="en-US" sz="3200" dirty="0"/>
              <a:t>Given an array, reverse its contents </a:t>
            </a:r>
          </a:p>
          <a:p>
            <a:pPr lvl="1"/>
            <a:endParaRPr lang="en-US" sz="3200" dirty="0"/>
          </a:p>
          <a:p>
            <a:pPr lvl="1"/>
            <a:r>
              <a:rPr lang="en-US" sz="3200" dirty="0"/>
              <a:t>Requirements: </a:t>
            </a:r>
          </a:p>
          <a:p>
            <a:pPr lvl="2"/>
            <a:r>
              <a:rPr lang="en-US" sz="2800" dirty="0"/>
              <a:t>You must use two pointers for your solution</a:t>
            </a:r>
          </a:p>
          <a:p>
            <a:pPr lvl="2"/>
            <a:r>
              <a:rPr lang="en-US" sz="2800" dirty="0"/>
              <a:t>You may not use a second array</a:t>
            </a:r>
          </a:p>
          <a:p>
            <a:pPr lvl="2"/>
            <a:r>
              <a:rPr lang="en-US" sz="2800" dirty="0"/>
              <a:t>You must identify the time and space complexity</a:t>
            </a:r>
            <a:endParaRPr lang="en-US" sz="2400" dirty="0"/>
          </a:p>
          <a:p>
            <a:pPr marL="384048" lvl="2" indent="0">
              <a:buNone/>
            </a:pPr>
            <a:endParaRPr lang="en-US" sz="2800" dirty="0"/>
          </a:p>
        </p:txBody>
      </p:sp>
      <p:sp>
        <p:nvSpPr>
          <p:cNvPr id="5" name="Rounded Rectangle 8">
            <a:extLst>
              <a:ext uri="{FF2B5EF4-FFF2-40B4-BE49-F238E27FC236}">
                <a16:creationId xmlns:a16="http://schemas.microsoft.com/office/drawing/2014/main" id="{6D7EEDEC-938A-DB36-633B-019B041BC418}"/>
              </a:ext>
            </a:extLst>
          </p:cNvPr>
          <p:cNvSpPr/>
          <p:nvPr/>
        </p:nvSpPr>
        <p:spPr>
          <a:xfrm>
            <a:off x="6979023" y="2554940"/>
            <a:ext cx="4471147" cy="2507878"/>
          </a:xfrm>
          <a:prstGeom prst="roundRect">
            <a:avLst/>
          </a:prstGeom>
          <a:solidFill>
            <a:schemeClr val="tx2">
              <a:lumMod val="60000"/>
              <a:lumOff val="40000"/>
            </a:schemeClr>
          </a:solidFill>
          <a:ln>
            <a:solidFill>
              <a:srgbClr val="22314B"/>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spcAft>
                <a:spcPts val="700"/>
              </a:spcAft>
            </a:pPr>
            <a:r>
              <a:rPr sz="2400" b="1" dirty="0">
                <a:solidFill>
                  <a:schemeClr val="tx2">
                    <a:lumMod val="75000"/>
                  </a:schemeClr>
                </a:solidFill>
                <a:latin typeface="Abadi" panose="020B0604020104020204" pitchFamily="34" charset="0"/>
              </a:rPr>
              <a:t>Remember</a:t>
            </a:r>
          </a:p>
          <a:p>
            <a:pPr marL="342900" indent="-342900">
              <a:spcAft>
                <a:spcPts val="700"/>
              </a:spcAft>
              <a:buFont typeface="+mj-lt"/>
              <a:buAutoNum type="arabicPeriod"/>
            </a:pPr>
            <a:r>
              <a:rPr b="0" dirty="0">
                <a:solidFill>
                  <a:srgbClr val="F5F8FC"/>
                </a:solidFill>
                <a:latin typeface="Abadi" panose="020B0604020104020204" pitchFamily="34" charset="0"/>
              </a:rPr>
              <a:t>Pick pointers to match the structure of the problem.</a:t>
            </a:r>
          </a:p>
          <a:p>
            <a:pPr marL="342900" indent="-342900">
              <a:spcAft>
                <a:spcPts val="700"/>
              </a:spcAft>
              <a:buFont typeface="+mj-lt"/>
              <a:buAutoNum type="arabicPeriod"/>
            </a:pPr>
            <a:r>
              <a:rPr b="0" dirty="0">
                <a:solidFill>
                  <a:srgbClr val="F5F8FC"/>
                </a:solidFill>
                <a:latin typeface="Abadi" panose="020B0604020104020204" pitchFamily="34" charset="0"/>
              </a:rPr>
              <a:t>Every move needs a reason.</a:t>
            </a:r>
            <a:endParaRPr lang="en-US" b="0" dirty="0">
              <a:solidFill>
                <a:srgbClr val="F5F8FC"/>
              </a:solidFill>
              <a:latin typeface="Abadi" panose="020B0604020104020204" pitchFamily="34" charset="0"/>
            </a:endParaRPr>
          </a:p>
          <a:p>
            <a:pPr marL="342900" indent="-342900">
              <a:spcAft>
                <a:spcPts val="700"/>
              </a:spcAft>
              <a:buFont typeface="+mj-lt"/>
              <a:buAutoNum type="arabicPeriod"/>
            </a:pPr>
            <a:r>
              <a:rPr lang="en-IE" dirty="0">
                <a:solidFill>
                  <a:srgbClr val="F5F8FC"/>
                </a:solidFill>
                <a:latin typeface="Abadi" panose="020B0604020104020204" pitchFamily="34" charset="0"/>
              </a:rPr>
              <a:t>The goal isn’t code memorisation, it’s understanding how we can use the steps to eliminate possibilities</a:t>
            </a:r>
            <a:endParaRPr b="0" dirty="0">
              <a:solidFill>
                <a:srgbClr val="F5F8FC"/>
              </a:solidFill>
              <a:latin typeface="Abadi" panose="020B0604020104020204" pitchFamily="34" charset="0"/>
            </a:endParaRPr>
          </a:p>
        </p:txBody>
      </p:sp>
    </p:spTree>
    <p:extLst>
      <p:ext uri="{BB962C8B-B14F-4D97-AF65-F5344CB8AC3E}">
        <p14:creationId xmlns:p14="http://schemas.microsoft.com/office/powerpoint/2010/main" val="2492259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0A76F-1AB8-757D-B38C-BD5FBF4FD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EDB81-2D56-C024-70CD-46D01ACE2122}"/>
              </a:ext>
            </a:extLst>
          </p:cNvPr>
          <p:cNvSpPr>
            <a:spLocks noGrp="1"/>
          </p:cNvSpPr>
          <p:nvPr>
            <p:ph type="title"/>
          </p:nvPr>
        </p:nvSpPr>
        <p:spPr/>
        <p:txBody>
          <a:bodyPr/>
          <a:lstStyle/>
          <a:p>
            <a:r>
              <a:rPr lang="en-IE" dirty="0"/>
              <a:t>Advantages &amp; Disadvantages</a:t>
            </a:r>
          </a:p>
        </p:txBody>
      </p:sp>
      <p:sp>
        <p:nvSpPr>
          <p:cNvPr id="3" name="Content Placeholder 2">
            <a:extLst>
              <a:ext uri="{FF2B5EF4-FFF2-40B4-BE49-F238E27FC236}">
                <a16:creationId xmlns:a16="http://schemas.microsoft.com/office/drawing/2014/main" id="{4E394588-00F8-FE75-6B1A-E2A7195F4E1C}"/>
              </a:ext>
            </a:extLst>
          </p:cNvPr>
          <p:cNvSpPr>
            <a:spLocks noGrp="1"/>
          </p:cNvSpPr>
          <p:nvPr>
            <p:ph idx="1"/>
          </p:nvPr>
        </p:nvSpPr>
        <p:spPr/>
        <p:txBody>
          <a:bodyPr>
            <a:normAutofit fontScale="77500" lnSpcReduction="20000"/>
          </a:bodyPr>
          <a:lstStyle/>
          <a:p>
            <a:pPr lvl="1"/>
            <a:r>
              <a:rPr lang="en-IE" sz="3200" dirty="0"/>
              <a:t>Advantages of a two-pointer approach:</a:t>
            </a:r>
          </a:p>
          <a:p>
            <a:pPr lvl="2"/>
            <a:r>
              <a:rPr lang="en-IE" sz="2800" dirty="0">
                <a:solidFill>
                  <a:srgbClr val="FF0000"/>
                </a:solidFill>
              </a:rPr>
              <a:t>Efficient!</a:t>
            </a:r>
            <a:r>
              <a:rPr lang="en-IE" sz="2800" dirty="0"/>
              <a:t> Often reduces brute force O(n</a:t>
            </a:r>
            <a:r>
              <a:rPr lang="en-IE" sz="2800" baseline="30000" dirty="0"/>
              <a:t>2</a:t>
            </a:r>
            <a:r>
              <a:rPr lang="en-IE" sz="2800" dirty="0"/>
              <a:t>) costs to O(n)</a:t>
            </a:r>
          </a:p>
          <a:p>
            <a:pPr lvl="2"/>
            <a:r>
              <a:rPr lang="en-IE" sz="2800" dirty="0">
                <a:solidFill>
                  <a:srgbClr val="FF0000"/>
                </a:solidFill>
              </a:rPr>
              <a:t>Conservative!</a:t>
            </a:r>
            <a:r>
              <a:rPr lang="en-IE" sz="2800" dirty="0"/>
              <a:t> Almost all two-pointer solutions are done in-place, with O(1) </a:t>
            </a:r>
            <a:r>
              <a:rPr lang="en-IE" sz="2800" dirty="0" err="1"/>
              <a:t>auxillery</a:t>
            </a:r>
            <a:r>
              <a:rPr lang="en-IE" sz="2800" dirty="0"/>
              <a:t> memory costs</a:t>
            </a:r>
          </a:p>
          <a:p>
            <a:pPr lvl="2"/>
            <a:r>
              <a:rPr lang="en-IE" sz="2800" dirty="0"/>
              <a:t>Lowers overhead on hardware – sequential access of data avoids jumping around memory</a:t>
            </a:r>
          </a:p>
          <a:p>
            <a:pPr lvl="2"/>
            <a:endParaRPr lang="en-IE" sz="2800" dirty="0"/>
          </a:p>
          <a:p>
            <a:pPr lvl="1"/>
            <a:r>
              <a:rPr lang="en-IE" sz="3200" dirty="0"/>
              <a:t>Disadvantages:</a:t>
            </a:r>
          </a:p>
          <a:p>
            <a:pPr lvl="2"/>
            <a:r>
              <a:rPr lang="en-IE" sz="2800" dirty="0">
                <a:solidFill>
                  <a:srgbClr val="FF0000"/>
                </a:solidFill>
              </a:rPr>
              <a:t>High dependence on pre-sorted data</a:t>
            </a:r>
            <a:endParaRPr lang="en-IE" sz="2800" dirty="0"/>
          </a:p>
          <a:p>
            <a:pPr lvl="2"/>
            <a:r>
              <a:rPr lang="en-IE" sz="2800" dirty="0"/>
              <a:t>Narrow applicability – works excellently on specific subset of problems</a:t>
            </a:r>
          </a:p>
          <a:p>
            <a:pPr lvl="3"/>
            <a:r>
              <a:rPr lang="en-IE" sz="2800" dirty="0"/>
              <a:t>Requires contiguity (unbroken sequences) or predictable changes</a:t>
            </a:r>
          </a:p>
          <a:p>
            <a:pPr lvl="2"/>
            <a:r>
              <a:rPr lang="en-IE" sz="2800" dirty="0"/>
              <a:t>Error-prone – even the best developers fall prey to off-by-one errors and infinite loops when pointers aren’t updated correctly in all cases</a:t>
            </a:r>
          </a:p>
        </p:txBody>
      </p:sp>
    </p:spTree>
    <p:extLst>
      <p:ext uri="{BB962C8B-B14F-4D97-AF65-F5344CB8AC3E}">
        <p14:creationId xmlns:p14="http://schemas.microsoft.com/office/powerpoint/2010/main" val="627599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F9F7-34B2-C8F6-3E89-8EC1921BF896}"/>
              </a:ext>
            </a:extLst>
          </p:cNvPr>
          <p:cNvSpPr>
            <a:spLocks noGrp="1"/>
          </p:cNvSpPr>
          <p:nvPr>
            <p:ph type="title"/>
          </p:nvPr>
        </p:nvSpPr>
        <p:spPr/>
        <p:txBody>
          <a:bodyPr/>
          <a:lstStyle/>
          <a:p>
            <a:r>
              <a:rPr lang="en-IE" dirty="0"/>
              <a:t>Comparing Two-Pointer to Brute Force</a:t>
            </a:r>
          </a:p>
        </p:txBody>
      </p:sp>
      <p:graphicFrame>
        <p:nvGraphicFramePr>
          <p:cNvPr id="4" name="Content Placeholder 3">
            <a:extLst>
              <a:ext uri="{FF2B5EF4-FFF2-40B4-BE49-F238E27FC236}">
                <a16:creationId xmlns:a16="http://schemas.microsoft.com/office/drawing/2014/main" id="{81D87C22-7021-34BE-312B-5AF523314332}"/>
              </a:ext>
            </a:extLst>
          </p:cNvPr>
          <p:cNvGraphicFramePr>
            <a:graphicFrameLocks noGrp="1"/>
          </p:cNvGraphicFramePr>
          <p:nvPr>
            <p:ph idx="1"/>
            <p:extLst>
              <p:ext uri="{D42A27DB-BD31-4B8C-83A1-F6EECF244321}">
                <p14:modId xmlns:p14="http://schemas.microsoft.com/office/powerpoint/2010/main" val="3653635031"/>
              </p:ext>
            </p:extLst>
          </p:nvPr>
        </p:nvGraphicFramePr>
        <p:xfrm>
          <a:off x="1096963" y="1846263"/>
          <a:ext cx="10058397" cy="3749040"/>
        </p:xfrm>
        <a:graphic>
          <a:graphicData uri="http://schemas.openxmlformats.org/drawingml/2006/table">
            <a:tbl>
              <a:tblPr firstRow="1" bandRow="1">
                <a:tableStyleId>{5C22544A-7EE6-4342-B048-85BDC9FD1C3A}</a:tableStyleId>
              </a:tblPr>
              <a:tblGrid>
                <a:gridCol w="2258078">
                  <a:extLst>
                    <a:ext uri="{9D8B030D-6E8A-4147-A177-3AD203B41FA5}">
                      <a16:colId xmlns:a16="http://schemas.microsoft.com/office/drawing/2014/main" val="866181278"/>
                    </a:ext>
                  </a:extLst>
                </a:gridCol>
                <a:gridCol w="3738283">
                  <a:extLst>
                    <a:ext uri="{9D8B030D-6E8A-4147-A177-3AD203B41FA5}">
                      <a16:colId xmlns:a16="http://schemas.microsoft.com/office/drawing/2014/main" val="138708316"/>
                    </a:ext>
                  </a:extLst>
                </a:gridCol>
                <a:gridCol w="4062036">
                  <a:extLst>
                    <a:ext uri="{9D8B030D-6E8A-4147-A177-3AD203B41FA5}">
                      <a16:colId xmlns:a16="http://schemas.microsoft.com/office/drawing/2014/main" val="2397339895"/>
                    </a:ext>
                  </a:extLst>
                </a:gridCol>
              </a:tblGrid>
              <a:tr h="370840">
                <a:tc>
                  <a:txBody>
                    <a:bodyPr/>
                    <a:lstStyle/>
                    <a:p>
                      <a:r>
                        <a:rPr lang="en-IE" sz="2400" dirty="0"/>
                        <a:t>Comparison</a:t>
                      </a:r>
                    </a:p>
                  </a:txBody>
                  <a:tcPr/>
                </a:tc>
                <a:tc>
                  <a:txBody>
                    <a:bodyPr/>
                    <a:lstStyle/>
                    <a:p>
                      <a:r>
                        <a:rPr lang="en-IE" sz="2400" dirty="0"/>
                        <a:t>Two-Pointer</a:t>
                      </a:r>
                    </a:p>
                  </a:txBody>
                  <a:tcPr/>
                </a:tc>
                <a:tc>
                  <a:txBody>
                    <a:bodyPr/>
                    <a:lstStyle/>
                    <a:p>
                      <a:r>
                        <a:rPr lang="en-IE" sz="2400" dirty="0"/>
                        <a:t>Brute Force</a:t>
                      </a:r>
                    </a:p>
                  </a:txBody>
                  <a:tcPr/>
                </a:tc>
                <a:extLst>
                  <a:ext uri="{0D108BD9-81ED-4DB2-BD59-A6C34878D82A}">
                    <a16:rowId xmlns:a16="http://schemas.microsoft.com/office/drawing/2014/main" val="1916839807"/>
                  </a:ext>
                </a:extLst>
              </a:tr>
              <a:tr h="370840">
                <a:tc>
                  <a:txBody>
                    <a:bodyPr/>
                    <a:lstStyle/>
                    <a:p>
                      <a:r>
                        <a:rPr lang="en-IE" sz="2400" dirty="0"/>
                        <a:t>Time complexity</a:t>
                      </a:r>
                    </a:p>
                  </a:txBody>
                  <a:tcPr/>
                </a:tc>
                <a:tc>
                  <a:txBody>
                    <a:bodyPr/>
                    <a:lstStyle/>
                    <a:p>
                      <a:r>
                        <a:rPr lang="en-IE" sz="2400" b="1" u="none" strike="noStrike" kern="1200" dirty="0">
                          <a:solidFill>
                            <a:schemeClr val="dk1"/>
                          </a:solidFill>
                          <a:effectLst/>
                          <a:latin typeface="+mn-lt"/>
                          <a:ea typeface="+mn-ea"/>
                          <a:cs typeface="+mn-cs"/>
                        </a:rPr>
                        <a:t>O(n)</a:t>
                      </a:r>
                      <a:r>
                        <a:rPr lang="en-IE" sz="2400" dirty="0"/>
                        <a:t> – Linear cost, highly efficient</a:t>
                      </a:r>
                    </a:p>
                  </a:txBody>
                  <a:tcPr/>
                </a:tc>
                <a:tc>
                  <a:txBody>
                    <a:bodyPr/>
                    <a:lstStyle/>
                    <a:p>
                      <a:r>
                        <a:rPr lang="en-IE" sz="2400" b="1" u="none" strike="noStrike" kern="1200" dirty="0">
                          <a:solidFill>
                            <a:schemeClr val="dk1"/>
                          </a:solidFill>
                          <a:effectLst/>
                          <a:latin typeface="+mn-lt"/>
                          <a:ea typeface="+mn-ea"/>
                          <a:cs typeface="+mn-cs"/>
                        </a:rPr>
                        <a:t>O(n²)</a:t>
                      </a:r>
                      <a:r>
                        <a:rPr lang="en-IE" sz="2400" dirty="0"/>
                        <a:t> – Quadratic cost, slow for large datasets</a:t>
                      </a:r>
                    </a:p>
                  </a:txBody>
                  <a:tcPr/>
                </a:tc>
                <a:extLst>
                  <a:ext uri="{0D108BD9-81ED-4DB2-BD59-A6C34878D82A}">
                    <a16:rowId xmlns:a16="http://schemas.microsoft.com/office/drawing/2014/main" val="904364210"/>
                  </a:ext>
                </a:extLst>
              </a:tr>
              <a:tr h="370840">
                <a:tc>
                  <a:txBody>
                    <a:bodyPr/>
                    <a:lstStyle/>
                    <a:p>
                      <a:r>
                        <a:rPr lang="en-IE" sz="2400" dirty="0"/>
                        <a:t>Space complexity</a:t>
                      </a:r>
                    </a:p>
                  </a:txBody>
                  <a:tcPr/>
                </a:tc>
                <a:tc>
                  <a:txBody>
                    <a:bodyPr/>
                    <a:lstStyle/>
                    <a:p>
                      <a:r>
                        <a:rPr lang="en-IE" sz="2400" b="1" dirty="0"/>
                        <a:t>O(1) </a:t>
                      </a:r>
                      <a:r>
                        <a:rPr lang="en-IE" sz="2400" dirty="0"/>
                        <a:t>– Constant, usually </a:t>
                      </a:r>
                      <a:br>
                        <a:rPr lang="en-IE" sz="2400" dirty="0"/>
                      </a:br>
                      <a:r>
                        <a:rPr lang="en-IE" sz="2400" dirty="0"/>
                        <a:t>in-place</a:t>
                      </a:r>
                    </a:p>
                  </a:txBody>
                  <a:tcPr/>
                </a:tc>
                <a:tc>
                  <a:txBody>
                    <a:bodyPr/>
                    <a:lstStyle/>
                    <a:p>
                      <a:r>
                        <a:rPr lang="en-IE" sz="2400" dirty="0"/>
                        <a:t>Often </a:t>
                      </a:r>
                      <a:r>
                        <a:rPr lang="en-IE" sz="2400" b="1" dirty="0"/>
                        <a:t>O(n)</a:t>
                      </a:r>
                      <a:r>
                        <a:rPr lang="en-IE" sz="2400" dirty="0"/>
                        <a:t> – Requires extra arrays or hash maps</a:t>
                      </a:r>
                    </a:p>
                  </a:txBody>
                  <a:tcPr/>
                </a:tc>
                <a:extLst>
                  <a:ext uri="{0D108BD9-81ED-4DB2-BD59-A6C34878D82A}">
                    <a16:rowId xmlns:a16="http://schemas.microsoft.com/office/drawing/2014/main" val="3895520815"/>
                  </a:ext>
                </a:extLst>
              </a:tr>
              <a:tr h="370840">
                <a:tc>
                  <a:txBody>
                    <a:bodyPr/>
                    <a:lstStyle/>
                    <a:p>
                      <a:r>
                        <a:rPr lang="en-IE" sz="2400" dirty="0"/>
                        <a:t>Implementation</a:t>
                      </a:r>
                    </a:p>
                  </a:txBody>
                  <a:tcPr/>
                </a:tc>
                <a:tc>
                  <a:txBody>
                    <a:bodyPr/>
                    <a:lstStyle/>
                    <a:p>
                      <a:r>
                        <a:rPr lang="en-IE" sz="2400" b="1" dirty="0"/>
                        <a:t>Tricky</a:t>
                      </a:r>
                      <a:r>
                        <a:rPr lang="en-IE" sz="2400" dirty="0"/>
                        <a:t> to get right, prone to off-by-one errors</a:t>
                      </a:r>
                    </a:p>
                  </a:txBody>
                  <a:tcPr/>
                </a:tc>
                <a:tc>
                  <a:txBody>
                    <a:bodyPr/>
                    <a:lstStyle/>
                    <a:p>
                      <a:r>
                        <a:rPr lang="en-IE" sz="2400" dirty="0"/>
                        <a:t>Straightforward, relies on simple nested loops</a:t>
                      </a:r>
                    </a:p>
                  </a:txBody>
                  <a:tcPr/>
                </a:tc>
                <a:extLst>
                  <a:ext uri="{0D108BD9-81ED-4DB2-BD59-A6C34878D82A}">
                    <a16:rowId xmlns:a16="http://schemas.microsoft.com/office/drawing/2014/main" val="2391303182"/>
                  </a:ext>
                </a:extLst>
              </a:tr>
              <a:tr h="370840">
                <a:tc>
                  <a:txBody>
                    <a:bodyPr/>
                    <a:lstStyle/>
                    <a:p>
                      <a:r>
                        <a:rPr lang="en-IE" sz="2400" dirty="0"/>
                        <a:t>Data Constraints</a:t>
                      </a:r>
                    </a:p>
                  </a:txBody>
                  <a:tcPr/>
                </a:tc>
                <a:tc>
                  <a:txBody>
                    <a:bodyPr/>
                    <a:lstStyle/>
                    <a:p>
                      <a:r>
                        <a:rPr lang="en-IE" sz="2400" dirty="0"/>
                        <a:t>Frequently needs </a:t>
                      </a:r>
                      <a:r>
                        <a:rPr lang="en-IE" sz="2400" b="1" dirty="0"/>
                        <a:t>sorted</a:t>
                      </a:r>
                      <a:r>
                        <a:rPr lang="en-IE" sz="2400" dirty="0"/>
                        <a:t> </a:t>
                      </a:r>
                      <a:r>
                        <a:rPr lang="en-IE" sz="2400" b="1" dirty="0"/>
                        <a:t>data</a:t>
                      </a:r>
                      <a:r>
                        <a:rPr lang="en-IE" sz="2400" dirty="0"/>
                        <a:t> (or </a:t>
                      </a:r>
                      <a:r>
                        <a:rPr lang="en-IE" sz="2400" u="sng" dirty="0"/>
                        <a:t>positive</a:t>
                      </a:r>
                      <a:r>
                        <a:rPr lang="en-IE" sz="2400" dirty="0"/>
                        <a:t> data)</a:t>
                      </a:r>
                    </a:p>
                  </a:txBody>
                  <a:tcPr/>
                </a:tc>
                <a:tc>
                  <a:txBody>
                    <a:bodyPr/>
                    <a:lstStyle/>
                    <a:p>
                      <a:r>
                        <a:rPr lang="en-IE" sz="2400" dirty="0"/>
                        <a:t>Can usually deal with unsorted/any data</a:t>
                      </a:r>
                    </a:p>
                  </a:txBody>
                  <a:tcPr/>
                </a:tc>
                <a:extLst>
                  <a:ext uri="{0D108BD9-81ED-4DB2-BD59-A6C34878D82A}">
                    <a16:rowId xmlns:a16="http://schemas.microsoft.com/office/drawing/2014/main" val="2220952690"/>
                  </a:ext>
                </a:extLst>
              </a:tr>
            </a:tbl>
          </a:graphicData>
        </a:graphic>
      </p:graphicFrame>
    </p:spTree>
    <p:extLst>
      <p:ext uri="{BB962C8B-B14F-4D97-AF65-F5344CB8AC3E}">
        <p14:creationId xmlns:p14="http://schemas.microsoft.com/office/powerpoint/2010/main" val="4224903876"/>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4265</TotalTime>
  <Words>3234</Words>
  <Application>Microsoft Office PowerPoint</Application>
  <PresentationFormat>Widescreen</PresentationFormat>
  <Paragraphs>528</Paragraphs>
  <Slides>35</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Abadi</vt:lpstr>
      <vt:lpstr>Aharoni</vt:lpstr>
      <vt:lpstr>Aptos</vt:lpstr>
      <vt:lpstr>Arial</vt:lpstr>
      <vt:lpstr>Calibri</vt:lpstr>
      <vt:lpstr>Calibri Light</vt:lpstr>
      <vt:lpstr>Consolas</vt:lpstr>
      <vt:lpstr>Retrospect</vt:lpstr>
      <vt:lpstr>The Two-Pointer Technique</vt:lpstr>
      <vt:lpstr>Introducing the Two-Pointer Technique</vt:lpstr>
      <vt:lpstr>Characteristics of Two-Pointer Solutions</vt:lpstr>
      <vt:lpstr>Let’s Start With a Sample Problem</vt:lpstr>
      <vt:lpstr>Identify the Repetition</vt:lpstr>
      <vt:lpstr>The Benefit of Sorted Data</vt:lpstr>
      <vt:lpstr>The “Closing Window” Pattern:  Pointers Moving Towards Each Other</vt:lpstr>
      <vt:lpstr>Worked Example of the  “Closing Window”</vt:lpstr>
      <vt:lpstr>Repeat the Process…</vt:lpstr>
      <vt:lpstr>Sample Implementation</vt:lpstr>
      <vt:lpstr>Brute Force vs Closing Window Approach:  Complexity Comparison</vt:lpstr>
      <vt:lpstr>Problem #2: Find the Max Sum For a Contiguous Section of K Size</vt:lpstr>
      <vt:lpstr>Brute Forcing Problem #2</vt:lpstr>
      <vt:lpstr>Identify the Repetition</vt:lpstr>
      <vt:lpstr>The “Sliding Window” Pattern:  Pointers Moving in Sync</vt:lpstr>
      <vt:lpstr>Worked Example of the  “Sliding Window”</vt:lpstr>
      <vt:lpstr>Worked Example of the  “Sliding Window”</vt:lpstr>
      <vt:lpstr>Repeat the Process…</vt:lpstr>
      <vt:lpstr>Sample Implementation</vt:lpstr>
      <vt:lpstr>Brute Force vs Sliding Window Approach:  Complexity Comparison</vt:lpstr>
      <vt:lpstr>Problem #3 Deduplicating Data In-Place</vt:lpstr>
      <vt:lpstr>Identify the Repetition</vt:lpstr>
      <vt:lpstr>SOLVE the Repetition</vt:lpstr>
      <vt:lpstr>The Benefit of Sorted Data</vt:lpstr>
      <vt:lpstr>The “Read/Write” Pattern:  Pointers With Different Roles and Speeds</vt:lpstr>
      <vt:lpstr>Read/Write Pointers  in Action</vt:lpstr>
      <vt:lpstr>Sample Implementation</vt:lpstr>
      <vt:lpstr>Brute Force vs Read-Write Approach:  Complexity Comparison</vt:lpstr>
      <vt:lpstr>How to Recognise a Two-Pointer Problem</vt:lpstr>
      <vt:lpstr>Decision Flow Chart: Which (If Any) Two-Pointer Should I Use?</vt:lpstr>
      <vt:lpstr>Practice Problem #1:  Palindrome Detector</vt:lpstr>
      <vt:lpstr>Practice Problem #1:  Palindrome Detector</vt:lpstr>
      <vt:lpstr>Practice Problem #2:  Reverse an Array In-Place</vt:lpstr>
      <vt:lpstr>Advantages &amp; Disadvantages</vt:lpstr>
      <vt:lpstr>Comparing Two-Pointer to Brute Force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Michelle Graham</dc:creator>
  <cp:lastModifiedBy>Michelle Graham</cp:lastModifiedBy>
  <cp:revision>36</cp:revision>
  <dcterms:created xsi:type="dcterms:W3CDTF">2024-12-01T22:44:37Z</dcterms:created>
  <dcterms:modified xsi:type="dcterms:W3CDTF">2026-10-11T00:11:06Z</dcterms:modified>
</cp:coreProperties>
</file>