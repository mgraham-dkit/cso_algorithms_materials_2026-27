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1" r:id="rId1"/>
  </p:sldMasterIdLst>
  <p:notesMasterIdLst>
    <p:notesMasterId r:id="rId21"/>
  </p:notesMasterIdLst>
  <p:sldIdLst>
    <p:sldId id="256" r:id="rId2"/>
    <p:sldId id="258" r:id="rId3"/>
    <p:sldId id="259" r:id="rId4"/>
    <p:sldId id="301" r:id="rId5"/>
    <p:sldId id="260" r:id="rId6"/>
    <p:sldId id="304" r:id="rId7"/>
    <p:sldId id="261" r:id="rId8"/>
    <p:sldId id="262" r:id="rId9"/>
    <p:sldId id="263" r:id="rId10"/>
    <p:sldId id="272" r:id="rId11"/>
    <p:sldId id="264" r:id="rId12"/>
    <p:sldId id="265" r:id="rId13"/>
    <p:sldId id="302" r:id="rId14"/>
    <p:sldId id="266" r:id="rId15"/>
    <p:sldId id="269" r:id="rId16"/>
    <p:sldId id="303" r:id="rId17"/>
    <p:sldId id="271" r:id="rId18"/>
    <p:sldId id="270" r:id="rId19"/>
    <p:sldId id="26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6671A4D-FFCF-452A-9286-CB1643CB66E9}">
          <p14:sldIdLst>
            <p14:sldId id="256"/>
          </p14:sldIdLst>
        </p14:section>
        <p14:section name="Comparing Algorithms" id="{2A322115-7CA1-43B3-95C4-F8379B4C8AED}">
          <p14:sldIdLst>
            <p14:sldId id="258"/>
            <p14:sldId id="259"/>
            <p14:sldId id="301"/>
            <p14:sldId id="260"/>
            <p14:sldId id="304"/>
            <p14:sldId id="261"/>
          </p14:sldIdLst>
        </p14:section>
        <p14:section name="Basic Complexities" id="{5A6EFFAE-9F7A-40E2-BB27-AECE17325A45}">
          <p14:sldIdLst>
            <p14:sldId id="262"/>
            <p14:sldId id="263"/>
            <p14:sldId id="272"/>
            <p14:sldId id="264"/>
            <p14:sldId id="265"/>
            <p14:sldId id="302"/>
          </p14:sldIdLst>
        </p14:section>
        <p14:section name="Complex Complexities" id="{B5472EA6-1AA0-404B-904E-C4599F8E36DF}">
          <p14:sldIdLst>
            <p14:sldId id="266"/>
            <p14:sldId id="269"/>
            <p14:sldId id="303"/>
            <p14:sldId id="271"/>
            <p14:sldId id="270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3" d="100"/>
          <a:sy n="83" d="100"/>
        </p:scale>
        <p:origin x="43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744B92-44D7-4CC8-B053-4F88497667A0}" type="datetimeFigureOut">
              <a:rPr lang="en-IE" smtClean="0"/>
              <a:t>04/10/2026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38A1AA-1041-427D-8A2C-9304A79BD52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87558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*</a:t>
            </a:r>
            <a:r>
              <a:rPr lang="en-IE" baseline="0" dirty="0"/>
              <a:t> Not in the scope of the course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38A1AA-1041-427D-8A2C-9304A79BD524}" type="slidenum">
              <a:rPr lang="en-IE" smtClean="0"/>
              <a:t>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616028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Awareness only!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38A1AA-1041-427D-8A2C-9304A79BD524}" type="slidenum">
              <a:rPr lang="en-IE" smtClean="0"/>
              <a:t>17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78356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Awareness only!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38A1AA-1041-427D-8A2C-9304A79BD524}" type="slidenum">
              <a:rPr lang="en-IE" smtClean="0"/>
              <a:t>18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56370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1148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173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245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339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987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813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797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855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906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055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987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819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Algorithm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Defining &amp; Evaluating Algorithms</a:t>
            </a:r>
          </a:p>
        </p:txBody>
      </p:sp>
    </p:spTree>
    <p:extLst>
      <p:ext uri="{BB962C8B-B14F-4D97-AF65-F5344CB8AC3E}">
        <p14:creationId xmlns:p14="http://schemas.microsoft.com/office/powerpoint/2010/main" val="3114800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Revision: Properties of an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E" sz="3200" dirty="0"/>
              <a:t>All algorithms should have the following properties:</a:t>
            </a:r>
          </a:p>
          <a:p>
            <a:pPr lvl="2"/>
            <a:r>
              <a:rPr lang="en-IE" sz="2800" dirty="0">
                <a:solidFill>
                  <a:srgbClr val="FF0000"/>
                </a:solidFill>
              </a:rPr>
              <a:t>Finite</a:t>
            </a:r>
            <a:r>
              <a:rPr lang="en-IE" sz="2800" dirty="0"/>
              <a:t> – the algorithm should </a:t>
            </a:r>
            <a:r>
              <a:rPr lang="en-IE" sz="2800" b="1" dirty="0"/>
              <a:t>always terminate</a:t>
            </a:r>
          </a:p>
          <a:p>
            <a:pPr lvl="2"/>
            <a:r>
              <a:rPr lang="en-IE" sz="2800" dirty="0">
                <a:solidFill>
                  <a:srgbClr val="FF0000"/>
                </a:solidFill>
              </a:rPr>
              <a:t>Defined</a:t>
            </a:r>
            <a:r>
              <a:rPr lang="en-IE" sz="2800" dirty="0"/>
              <a:t> – Every action the algorithm needs to take should be </a:t>
            </a:r>
            <a:r>
              <a:rPr lang="en-IE" sz="2800" b="1" dirty="0"/>
              <a:t>specifically defined</a:t>
            </a:r>
            <a:r>
              <a:rPr lang="en-IE" sz="2800" dirty="0"/>
              <a:t> (no fuzziness allowed)</a:t>
            </a:r>
          </a:p>
          <a:p>
            <a:pPr lvl="2"/>
            <a:r>
              <a:rPr lang="en-IE" sz="2800" dirty="0">
                <a:solidFill>
                  <a:srgbClr val="FF0000"/>
                </a:solidFill>
              </a:rPr>
              <a:t>Inputs</a:t>
            </a:r>
            <a:r>
              <a:rPr lang="en-IE" sz="2800" dirty="0"/>
              <a:t> – All algorithms should have </a:t>
            </a:r>
            <a:r>
              <a:rPr lang="en-IE" sz="2800" b="1" dirty="0"/>
              <a:t>0 or more inputs</a:t>
            </a:r>
          </a:p>
          <a:p>
            <a:pPr lvl="2"/>
            <a:r>
              <a:rPr lang="en-IE" sz="2800" dirty="0">
                <a:solidFill>
                  <a:srgbClr val="FF0000"/>
                </a:solidFill>
              </a:rPr>
              <a:t>Output</a:t>
            </a:r>
            <a:r>
              <a:rPr lang="en-IE" sz="2800" dirty="0"/>
              <a:t> – All algorithms should have an </a:t>
            </a:r>
            <a:r>
              <a:rPr lang="en-IE" sz="2800" b="1" dirty="0"/>
              <a:t>output</a:t>
            </a:r>
          </a:p>
          <a:p>
            <a:pPr lvl="2"/>
            <a:r>
              <a:rPr lang="en-IE" sz="2800" dirty="0">
                <a:solidFill>
                  <a:srgbClr val="FF0000"/>
                </a:solidFill>
              </a:rPr>
              <a:t>Effectiveness</a:t>
            </a:r>
            <a:r>
              <a:rPr lang="en-IE" sz="2800" dirty="0"/>
              <a:t> – An algorithm is expected to work! It should also work in a </a:t>
            </a:r>
            <a:r>
              <a:rPr lang="en-IE" sz="2800" b="1" u="sng" dirty="0"/>
              <a:t>reasonable amount of time</a:t>
            </a:r>
            <a:r>
              <a:rPr lang="en-IE" sz="2800" dirty="0"/>
              <a:t>.</a:t>
            </a:r>
          </a:p>
        </p:txBody>
      </p:sp>
      <p:cxnSp>
        <p:nvCxnSpPr>
          <p:cNvPr id="5" name="Straight Arrow Connector 4"/>
          <p:cNvCxnSpPr>
            <a:stCxn id="6" idx="1"/>
          </p:cNvCxnSpPr>
          <p:nvPr/>
        </p:nvCxnSpPr>
        <p:spPr>
          <a:xfrm flipH="1" flipV="1">
            <a:off x="7224584" y="5257139"/>
            <a:ext cx="1187305" cy="415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1889" y="5257139"/>
            <a:ext cx="30562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/>
              <a:t>How can we tell </a:t>
            </a:r>
            <a:r>
              <a:rPr lang="en-IE" sz="2400" dirty="0">
                <a:solidFill>
                  <a:srgbClr val="FF0000"/>
                </a:solidFill>
              </a:rPr>
              <a:t>without</a:t>
            </a:r>
            <a:r>
              <a:rPr lang="en-IE" sz="2400" dirty="0"/>
              <a:t> running it??</a:t>
            </a:r>
          </a:p>
        </p:txBody>
      </p:sp>
    </p:spTree>
    <p:extLst>
      <p:ext uri="{BB962C8B-B14F-4D97-AF65-F5344CB8AC3E}">
        <p14:creationId xmlns:p14="http://schemas.microsoft.com/office/powerpoint/2010/main" val="3871552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Comparing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1"/>
            <a:r>
              <a:rPr lang="en-IE" sz="3200" dirty="0"/>
              <a:t>We always assume algorithms function correctly</a:t>
            </a:r>
          </a:p>
          <a:p>
            <a:pPr lvl="2"/>
            <a:r>
              <a:rPr lang="en-IE" sz="2800" dirty="0"/>
              <a:t>They should do the job they are designed to do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To decide on which algorithm to implement as the solution to a problem, we need a way to compare their effectiveness</a:t>
            </a:r>
          </a:p>
          <a:p>
            <a:pPr lvl="2"/>
            <a:r>
              <a:rPr lang="en-IE" sz="2800" dirty="0"/>
              <a:t>This is usually done by comparing the </a:t>
            </a:r>
            <a:r>
              <a:rPr lang="en-IE" sz="2800" dirty="0">
                <a:solidFill>
                  <a:srgbClr val="FF0000"/>
                </a:solidFill>
              </a:rPr>
              <a:t>time</a:t>
            </a:r>
            <a:r>
              <a:rPr lang="en-IE" sz="2800" dirty="0"/>
              <a:t> or </a:t>
            </a:r>
            <a:r>
              <a:rPr lang="en-IE" sz="2800" dirty="0">
                <a:solidFill>
                  <a:srgbClr val="FF0000"/>
                </a:solidFill>
              </a:rPr>
              <a:t>space</a:t>
            </a:r>
            <a:r>
              <a:rPr lang="en-IE" sz="2800" dirty="0"/>
              <a:t> </a:t>
            </a:r>
            <a:r>
              <a:rPr lang="en-IE" sz="2800" dirty="0">
                <a:solidFill>
                  <a:srgbClr val="FF0000"/>
                </a:solidFill>
              </a:rPr>
              <a:t>requirements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One way to compare time/space requirements for an algorithm is to use asymptotic analysis, i.e. the time/space costs when running an algorithm</a:t>
            </a:r>
          </a:p>
          <a:p>
            <a:pPr lvl="2"/>
            <a:r>
              <a:rPr lang="en-IE" sz="2800" dirty="0">
                <a:solidFill>
                  <a:srgbClr val="FF0000"/>
                </a:solidFill>
              </a:rPr>
              <a:t>Big O: How an algorithm’s requirements grow as input size increases</a:t>
            </a:r>
            <a:endParaRPr lang="en-I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9920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Comparing Algorithms with Big 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1"/>
            <a:r>
              <a:rPr lang="en-IE" sz="3200" dirty="0"/>
              <a:t>Big O is about </a:t>
            </a:r>
            <a:r>
              <a:rPr lang="en-IE" sz="3200" i="1" dirty="0"/>
              <a:t>rate of growth</a:t>
            </a:r>
            <a:endParaRPr lang="en-IE" sz="3200" dirty="0"/>
          </a:p>
          <a:p>
            <a:pPr lvl="2"/>
            <a:r>
              <a:rPr lang="en-IE" sz="2800" dirty="0">
                <a:solidFill>
                  <a:srgbClr val="FF0000"/>
                </a:solidFill>
              </a:rPr>
              <a:t>How an algorithm will perform as it scales up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Given an algorithm A, how will it perform with a dataset of 3000?</a:t>
            </a:r>
          </a:p>
          <a:p>
            <a:pPr lvl="1"/>
            <a:r>
              <a:rPr lang="en-IE" sz="3200" dirty="0"/>
              <a:t>How will it perform with a dataset of 3,000,000?</a:t>
            </a:r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Big O allows us to make a “pure” comparison of algorithms, without worrying about:</a:t>
            </a:r>
          </a:p>
          <a:p>
            <a:pPr lvl="2"/>
            <a:r>
              <a:rPr lang="en-IE" sz="2800" dirty="0"/>
              <a:t>The hardware they’re running on</a:t>
            </a:r>
          </a:p>
          <a:p>
            <a:pPr lvl="2"/>
            <a:r>
              <a:rPr lang="en-IE" sz="2800" dirty="0"/>
              <a:t>Any other “background noise” on the computer executing the algorithms</a:t>
            </a:r>
          </a:p>
          <a:p>
            <a:pPr lvl="1"/>
            <a:endParaRPr lang="en-IE" sz="3200" dirty="0"/>
          </a:p>
          <a:p>
            <a:pPr lvl="1"/>
            <a:endParaRPr lang="en-IE" sz="3200" dirty="0"/>
          </a:p>
        </p:txBody>
      </p:sp>
    </p:spTree>
    <p:extLst>
      <p:ext uri="{BB962C8B-B14F-4D97-AF65-F5344CB8AC3E}">
        <p14:creationId xmlns:p14="http://schemas.microsoft.com/office/powerpoint/2010/main" val="3762260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Big 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1"/>
            <a:r>
              <a:rPr lang="en-IE" sz="3200" dirty="0"/>
              <a:t>Big O analysis measures the requirements of an algorithm </a:t>
            </a:r>
            <a:r>
              <a:rPr lang="en-IE" sz="3200" dirty="0">
                <a:solidFill>
                  <a:srgbClr val="FF0000"/>
                </a:solidFill>
              </a:rPr>
              <a:t>relative to its input size</a:t>
            </a:r>
          </a:p>
          <a:p>
            <a:pPr lvl="2"/>
            <a:r>
              <a:rPr lang="en-IE" sz="2800" dirty="0"/>
              <a:t>This is referred to as the “</a:t>
            </a:r>
            <a:r>
              <a:rPr lang="en-IE" sz="2800" dirty="0">
                <a:solidFill>
                  <a:srgbClr val="FF0000"/>
                </a:solidFill>
              </a:rPr>
              <a:t>complexity</a:t>
            </a:r>
            <a:r>
              <a:rPr lang="en-IE" sz="2800" dirty="0"/>
              <a:t>” of the algorithm</a:t>
            </a:r>
          </a:p>
          <a:p>
            <a:pPr lvl="2"/>
            <a:r>
              <a:rPr lang="en-IE" sz="2800" dirty="0"/>
              <a:t>Allows us to rate algorithm efficiency/cost so they can be compared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Big O is always discussed </a:t>
            </a:r>
            <a:r>
              <a:rPr lang="en-IE" sz="3200" b="1" u="sng" dirty="0"/>
              <a:t>relative to the size of the input </a:t>
            </a:r>
          </a:p>
          <a:p>
            <a:pPr lvl="2"/>
            <a:r>
              <a:rPr lang="en-IE" sz="2800" dirty="0"/>
              <a:t>Major impact factor on how long an algorithm will take to execute!</a:t>
            </a:r>
          </a:p>
          <a:p>
            <a:pPr lvl="2"/>
            <a:r>
              <a:rPr lang="en-IE" sz="2800" dirty="0"/>
              <a:t>We ignore constant values and multipliers because they do not impact the scale of the algorithm’s requirements</a:t>
            </a:r>
          </a:p>
        </p:txBody>
      </p:sp>
    </p:spTree>
    <p:extLst>
      <p:ext uri="{BB962C8B-B14F-4D97-AF65-F5344CB8AC3E}">
        <p14:creationId xmlns:p14="http://schemas.microsoft.com/office/powerpoint/2010/main" val="2308098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D1DA3-4DC4-1B1C-5885-746A0033C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Big O Simplification Rule: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2BB134-A343-804E-2A41-69D9F2FC93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12166" y="3853131"/>
                <a:ext cx="10276936" cy="552091"/>
              </a:xfrm>
            </p:spPr>
            <p:txBody>
              <a:bodyPr>
                <a:noAutofit/>
              </a:bodyPr>
              <a:lstStyle/>
              <a:p>
                <a:pPr marL="201168" lvl="1" indent="0">
                  <a:buNone/>
                </a:pPr>
                <a:r>
                  <a:rPr lang="en-IE" sz="2600" dirty="0"/>
                  <a:t>If step 1 of an algorithm takes n iterations to complete &amp; step 2 takes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E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sz="2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E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E" sz="2600" dirty="0"/>
                  <a:t>: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2BB134-A343-804E-2A41-69D9F2FC93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12166" y="3853131"/>
                <a:ext cx="10276936" cy="552091"/>
              </a:xfrm>
              <a:blipFill>
                <a:blip r:embed="rId2"/>
                <a:stretch>
                  <a:fillRect t="-15385" b="-10989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7D39CA1-D525-BC0F-D45B-C08CD44CCC43}"/>
              </a:ext>
            </a:extLst>
          </p:cNvPr>
          <p:cNvSpPr txBox="1">
            <a:spLocks/>
          </p:cNvSpPr>
          <p:nvPr/>
        </p:nvSpPr>
        <p:spPr>
          <a:xfrm>
            <a:off x="1097280" y="4474234"/>
            <a:ext cx="10058400" cy="1966822"/>
          </a:xfrm>
          <a:prstGeom prst="rect">
            <a:avLst/>
          </a:prstGeom>
        </p:spPr>
        <p:txBody>
          <a:bodyPr vert="horz" lIns="0" tIns="45720" rIns="0" bIns="45720" numCol="3" rtlCol="0">
            <a:normAutofit fontScale="700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3400" dirty="0"/>
              <a:t>Where n = 10:</a:t>
            </a:r>
          </a:p>
          <a:p>
            <a:pPr lvl="2"/>
            <a:r>
              <a:rPr lang="en-IE" sz="2800" dirty="0"/>
              <a:t>Step 1 takes 10 iterations</a:t>
            </a:r>
          </a:p>
          <a:p>
            <a:pPr lvl="2"/>
            <a:r>
              <a:rPr lang="en-IE" sz="2800" dirty="0"/>
              <a:t>Step 2 takes 100 iterations</a:t>
            </a:r>
          </a:p>
          <a:p>
            <a:pPr lvl="2"/>
            <a:r>
              <a:rPr lang="en-IE" sz="2800" dirty="0"/>
              <a:t>Total cost: </a:t>
            </a:r>
            <a:r>
              <a:rPr lang="en-IE" sz="2800" dirty="0">
                <a:solidFill>
                  <a:srgbClr val="FF0000"/>
                </a:solidFill>
              </a:rPr>
              <a:t>110</a:t>
            </a:r>
          </a:p>
          <a:p>
            <a:pPr lvl="2"/>
            <a:endParaRPr lang="en-IE" sz="2800" dirty="0"/>
          </a:p>
          <a:p>
            <a:endParaRPr lang="en-IE" sz="3400" dirty="0"/>
          </a:p>
          <a:p>
            <a:r>
              <a:rPr lang="en-IE" sz="3400" dirty="0"/>
              <a:t>Where n = 100:</a:t>
            </a:r>
          </a:p>
          <a:p>
            <a:pPr lvl="2"/>
            <a:r>
              <a:rPr lang="en-IE" sz="2800" dirty="0"/>
              <a:t>Step 1 takes 100 iterations</a:t>
            </a:r>
          </a:p>
          <a:p>
            <a:pPr lvl="2"/>
            <a:r>
              <a:rPr lang="en-IE" sz="2800" dirty="0"/>
              <a:t>Step 2 takes 10000 iterations!</a:t>
            </a:r>
          </a:p>
          <a:p>
            <a:pPr lvl="2"/>
            <a:r>
              <a:rPr lang="en-IE" sz="2800" dirty="0"/>
              <a:t>Total cost: </a:t>
            </a:r>
            <a:r>
              <a:rPr lang="en-IE" sz="2800" dirty="0">
                <a:solidFill>
                  <a:srgbClr val="FF0000"/>
                </a:solidFill>
              </a:rPr>
              <a:t>10100</a:t>
            </a:r>
          </a:p>
          <a:p>
            <a:pPr lvl="2"/>
            <a:endParaRPr lang="en-IE" sz="2800" dirty="0">
              <a:solidFill>
                <a:srgbClr val="FF0000"/>
              </a:solidFill>
            </a:endParaRPr>
          </a:p>
          <a:p>
            <a:r>
              <a:rPr lang="en-IE" sz="3400" dirty="0"/>
              <a:t>Where n = 1000:</a:t>
            </a:r>
          </a:p>
          <a:p>
            <a:pPr lvl="2"/>
            <a:r>
              <a:rPr lang="en-IE" sz="2800" dirty="0"/>
              <a:t>Step 1 takes 1000 iterations</a:t>
            </a:r>
          </a:p>
          <a:p>
            <a:pPr lvl="2"/>
            <a:r>
              <a:rPr lang="en-IE" sz="2800" dirty="0"/>
              <a:t>Step 2 takes 1000000 iterations!</a:t>
            </a:r>
          </a:p>
          <a:p>
            <a:pPr lvl="2"/>
            <a:r>
              <a:rPr lang="en-IE" sz="2800" dirty="0"/>
              <a:t>Total cost: </a:t>
            </a:r>
            <a:r>
              <a:rPr lang="en-IE" sz="2800" dirty="0">
                <a:solidFill>
                  <a:srgbClr val="FF0000"/>
                </a:solidFill>
              </a:rPr>
              <a:t>1001000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6D698FA2-248F-783D-BFA7-E6F351E916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97280" y="1845731"/>
                <a:ext cx="10058400" cy="1938388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 fontScale="85000" lnSpcReduction="10000"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:r>
                  <a:rPr lang="en-IE" sz="3100" dirty="0"/>
                  <a:t>Big O focuses on what will make the biggest impact on performance</a:t>
                </a:r>
              </a:p>
              <a:p>
                <a:pPr lvl="2"/>
                <a:r>
                  <a:rPr lang="en-IE" sz="2800" dirty="0"/>
                  <a:t>The most expensive action makes the biggest difference</a:t>
                </a:r>
              </a:p>
              <a:p>
                <a:pPr lvl="1"/>
                <a:r>
                  <a:rPr lang="en-IE" sz="3100" dirty="0">
                    <a:solidFill>
                      <a:srgbClr val="FF0000"/>
                    </a:solidFill>
                  </a:rPr>
                  <a:t>Constant values and multipliers are ignored</a:t>
                </a:r>
                <a:r>
                  <a:rPr lang="en-IE" sz="3100" dirty="0"/>
                  <a:t> </a:t>
                </a:r>
                <a:r>
                  <a:rPr lang="en-IE" sz="3100" b="1" u="sng" dirty="0"/>
                  <a:t>because</a:t>
                </a:r>
                <a:r>
                  <a:rPr lang="en-IE" sz="3100" dirty="0"/>
                  <a:t> their impact does not impact the growth class of the algorithm</a:t>
                </a:r>
              </a:p>
              <a:p>
                <a:pPr lvl="2"/>
                <a:r>
                  <a:rPr lang="en-IE" sz="2700" dirty="0"/>
                  <a:t>3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E" sz="27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sz="27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E" sz="27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E" sz="2700" dirty="0"/>
                  <a:t> + 5n + 7 is still considered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E" sz="27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sz="27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E" sz="27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E" sz="2700" dirty="0"/>
                  <a:t>)!</a:t>
                </a:r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6D698FA2-248F-783D-BFA7-E6F351E91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1845731"/>
                <a:ext cx="10058400" cy="1938388"/>
              </a:xfrm>
              <a:prstGeom prst="rect">
                <a:avLst/>
              </a:prstGeom>
              <a:blipFill>
                <a:blip r:embed="rId3"/>
                <a:stretch>
                  <a:fillRect t="-6918" r="-303" b="-2516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6959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Common Complexity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E" sz="3200" dirty="0"/>
              <a:t>O(1) 		- 	Fixed</a:t>
            </a:r>
          </a:p>
          <a:p>
            <a:pPr lvl="1"/>
            <a:r>
              <a:rPr lang="en-IE" sz="3200" dirty="0"/>
              <a:t>O(N) 		- 	Linear</a:t>
            </a:r>
          </a:p>
          <a:p>
            <a:pPr lvl="1"/>
            <a:r>
              <a:rPr lang="en-IE" sz="3200" dirty="0"/>
              <a:t>O(N</a:t>
            </a:r>
            <a:r>
              <a:rPr lang="en-IE" sz="3200" baseline="30000" dirty="0"/>
              <a:t>2</a:t>
            </a:r>
            <a:r>
              <a:rPr lang="en-IE" sz="3200" dirty="0"/>
              <a:t>) 		- 	Quadratic</a:t>
            </a:r>
          </a:p>
          <a:p>
            <a:pPr lvl="1"/>
            <a:r>
              <a:rPr lang="en-IE" sz="3200" dirty="0"/>
              <a:t>O(log N) 	- 	Logarithmic</a:t>
            </a:r>
          </a:p>
          <a:p>
            <a:pPr lvl="1"/>
            <a:r>
              <a:rPr lang="en-IE" sz="3200" dirty="0"/>
              <a:t>O(N log N) 	- 	</a:t>
            </a:r>
            <a:r>
              <a:rPr lang="en-IE" sz="3200" dirty="0" err="1"/>
              <a:t>Linearithmic</a:t>
            </a:r>
            <a:endParaRPr lang="en-IE" sz="3200" dirty="0"/>
          </a:p>
          <a:p>
            <a:pPr lvl="1"/>
            <a:r>
              <a:rPr lang="en-IE" sz="3200" dirty="0"/>
              <a:t>O(2</a:t>
            </a:r>
            <a:r>
              <a:rPr lang="en-IE" sz="3200" baseline="30000" dirty="0"/>
              <a:t>N</a:t>
            </a:r>
            <a:r>
              <a:rPr lang="en-IE" sz="3200" dirty="0"/>
              <a:t>)		-	Exponential*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924431" y="1953844"/>
            <a:ext cx="4211711" cy="1281723"/>
            <a:chOff x="6924431" y="1953844"/>
            <a:chExt cx="4211711" cy="1281723"/>
          </a:xfrm>
        </p:grpSpPr>
        <p:sp>
          <p:nvSpPr>
            <p:cNvPr id="4" name="Right Brace 3"/>
            <p:cNvSpPr/>
            <p:nvPr/>
          </p:nvSpPr>
          <p:spPr>
            <a:xfrm>
              <a:off x="6924431" y="1953844"/>
              <a:ext cx="719015" cy="1281723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584832" y="2179206"/>
              <a:ext cx="355131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sz="2400" dirty="0"/>
                <a:t>Most of what we’ve done so far lives here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963507" y="3441915"/>
            <a:ext cx="4172635" cy="848731"/>
            <a:chOff x="6943969" y="1934830"/>
            <a:chExt cx="4172635" cy="848731"/>
          </a:xfrm>
        </p:grpSpPr>
        <p:sp>
          <p:nvSpPr>
            <p:cNvPr id="8" name="Right Brace 7"/>
            <p:cNvSpPr/>
            <p:nvPr/>
          </p:nvSpPr>
          <p:spPr>
            <a:xfrm>
              <a:off x="6943969" y="1988673"/>
              <a:ext cx="679940" cy="794888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565294" y="1934830"/>
              <a:ext cx="355131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sz="2400" dirty="0"/>
                <a:t>We’ll be doing some examples from here soon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2053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Basic Complexities: Fixed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201168" lvl="1" indent="0">
              <a:buNone/>
            </a:pPr>
            <a:r>
              <a:rPr lang="en-IE" sz="3200" dirty="0"/>
              <a:t>O(1) – Has a </a:t>
            </a:r>
            <a:r>
              <a:rPr lang="en-IE" sz="3200" b="1" i="1" dirty="0"/>
              <a:t>constant</a:t>
            </a:r>
            <a:r>
              <a:rPr lang="en-IE" sz="3200" dirty="0"/>
              <a:t> complexity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The algorithm/line of code will take the exact same work to complete, regardless </a:t>
            </a:r>
            <a:r>
              <a:rPr lang="en-IE" sz="3200"/>
              <a:t>of the input </a:t>
            </a:r>
            <a:r>
              <a:rPr lang="en-IE" sz="3200" dirty="0"/>
              <a:t>size</a:t>
            </a:r>
          </a:p>
          <a:p>
            <a:pPr lvl="2"/>
            <a:r>
              <a:rPr lang="en-IE" sz="2800" dirty="0"/>
              <a:t>Fixed complexity algorithms will never contain </a:t>
            </a:r>
            <a:r>
              <a:rPr lang="en-IE" sz="2800" i="1" dirty="0"/>
              <a:t>non-constant</a:t>
            </a:r>
            <a:r>
              <a:rPr lang="en-IE" sz="2800" dirty="0"/>
              <a:t> loops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Example:</a:t>
            </a:r>
          </a:p>
          <a:p>
            <a:pPr marL="384048" lvl="2" indent="0">
              <a:buNone/>
            </a:pPr>
            <a:r>
              <a:rPr lang="en-IE" sz="2800" dirty="0"/>
              <a:t>public static boolean </a:t>
            </a:r>
            <a:r>
              <a:rPr lang="en-IE" sz="2800" dirty="0" err="1"/>
              <a:t>hasFirstElement</a:t>
            </a:r>
            <a:r>
              <a:rPr lang="en-IE" sz="2800" dirty="0"/>
              <a:t>(String [] elements){</a:t>
            </a:r>
            <a:br>
              <a:rPr lang="en-IE" sz="2800" dirty="0"/>
            </a:br>
            <a:r>
              <a:rPr lang="en-IE" sz="2800" dirty="0"/>
              <a:t>	return elements[0] != null;</a:t>
            </a:r>
            <a:br>
              <a:rPr lang="en-IE" sz="2800" dirty="0"/>
            </a:br>
            <a:r>
              <a:rPr lang="en-IE" sz="2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01219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Basic Complexities: Linear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628808"/>
          </a:xfrm>
        </p:spPr>
        <p:txBody>
          <a:bodyPr>
            <a:normAutofit fontScale="70000" lnSpcReduction="20000"/>
          </a:bodyPr>
          <a:lstStyle/>
          <a:p>
            <a:pPr marL="201168" lvl="1" indent="0">
              <a:buNone/>
            </a:pPr>
            <a:r>
              <a:rPr lang="en-IE" sz="3600" dirty="0"/>
              <a:t>O(N) – has a </a:t>
            </a:r>
            <a:r>
              <a:rPr lang="en-IE" sz="3600" b="1" i="1" dirty="0"/>
              <a:t>linear</a:t>
            </a:r>
            <a:r>
              <a:rPr lang="en-IE" sz="3600" dirty="0"/>
              <a:t> complexity (N, where n is the input size)</a:t>
            </a:r>
          </a:p>
          <a:p>
            <a:pPr lvl="1"/>
            <a:endParaRPr lang="en-IE" sz="3600" dirty="0"/>
          </a:p>
          <a:p>
            <a:pPr lvl="1"/>
            <a:r>
              <a:rPr lang="en-IE" sz="3600" dirty="0"/>
              <a:t>The algorithm/line of code’s time/space requirements will grow linearly in proportion to the input size</a:t>
            </a:r>
          </a:p>
          <a:p>
            <a:pPr lvl="2"/>
            <a:r>
              <a:rPr lang="en-IE" sz="3200" dirty="0"/>
              <a:t>A single for loop iterating from start to end of a data set has linear complexity</a:t>
            </a:r>
          </a:p>
          <a:p>
            <a:pPr lvl="2"/>
            <a:endParaRPr lang="en-IE" sz="3200" dirty="0"/>
          </a:p>
          <a:p>
            <a:pPr lvl="1"/>
            <a:r>
              <a:rPr lang="en-IE" sz="3200" dirty="0"/>
              <a:t>Example:</a:t>
            </a:r>
          </a:p>
          <a:p>
            <a:pPr marL="384048" lvl="2" indent="0">
              <a:buNone/>
            </a:pPr>
            <a:r>
              <a:rPr lang="en-IE" sz="2800" dirty="0"/>
              <a:t>public static boolean contains(String [] elements, String e){</a:t>
            </a:r>
            <a:br>
              <a:rPr lang="en-IE" sz="2800" dirty="0"/>
            </a:br>
            <a:r>
              <a:rPr lang="en-IE" sz="2800" dirty="0"/>
              <a:t>	for(String current: elements){</a:t>
            </a:r>
            <a:br>
              <a:rPr lang="en-IE" sz="2800" dirty="0"/>
            </a:br>
            <a:r>
              <a:rPr lang="en-IE" sz="2800" dirty="0"/>
              <a:t>		if(</a:t>
            </a:r>
            <a:r>
              <a:rPr lang="en-IE" sz="2800" dirty="0" err="1"/>
              <a:t>current.equals</a:t>
            </a:r>
            <a:r>
              <a:rPr lang="en-IE" sz="2800" dirty="0"/>
              <a:t>(e)){</a:t>
            </a:r>
            <a:br>
              <a:rPr lang="en-IE" sz="2800" dirty="0"/>
            </a:br>
            <a:r>
              <a:rPr lang="en-IE" sz="2800" dirty="0"/>
              <a:t>			return true;</a:t>
            </a:r>
            <a:br>
              <a:rPr lang="en-IE" sz="2800" dirty="0"/>
            </a:br>
            <a:r>
              <a:rPr lang="en-IE" sz="2800" dirty="0"/>
              <a:t>		}</a:t>
            </a:r>
            <a:br>
              <a:rPr lang="en-IE" sz="2800" dirty="0"/>
            </a:br>
            <a:r>
              <a:rPr lang="en-IE" sz="2800" dirty="0"/>
              <a:t>	}</a:t>
            </a:r>
            <a:br>
              <a:rPr lang="en-IE" sz="2800" dirty="0"/>
            </a:br>
            <a:r>
              <a:rPr lang="en-IE" sz="2800" dirty="0"/>
              <a:t>	return false;</a:t>
            </a:r>
            <a:br>
              <a:rPr lang="en-IE" sz="2800" dirty="0"/>
            </a:br>
            <a:r>
              <a:rPr lang="en-IE" sz="2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42206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Another Example of Linear Complexity – Linear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76912"/>
          </a:xfrm>
        </p:spPr>
        <p:txBody>
          <a:bodyPr>
            <a:normAutofit fontScale="85000" lnSpcReduction="20000"/>
          </a:bodyPr>
          <a:lstStyle/>
          <a:p>
            <a:pPr lvl="1"/>
            <a:r>
              <a:rPr lang="en-IE" sz="3200" dirty="0"/>
              <a:t>Linear search: checking each element in an array, one after the other</a:t>
            </a:r>
          </a:p>
          <a:p>
            <a:pPr lvl="2"/>
            <a:r>
              <a:rPr lang="en-IE" sz="2800" dirty="0"/>
              <a:t>Only stop when either:</a:t>
            </a:r>
          </a:p>
          <a:p>
            <a:pPr lvl="3"/>
            <a:r>
              <a:rPr lang="en-IE" sz="2400" dirty="0"/>
              <a:t>You find a match</a:t>
            </a:r>
            <a:br>
              <a:rPr lang="en-IE" sz="2400" dirty="0"/>
            </a:br>
            <a:r>
              <a:rPr lang="en-IE" sz="2400" dirty="0"/>
              <a:t>OR</a:t>
            </a:r>
          </a:p>
          <a:p>
            <a:pPr lvl="3"/>
            <a:r>
              <a:rPr lang="en-IE" sz="2400" dirty="0"/>
              <a:t>You reach the end of the array</a:t>
            </a:r>
          </a:p>
          <a:p>
            <a:pPr lvl="1"/>
            <a:endParaRPr lang="en-IE" sz="2800" dirty="0"/>
          </a:p>
          <a:p>
            <a:pPr lvl="1"/>
            <a:r>
              <a:rPr lang="en-IE" sz="2800" dirty="0"/>
              <a:t>Algorithm in practice:</a:t>
            </a:r>
            <a:endParaRPr lang="en-IE" sz="3000" dirty="0"/>
          </a:p>
          <a:p>
            <a:pPr marL="384048" lvl="2" indent="0">
              <a:buNone/>
            </a:pPr>
            <a:r>
              <a:rPr lang="en-IE" sz="2600" dirty="0"/>
              <a:t>for(int </a:t>
            </a:r>
            <a:r>
              <a:rPr lang="en-IE" sz="2600" dirty="0" err="1"/>
              <a:t>i</a:t>
            </a:r>
            <a:r>
              <a:rPr lang="en-IE" sz="2600" dirty="0"/>
              <a:t> = 0; </a:t>
            </a:r>
            <a:r>
              <a:rPr lang="en-IE" sz="2600" dirty="0" err="1"/>
              <a:t>i</a:t>
            </a:r>
            <a:r>
              <a:rPr lang="en-IE" sz="2600" dirty="0"/>
              <a:t> &lt; </a:t>
            </a:r>
            <a:r>
              <a:rPr lang="en-IE" sz="2600" dirty="0" err="1"/>
              <a:t>arr.length</a:t>
            </a:r>
            <a:r>
              <a:rPr lang="en-IE" sz="2600" dirty="0"/>
              <a:t>; </a:t>
            </a:r>
            <a:r>
              <a:rPr lang="en-IE" sz="2600" dirty="0" err="1"/>
              <a:t>i</a:t>
            </a:r>
            <a:r>
              <a:rPr lang="en-IE" sz="2600" dirty="0"/>
              <a:t>++){</a:t>
            </a:r>
          </a:p>
          <a:p>
            <a:pPr marL="749808" lvl="4" indent="0">
              <a:buNone/>
            </a:pPr>
            <a:r>
              <a:rPr lang="en-IE" sz="2600" dirty="0"/>
              <a:t>if(</a:t>
            </a:r>
            <a:r>
              <a:rPr lang="en-IE" sz="2600" dirty="0" err="1"/>
              <a:t>arr</a:t>
            </a:r>
            <a:r>
              <a:rPr lang="en-IE" sz="2600" dirty="0"/>
              <a:t>[</a:t>
            </a:r>
            <a:r>
              <a:rPr lang="en-IE" sz="2600" dirty="0" err="1"/>
              <a:t>i</a:t>
            </a:r>
            <a:r>
              <a:rPr lang="en-IE" sz="2600" dirty="0"/>
              <a:t>] == value){</a:t>
            </a:r>
          </a:p>
          <a:p>
            <a:pPr marL="917120" lvl="5" indent="0">
              <a:buNone/>
            </a:pPr>
            <a:r>
              <a:rPr lang="en-IE" sz="2600" dirty="0"/>
              <a:t>   return </a:t>
            </a:r>
            <a:r>
              <a:rPr lang="en-IE" sz="2600" dirty="0" err="1"/>
              <a:t>i</a:t>
            </a:r>
            <a:r>
              <a:rPr lang="en-IE" sz="2600" dirty="0"/>
              <a:t>;	// Found the value, so return its position</a:t>
            </a:r>
          </a:p>
          <a:p>
            <a:pPr marL="749808" lvl="4" indent="0">
              <a:buNone/>
            </a:pPr>
            <a:r>
              <a:rPr lang="en-IE" sz="2600" dirty="0"/>
              <a:t>}</a:t>
            </a:r>
          </a:p>
          <a:p>
            <a:pPr marL="384048" lvl="2" indent="0">
              <a:buNone/>
            </a:pPr>
            <a:r>
              <a:rPr lang="en-IE" sz="2600" dirty="0"/>
              <a:t>}</a:t>
            </a:r>
          </a:p>
          <a:p>
            <a:pPr marL="384048" lvl="2" indent="0">
              <a:buNone/>
            </a:pPr>
            <a:r>
              <a:rPr lang="en-IE" sz="2600" dirty="0"/>
              <a:t>return -1;	// Didn’t find a match in any slot, so return that there was no match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5033108" y="3122184"/>
            <a:ext cx="6122572" cy="962006"/>
            <a:chOff x="5033108" y="3122184"/>
            <a:chExt cx="6122572" cy="962006"/>
          </a:xfrm>
        </p:grpSpPr>
        <p:sp>
          <p:nvSpPr>
            <p:cNvPr id="4" name="TextBox 3"/>
            <p:cNvSpPr txBox="1"/>
            <p:nvPr/>
          </p:nvSpPr>
          <p:spPr>
            <a:xfrm>
              <a:off x="6283569" y="3122184"/>
              <a:ext cx="487211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sz="2400" dirty="0">
                  <a:solidFill>
                    <a:srgbClr val="FF0000"/>
                  </a:solidFill>
                </a:rPr>
                <a:t>Just like the previous algorithm, go through the entire array </a:t>
              </a:r>
              <a:r>
                <a:rPr lang="en-IE" sz="2400" b="1" u="sng" dirty="0">
                  <a:solidFill>
                    <a:srgbClr val="FF0000"/>
                  </a:solidFill>
                </a:rPr>
                <a:t>once</a:t>
              </a:r>
              <a:r>
                <a:rPr lang="en-IE" sz="2400" dirty="0">
                  <a:solidFill>
                    <a:srgbClr val="FF0000"/>
                  </a:solidFill>
                </a:rPr>
                <a:t> </a:t>
              </a:r>
              <a:r>
                <a:rPr lang="en-IE" sz="2400" b="1" u="sng" dirty="0">
                  <a:solidFill>
                    <a:srgbClr val="FF0000"/>
                  </a:solidFill>
                </a:rPr>
                <a:t>at most</a:t>
              </a:r>
            </a:p>
          </p:txBody>
        </p:sp>
        <p:cxnSp>
          <p:nvCxnSpPr>
            <p:cNvPr id="6" name="Straight Arrow Connector 5"/>
            <p:cNvCxnSpPr>
              <a:stCxn id="4" idx="1"/>
            </p:cNvCxnSpPr>
            <p:nvPr/>
          </p:nvCxnSpPr>
          <p:spPr>
            <a:xfrm flipH="1">
              <a:off x="5033108" y="3537683"/>
              <a:ext cx="1250461" cy="54650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17620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Basic Complexities: Quadratic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E" sz="3200" dirty="0"/>
              <a:t>O(N</a:t>
            </a:r>
            <a:r>
              <a:rPr lang="en-IE" sz="3200" baseline="30000" dirty="0"/>
              <a:t>2</a:t>
            </a:r>
            <a:r>
              <a:rPr lang="en-IE" sz="3200" dirty="0"/>
              <a:t>) – has a </a:t>
            </a:r>
            <a:r>
              <a:rPr lang="en-IE" sz="3200" b="1" u="sng" dirty="0"/>
              <a:t>quadratic</a:t>
            </a:r>
            <a:r>
              <a:rPr lang="en-IE" sz="3200" dirty="0"/>
              <a:t> complexity (N</a:t>
            </a:r>
            <a:r>
              <a:rPr lang="en-IE" sz="3200" baseline="30000" dirty="0"/>
              <a:t>2</a:t>
            </a:r>
            <a:r>
              <a:rPr lang="en-IE" sz="3200" dirty="0"/>
              <a:t> where N is the input size)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The time/space requirements of the algorithm/line of code are directly proportional to the </a:t>
            </a:r>
            <a:r>
              <a:rPr lang="en-IE" sz="3200" b="1" dirty="0"/>
              <a:t>square</a:t>
            </a:r>
            <a:r>
              <a:rPr lang="en-IE" sz="3200" dirty="0"/>
              <a:t> of the input size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Nested loops can multiply complexity when each loop depends on the same input size</a:t>
            </a:r>
          </a:p>
          <a:p>
            <a:pPr lvl="2"/>
            <a:r>
              <a:rPr lang="en-IE" sz="2800" dirty="0"/>
              <a:t>The more nested layers, the higher the power value</a:t>
            </a:r>
          </a:p>
        </p:txBody>
      </p:sp>
    </p:spTree>
    <p:extLst>
      <p:ext uri="{BB962C8B-B14F-4D97-AF65-F5344CB8AC3E}">
        <p14:creationId xmlns:p14="http://schemas.microsoft.com/office/powerpoint/2010/main" val="215310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4400" dirty="0"/>
              <a:t>Basic Complexities: Quadratic Complexity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/>
            <a:r>
              <a:rPr lang="en-IE" sz="3200" dirty="0"/>
              <a:t>Example:</a:t>
            </a:r>
          </a:p>
          <a:p>
            <a:pPr marL="384048" lvl="2" indent="0">
              <a:buNone/>
            </a:pPr>
            <a:r>
              <a:rPr lang="en-IE" sz="2800" dirty="0"/>
              <a:t>public static boolean </a:t>
            </a:r>
            <a:r>
              <a:rPr lang="en-IE" sz="2800" dirty="0" err="1"/>
              <a:t>containsDuplicates</a:t>
            </a:r>
            <a:r>
              <a:rPr lang="en-IE" sz="2800" dirty="0"/>
              <a:t>(String [] values){</a:t>
            </a:r>
          </a:p>
          <a:p>
            <a:pPr marL="384048" lvl="2" indent="0">
              <a:buNone/>
            </a:pPr>
            <a:r>
              <a:rPr lang="en-IE" sz="2800" dirty="0"/>
              <a:t>        for(int outer = 0; outer &lt; </a:t>
            </a:r>
            <a:r>
              <a:rPr lang="en-IE" sz="2800" dirty="0" err="1"/>
              <a:t>values.length</a:t>
            </a:r>
            <a:r>
              <a:rPr lang="en-IE" sz="2800" dirty="0"/>
              <a:t>; outer++){</a:t>
            </a:r>
          </a:p>
          <a:p>
            <a:pPr marL="384048" lvl="2" indent="0">
              <a:buNone/>
            </a:pPr>
            <a:r>
              <a:rPr lang="en-IE" sz="2800" dirty="0"/>
              <a:t>           for(int inner = outer+1; inner &lt; </a:t>
            </a:r>
            <a:r>
              <a:rPr lang="en-IE" sz="2800" dirty="0" err="1"/>
              <a:t>values.length</a:t>
            </a:r>
            <a:r>
              <a:rPr lang="en-IE" sz="2800" dirty="0"/>
              <a:t>; inner++){</a:t>
            </a:r>
          </a:p>
          <a:p>
            <a:pPr marL="384048" lvl="2" indent="0">
              <a:buNone/>
            </a:pPr>
            <a:r>
              <a:rPr lang="en-IE" sz="2800" dirty="0"/>
              <a:t>               if(values[outer].equals(values[inner]))</a:t>
            </a:r>
          </a:p>
          <a:p>
            <a:pPr marL="384048" lvl="2" indent="0">
              <a:buNone/>
            </a:pPr>
            <a:r>
              <a:rPr lang="en-IE" sz="2800" dirty="0"/>
              <a:t>                   return true;</a:t>
            </a:r>
          </a:p>
          <a:p>
            <a:pPr marL="384048" lvl="2" indent="0">
              <a:buNone/>
            </a:pPr>
            <a:r>
              <a:rPr lang="en-IE" sz="2800" dirty="0"/>
              <a:t>           } </a:t>
            </a:r>
          </a:p>
          <a:p>
            <a:pPr marL="384048" lvl="2" indent="0">
              <a:buNone/>
            </a:pPr>
            <a:r>
              <a:rPr lang="en-IE" sz="2800" dirty="0"/>
              <a:t>        }</a:t>
            </a:r>
          </a:p>
          <a:p>
            <a:pPr marL="384048" lvl="2" indent="0">
              <a:buNone/>
            </a:pPr>
            <a:r>
              <a:rPr lang="en-IE" sz="2800" dirty="0"/>
              <a:t>        return false;</a:t>
            </a:r>
          </a:p>
          <a:p>
            <a:pPr marL="384048" lvl="2" indent="0">
              <a:buNone/>
            </a:pPr>
            <a:r>
              <a:rPr lang="en-IE" sz="2800" dirty="0"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77317" y="4237878"/>
            <a:ext cx="51021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 dirty="0">
                <a:solidFill>
                  <a:srgbClr val="FF0000"/>
                </a:solidFill>
              </a:rPr>
              <a:t>Wait, that inner loop isn’t going to n iterations every time…</a:t>
            </a:r>
          </a:p>
          <a:p>
            <a:endParaRPr lang="en-IE" sz="2000" dirty="0">
              <a:solidFill>
                <a:srgbClr val="FF0000"/>
              </a:solidFill>
            </a:endParaRPr>
          </a:p>
          <a:p>
            <a:r>
              <a:rPr lang="en-IE" sz="2000" dirty="0">
                <a:solidFill>
                  <a:srgbClr val="FF0000"/>
                </a:solidFill>
              </a:rPr>
              <a:t>How is this quadratic?!</a:t>
            </a:r>
          </a:p>
        </p:txBody>
      </p:sp>
    </p:spTree>
    <p:extLst>
      <p:ext uri="{BB962C8B-B14F-4D97-AF65-F5344CB8AC3E}">
        <p14:creationId xmlns:p14="http://schemas.microsoft.com/office/powerpoint/2010/main" val="3962947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F7582-DD18-3E3F-F3D8-75067BC90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Maths Behind the Complexity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B4A5ED-B011-CDE5-F413-554A5ACE94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lvl="1"/>
                <a:r>
                  <a:rPr lang="en-IE" sz="3700" dirty="0"/>
                  <a:t>The complexity of the previous algorithm is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E" sz="37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sz="37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E" sz="37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E" sz="3700" dirty="0"/>
                  <a:t>), but t</a:t>
                </a:r>
                <a:r>
                  <a:rPr lang="en-IE" sz="3600" dirty="0"/>
                  <a:t>he inner loop shown decreased in size on each iteration:</a:t>
                </a:r>
              </a:p>
              <a:p>
                <a:pPr lvl="2"/>
                <a:r>
                  <a:rPr lang="en-IE" sz="2800" dirty="0"/>
                  <a:t>n-1, n-2, n-3, … , 2, 1, 0</a:t>
                </a:r>
              </a:p>
              <a:p>
                <a:pPr marL="201168" lvl="1" indent="0">
                  <a:buNone/>
                </a:pPr>
                <a:endParaRPr lang="en-IE" sz="3600" dirty="0"/>
              </a:p>
              <a:p>
                <a:pPr lvl="1"/>
                <a:r>
                  <a:rPr lang="en-IE" sz="3600" dirty="0"/>
                  <a:t>Actual number of iterations performed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E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E" sz="3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E" sz="3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E" sz="3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E" sz="3600" i="1"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n-IE" sz="3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E" sz="3600" dirty="0"/>
                  <a:t> </a:t>
                </a:r>
              </a:p>
              <a:p>
                <a:pPr lvl="2"/>
                <a:r>
                  <a:rPr lang="en-IE" sz="3200" dirty="0"/>
                  <a:t>This simplifies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E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E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E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E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E" sz="3200" i="1">
                            <a:latin typeface="Cambria Math" panose="02040503050406030204" pitchFamily="18" charset="0"/>
                          </a:rPr>
                          <m:t> − </m:t>
                        </m:r>
                        <m:r>
                          <a:rPr lang="en-IE" sz="3200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E" sz="3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IE" sz="2800" dirty="0"/>
              </a:p>
              <a:p>
                <a:pPr lvl="1"/>
                <a:endParaRPr lang="en-IE" sz="3600" dirty="0"/>
              </a:p>
              <a:p>
                <a:pPr lvl="1"/>
                <a:r>
                  <a:rPr lang="en-IE" sz="3600" dirty="0"/>
                  <a:t>In Big O we ignore </a:t>
                </a:r>
                <a:r>
                  <a:rPr lang="en-IE" sz="3600" dirty="0">
                    <a:solidFill>
                      <a:srgbClr val="FF0000"/>
                    </a:solidFill>
                  </a:rPr>
                  <a:t>constants</a:t>
                </a:r>
                <a:r>
                  <a:rPr lang="en-IE" sz="3600" dirty="0"/>
                  <a:t> and </a:t>
                </a:r>
                <a:r>
                  <a:rPr lang="en-IE" sz="3600" dirty="0">
                    <a:solidFill>
                      <a:srgbClr val="FF0000"/>
                    </a:solidFill>
                  </a:rPr>
                  <a:t>lower-order terms</a:t>
                </a:r>
                <a:r>
                  <a:rPr lang="en-IE" sz="3600" dirty="0"/>
                  <a:t>, therefore the final complexity is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E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E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E" sz="3600" dirty="0"/>
                  <a:t>)</a:t>
                </a:r>
              </a:p>
              <a:p>
                <a:pPr lvl="2"/>
                <a:r>
                  <a:rPr lang="en-IE" sz="3200" dirty="0"/>
                  <a:t>Eliminate n as it’s lower-order than n</a:t>
                </a:r>
                <a:r>
                  <a:rPr lang="en-IE" sz="3200" baseline="30000" dirty="0"/>
                  <a:t>2</a:t>
                </a:r>
                <a:endParaRPr lang="en-IE" sz="3200" dirty="0"/>
              </a:p>
              <a:p>
                <a:pPr lvl="2"/>
                <a:r>
                  <a:rPr lang="en-IE" sz="3200" dirty="0"/>
                  <a:t>Eliminate /2 as it’s a constant</a:t>
                </a:r>
                <a:endParaRPr lang="en-IE" sz="3200" baseline="30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B4A5ED-B011-CDE5-F413-554A5ACE94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091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6702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Complex Complexities: Logarithmic Complexity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3"/>
                <a:ext cx="10058400" cy="4221511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IE" sz="3200" dirty="0"/>
                  <a:t>O(log N) – has a </a:t>
                </a:r>
                <a:r>
                  <a:rPr lang="en-IE" sz="3200" b="1" i="1" dirty="0"/>
                  <a:t>logarithmic</a:t>
                </a:r>
                <a:r>
                  <a:rPr lang="en-IE" sz="3200" dirty="0"/>
                  <a:t> complexity (log N where N = input size)</a:t>
                </a:r>
              </a:p>
              <a:p>
                <a:pPr lvl="1"/>
                <a:endParaRPr lang="en-IE" sz="3200" dirty="0"/>
              </a:p>
              <a:p>
                <a:pPr lvl="1"/>
                <a:r>
                  <a:rPr lang="en-IE" sz="3200" dirty="0">
                    <a:solidFill>
                      <a:srgbClr val="FF0000"/>
                    </a:solidFill>
                  </a:rPr>
                  <a:t>Logarithm algorithm: An algorithm where the input data size is reduced </a:t>
                </a:r>
                <a:r>
                  <a:rPr lang="en-IE" sz="3200" u="sng" dirty="0">
                    <a:solidFill>
                      <a:srgbClr val="FF0000"/>
                    </a:solidFill>
                  </a:rPr>
                  <a:t>by a constant factor</a:t>
                </a:r>
                <a:r>
                  <a:rPr lang="en-IE" sz="3200" dirty="0">
                    <a:solidFill>
                      <a:srgbClr val="FF0000"/>
                    </a:solidFill>
                  </a:rPr>
                  <a:t> at every iteration</a:t>
                </a:r>
              </a:p>
              <a:p>
                <a:pPr lvl="2"/>
                <a:r>
                  <a:rPr lang="en-IE" sz="2800" dirty="0"/>
                  <a:t>As the input size grows, the number of iterations grows </a:t>
                </a:r>
                <a:r>
                  <a:rPr lang="en-IE" sz="2800" b="1" u="sng" dirty="0"/>
                  <a:t>very</a:t>
                </a:r>
                <a:r>
                  <a:rPr lang="en-IE" sz="2800" dirty="0"/>
                  <a:t> slowly</a:t>
                </a:r>
                <a:endParaRPr lang="en-IE" sz="2800" b="1" u="sng" dirty="0"/>
              </a:p>
              <a:p>
                <a:pPr lvl="2"/>
                <a:endParaRPr lang="en-IE" sz="2800" dirty="0"/>
              </a:p>
              <a:p>
                <a:pPr lvl="1"/>
                <a:r>
                  <a:rPr lang="en-IE" sz="3200" dirty="0"/>
                  <a:t>Reducing by half (binary search, binary tree navigation -&gt;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E" sz="32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IE" sz="320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E" sz="320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E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IE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IE" sz="3200" dirty="0"/>
                  <a:t>) is a very common example of a log n action</a:t>
                </a:r>
              </a:p>
              <a:p>
                <a:pPr lvl="2"/>
                <a:endParaRPr lang="en-IE" sz="2800" dirty="0"/>
              </a:p>
              <a:p>
                <a:pPr lvl="1"/>
                <a:r>
                  <a:rPr lang="en-IE" sz="3200" dirty="0"/>
                  <a:t>Other examples exist!</a:t>
                </a:r>
              </a:p>
              <a:p>
                <a:pPr lvl="2"/>
                <a:r>
                  <a:rPr lang="en-IE" sz="2900" dirty="0"/>
                  <a:t>Navigating a b-tree  -&gt;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E" sz="29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IE" sz="29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E" sz="29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E" sz="29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fName>
                      <m:e>
                        <m:r>
                          <a:rPr lang="en-IE" sz="29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IE" sz="2900" dirty="0"/>
                  <a:t> – discard b-1 other options on each iteration</a:t>
                </a:r>
              </a:p>
              <a:p>
                <a:pPr lvl="2"/>
                <a:r>
                  <a:rPr lang="en-IE" sz="2900" dirty="0"/>
                  <a:t>Ternary search  -&gt;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E" sz="29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IE" sz="29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E" sz="29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E" sz="29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fName>
                      <m:e>
                        <m:r>
                          <a:rPr lang="en-IE" sz="29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IE" sz="2900" dirty="0"/>
                  <a:t> – discard 2/3 of the remaining data on each iteration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3"/>
                <a:ext cx="10058400" cy="4221511"/>
              </a:xfrm>
              <a:blipFill>
                <a:blip r:embed="rId2"/>
                <a:stretch>
                  <a:fillRect l="-970" t="-3468" r="-1576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8417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Logarithmic Complexity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4371867" cy="4023360"/>
          </a:xfrm>
        </p:spPr>
        <p:txBody>
          <a:bodyPr>
            <a:normAutofit fontScale="85000" lnSpcReduction="10000"/>
          </a:bodyPr>
          <a:lstStyle/>
          <a:p>
            <a:pPr lvl="1"/>
            <a:r>
              <a:rPr lang="en-IE" sz="3200" dirty="0"/>
              <a:t>Navigating a binary tree:</a:t>
            </a:r>
          </a:p>
          <a:p>
            <a:pPr lvl="2"/>
            <a:r>
              <a:rPr lang="en-IE" sz="2800" dirty="0"/>
              <a:t>At each step, we choose a side</a:t>
            </a:r>
          </a:p>
          <a:p>
            <a:pPr lvl="2"/>
            <a:r>
              <a:rPr lang="en-IE" sz="2800" dirty="0"/>
              <a:t>The remaining data on the other side is discarded</a:t>
            </a:r>
          </a:p>
          <a:p>
            <a:pPr lvl="2"/>
            <a:r>
              <a:rPr lang="en-IE" sz="2800" dirty="0"/>
              <a:t>This discards half the remaining data each time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How many iterations/comparisons would be required to navigate this tree?</a:t>
            </a:r>
          </a:p>
        </p:txBody>
      </p:sp>
      <p:pic>
        <p:nvPicPr>
          <p:cNvPr id="2052" name="Picture 4" descr="Image result for binary tr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447" y="2281088"/>
            <a:ext cx="5009906" cy="3152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16272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58484-9FBB-03A3-B0EB-7837FADBB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2CAC3-72B8-0D9E-3107-DE5D33A9A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Logarithmic Complexity -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01AFA6-DCDF-4C81-4D14-480518F8E6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4193735" cy="4023360"/>
              </a:xfrm>
            </p:spPr>
            <p:txBody>
              <a:bodyPr>
                <a:normAutofit fontScale="92500" lnSpcReduction="10000"/>
              </a:bodyPr>
              <a:lstStyle/>
              <a:p>
                <a:pPr lvl="1"/>
                <a:r>
                  <a:rPr lang="en-IE" sz="3200" dirty="0"/>
                  <a:t>Navigating a binary tree:</a:t>
                </a:r>
              </a:p>
              <a:p>
                <a:pPr lvl="2"/>
                <a:r>
                  <a:rPr lang="en-IE" sz="2800" dirty="0"/>
                  <a:t>At each step, half of the remaining data in the tree is discarded</a:t>
                </a:r>
              </a:p>
              <a:p>
                <a:pPr lvl="2"/>
                <a:endParaRPr lang="en-IE" sz="2800" dirty="0"/>
              </a:p>
              <a:p>
                <a:pPr lvl="1"/>
                <a:r>
                  <a:rPr lang="en-IE" sz="3200" dirty="0"/>
                  <a:t>Searching for 10, we would check 6 -&gt; 8 -&gt; 9</a:t>
                </a:r>
              </a:p>
              <a:p>
                <a:pPr lvl="2"/>
                <a:r>
                  <a:rPr lang="en-IE" sz="2800" dirty="0"/>
                  <a:t>3 comparisons to confirm it’s not present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IE" sz="280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IE" sz="2800" i="0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E" sz="2800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E" sz="2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IE" sz="2800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func>
                  </m:oMath>
                </a14:m>
                <a:r>
                  <a:rPr lang="en-IE" sz="2800" dirty="0"/>
                  <a:t> = 2.807…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01AFA6-DCDF-4C81-4D14-480518F8E6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4193735" cy="4023360"/>
              </a:xfrm>
              <a:blipFill>
                <a:blip r:embed="rId2"/>
                <a:stretch>
                  <a:fillRect l="-872" t="-4091" r="-4797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2" name="Picture 4" descr="Image result for binary tree">
            <a:extLst>
              <a:ext uri="{FF2B5EF4-FFF2-40B4-BE49-F238E27FC236}">
                <a16:creationId xmlns:a16="http://schemas.microsoft.com/office/drawing/2014/main" id="{D027B741-F9E0-B5E7-B5E8-5937084525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447" y="2281088"/>
            <a:ext cx="5009906" cy="3152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lowchart: Summing Junction 3">
            <a:extLst>
              <a:ext uri="{FF2B5EF4-FFF2-40B4-BE49-F238E27FC236}">
                <a16:creationId xmlns:a16="http://schemas.microsoft.com/office/drawing/2014/main" id="{0D2E0A05-D7BC-9553-D334-35DDECA35157}"/>
              </a:ext>
            </a:extLst>
          </p:cNvPr>
          <p:cNvSpPr/>
          <p:nvPr/>
        </p:nvSpPr>
        <p:spPr>
          <a:xfrm>
            <a:off x="8522898" y="2281088"/>
            <a:ext cx="638355" cy="646142"/>
          </a:xfrm>
          <a:prstGeom prst="flowChartSummingJunction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Flowchart: Summing Junction 5">
            <a:extLst>
              <a:ext uri="{FF2B5EF4-FFF2-40B4-BE49-F238E27FC236}">
                <a16:creationId xmlns:a16="http://schemas.microsoft.com/office/drawing/2014/main" id="{132C47B0-7403-2A53-74C7-091C88FC4331}"/>
              </a:ext>
            </a:extLst>
          </p:cNvPr>
          <p:cNvSpPr/>
          <p:nvPr/>
        </p:nvSpPr>
        <p:spPr>
          <a:xfrm>
            <a:off x="9744974" y="3359390"/>
            <a:ext cx="638355" cy="646142"/>
          </a:xfrm>
          <a:prstGeom prst="flowChartSummingJunction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Flowchart: Summing Junction 7">
            <a:extLst>
              <a:ext uri="{FF2B5EF4-FFF2-40B4-BE49-F238E27FC236}">
                <a16:creationId xmlns:a16="http://schemas.microsoft.com/office/drawing/2014/main" id="{0B45BE5A-C4E4-7DC9-42BF-E620A0CCEB40}"/>
              </a:ext>
            </a:extLst>
          </p:cNvPr>
          <p:cNvSpPr/>
          <p:nvPr/>
        </p:nvSpPr>
        <p:spPr>
          <a:xfrm>
            <a:off x="10366076" y="4477948"/>
            <a:ext cx="638355" cy="646142"/>
          </a:xfrm>
          <a:prstGeom prst="flowChartSummingJunction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13294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Complex Complexities: </a:t>
            </a:r>
            <a:r>
              <a:rPr lang="en-IE" dirty="0" err="1"/>
              <a:t>Linearithmic</a:t>
            </a:r>
            <a:r>
              <a:rPr lang="en-IE" dirty="0"/>
              <a:t>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01168" lvl="1" indent="0">
              <a:buNone/>
            </a:pPr>
            <a:r>
              <a:rPr lang="en-IE" sz="3200" dirty="0"/>
              <a:t>O(N log N) – </a:t>
            </a:r>
            <a:r>
              <a:rPr lang="en-IE" sz="3200" b="1" i="1" dirty="0" err="1"/>
              <a:t>Linearithmic</a:t>
            </a:r>
            <a:r>
              <a:rPr lang="en-IE" sz="3200" dirty="0"/>
              <a:t> complexity</a:t>
            </a:r>
          </a:p>
          <a:p>
            <a:pPr lvl="2"/>
            <a:r>
              <a:rPr lang="en-IE" sz="2800" dirty="0" err="1">
                <a:solidFill>
                  <a:srgbClr val="FF0000"/>
                </a:solidFill>
              </a:rPr>
              <a:t>Linear</a:t>
            </a:r>
            <a:r>
              <a:rPr lang="en-IE" sz="2800" dirty="0" err="1">
                <a:solidFill>
                  <a:schemeClr val="accent2"/>
                </a:solidFill>
              </a:rPr>
              <a:t>ithmic</a:t>
            </a:r>
            <a:r>
              <a:rPr lang="en-IE" sz="2800" dirty="0"/>
              <a:t>: A </a:t>
            </a:r>
            <a:r>
              <a:rPr lang="en-IE" sz="2800" dirty="0">
                <a:solidFill>
                  <a:schemeClr val="accent2"/>
                </a:solidFill>
              </a:rPr>
              <a:t>logarithmic</a:t>
            </a:r>
            <a:r>
              <a:rPr lang="en-IE" sz="2800" dirty="0"/>
              <a:t> section of the algorithm (where data is repeatedly divided in half) is done a </a:t>
            </a:r>
            <a:r>
              <a:rPr lang="en-IE" sz="2800" dirty="0">
                <a:solidFill>
                  <a:srgbClr val="FF0000"/>
                </a:solidFill>
              </a:rPr>
              <a:t>linear</a:t>
            </a:r>
            <a:r>
              <a:rPr lang="en-IE" sz="2800" dirty="0"/>
              <a:t> amount of times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Example: Merge sort</a:t>
            </a:r>
          </a:p>
          <a:p>
            <a:pPr lvl="2"/>
            <a:r>
              <a:rPr lang="en-IE" sz="2800" dirty="0"/>
              <a:t>Repeatedly divide data in half until end of data is reached (log N)</a:t>
            </a:r>
          </a:p>
          <a:p>
            <a:pPr lvl="2"/>
            <a:r>
              <a:rPr lang="en-IE" sz="2800" dirty="0"/>
              <a:t>Once data has been fully divided up, merge it back together in order (N iterations)</a:t>
            </a:r>
          </a:p>
        </p:txBody>
      </p:sp>
    </p:spTree>
    <p:extLst>
      <p:ext uri="{BB962C8B-B14F-4D97-AF65-F5344CB8AC3E}">
        <p14:creationId xmlns:p14="http://schemas.microsoft.com/office/powerpoint/2010/main" val="317990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Complex Complexities: Exponential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98758"/>
          </a:xfrm>
        </p:spPr>
        <p:txBody>
          <a:bodyPr>
            <a:normAutofit fontScale="70000" lnSpcReduction="20000"/>
          </a:bodyPr>
          <a:lstStyle/>
          <a:p>
            <a:r>
              <a:rPr lang="en-IE" sz="3200" dirty="0"/>
              <a:t>O(2</a:t>
            </a:r>
            <a:r>
              <a:rPr lang="en-IE" sz="3200" baseline="30000" dirty="0"/>
              <a:t>N</a:t>
            </a:r>
            <a:r>
              <a:rPr lang="en-IE" sz="3200" dirty="0"/>
              <a:t>) – </a:t>
            </a:r>
            <a:r>
              <a:rPr lang="en-IE" sz="3200" b="1" i="1" dirty="0"/>
              <a:t>Exponential</a:t>
            </a:r>
            <a:r>
              <a:rPr lang="en-IE" sz="3200" dirty="0"/>
              <a:t> complexity (2</a:t>
            </a:r>
            <a:r>
              <a:rPr lang="en-IE" sz="3200" baseline="30000" dirty="0"/>
              <a:t>N </a:t>
            </a:r>
            <a:r>
              <a:rPr lang="en-IE" sz="3200" dirty="0"/>
              <a:t>where N is the input size)</a:t>
            </a:r>
          </a:p>
          <a:p>
            <a:pPr lvl="1"/>
            <a:r>
              <a:rPr lang="en-IE" sz="3200" dirty="0"/>
              <a:t>The opposite to logarithmic complexity – growth doubles with every addition to the size of the input</a:t>
            </a:r>
          </a:p>
          <a:p>
            <a:pPr lvl="2"/>
            <a:r>
              <a:rPr lang="en-IE" sz="2800" dirty="0"/>
              <a:t>Growth starts off slow and then increases at a very high rate!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Example:</a:t>
            </a:r>
          </a:p>
          <a:p>
            <a:pPr marL="384048" lvl="2" indent="0">
              <a:buNone/>
            </a:pPr>
            <a:r>
              <a:rPr lang="en-IE" sz="2800" dirty="0"/>
              <a:t> public static int </a:t>
            </a:r>
            <a:r>
              <a:rPr lang="en-IE" sz="2800" dirty="0" err="1"/>
              <a:t>fibonacci</a:t>
            </a:r>
            <a:r>
              <a:rPr lang="en-IE" sz="2800" dirty="0"/>
              <a:t>(int </a:t>
            </a:r>
            <a:r>
              <a:rPr lang="en-IE" sz="2800" dirty="0" err="1"/>
              <a:t>num</a:t>
            </a:r>
            <a:r>
              <a:rPr lang="en-IE" sz="2800" dirty="0"/>
              <a:t>){</a:t>
            </a:r>
          </a:p>
          <a:p>
            <a:pPr marL="384048" lvl="2" indent="0">
              <a:buNone/>
            </a:pPr>
            <a:r>
              <a:rPr lang="en-IE" sz="2800" dirty="0"/>
              <a:t>	if(</a:t>
            </a:r>
            <a:r>
              <a:rPr lang="en-IE" sz="2800" dirty="0" err="1"/>
              <a:t>num</a:t>
            </a:r>
            <a:r>
              <a:rPr lang="en-IE" sz="2800" dirty="0"/>
              <a:t> &lt;=1 ){</a:t>
            </a:r>
          </a:p>
          <a:p>
            <a:pPr marL="384048" lvl="2" indent="0">
              <a:buNone/>
            </a:pPr>
            <a:r>
              <a:rPr lang="en-IE" sz="2800" dirty="0"/>
              <a:t>		return </a:t>
            </a:r>
            <a:r>
              <a:rPr lang="en-IE" sz="2800" dirty="0" err="1"/>
              <a:t>num</a:t>
            </a:r>
            <a:r>
              <a:rPr lang="en-IE" sz="2800" dirty="0"/>
              <a:t>;</a:t>
            </a:r>
          </a:p>
          <a:p>
            <a:pPr marL="384048" lvl="2" indent="0">
              <a:buNone/>
            </a:pPr>
            <a:r>
              <a:rPr lang="en-IE" sz="2800" dirty="0"/>
              <a:t>	}</a:t>
            </a:r>
          </a:p>
          <a:p>
            <a:pPr marL="384048" lvl="2" indent="0">
              <a:buNone/>
            </a:pPr>
            <a:r>
              <a:rPr lang="en-IE" sz="2800" dirty="0"/>
              <a:t>        else{</a:t>
            </a:r>
          </a:p>
          <a:p>
            <a:pPr marL="384048" lvl="2" indent="0">
              <a:buNone/>
            </a:pPr>
            <a:r>
              <a:rPr lang="en-IE" sz="2800" dirty="0"/>
              <a:t>         		return </a:t>
            </a:r>
            <a:r>
              <a:rPr lang="en-IE" sz="2800" dirty="0" err="1">
                <a:solidFill>
                  <a:srgbClr val="FF0000"/>
                </a:solidFill>
              </a:rPr>
              <a:t>fibonacci</a:t>
            </a:r>
            <a:r>
              <a:rPr lang="en-IE" sz="2800" dirty="0"/>
              <a:t>(num-1) + </a:t>
            </a:r>
            <a:r>
              <a:rPr lang="en-IE" sz="2800" dirty="0" err="1">
                <a:solidFill>
                  <a:srgbClr val="FF0000"/>
                </a:solidFill>
              </a:rPr>
              <a:t>fibonacci</a:t>
            </a:r>
            <a:r>
              <a:rPr lang="en-IE" sz="2800" dirty="0"/>
              <a:t>(num-2);</a:t>
            </a:r>
          </a:p>
          <a:p>
            <a:pPr marL="384048" lvl="2" indent="0">
              <a:buNone/>
            </a:pPr>
            <a:r>
              <a:rPr lang="en-IE" sz="2800" dirty="0"/>
              <a:t>        }</a:t>
            </a:r>
          </a:p>
          <a:p>
            <a:pPr marL="384048" lvl="2" indent="0">
              <a:buNone/>
            </a:pPr>
            <a:r>
              <a:rPr lang="en-IE" sz="2800" dirty="0"/>
              <a:t>    }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7654506" y="4642338"/>
            <a:ext cx="3701248" cy="923330"/>
            <a:chOff x="7654506" y="4642338"/>
            <a:chExt cx="3701248" cy="923330"/>
          </a:xfrm>
        </p:grpSpPr>
        <p:cxnSp>
          <p:nvCxnSpPr>
            <p:cNvPr id="5" name="Straight Arrow Connector 4"/>
            <p:cNvCxnSpPr>
              <a:cxnSpLocks/>
              <a:stCxn id="6" idx="1"/>
            </p:cNvCxnSpPr>
            <p:nvPr/>
          </p:nvCxnSpPr>
          <p:spPr>
            <a:xfrm flipH="1">
              <a:off x="7654506" y="5104003"/>
              <a:ext cx="1098725" cy="1121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8753231" y="4642338"/>
              <a:ext cx="260252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dirty="0"/>
                <a:t>This is </a:t>
              </a:r>
              <a:r>
                <a:rPr lang="en-IE" b="1" dirty="0">
                  <a:solidFill>
                    <a:srgbClr val="FF0000"/>
                  </a:solidFill>
                </a:rPr>
                <a:t>recursion</a:t>
              </a:r>
              <a:r>
                <a:rPr lang="en-IE" dirty="0"/>
                <a:t>, i.e. when you call a method from within itself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98511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Comparing Complexities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4412566" cy="4023360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en-IE" sz="3200" dirty="0"/>
              <a:t>Fixed/constant time is usually best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At low input sizes, there is very little difference in complexities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When input size increases, best to aim for logarithmic complexity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7F67FA4-4756-652E-704F-DFC3D4CF7467}"/>
              </a:ext>
            </a:extLst>
          </p:cNvPr>
          <p:cNvGrpSpPr/>
          <p:nvPr/>
        </p:nvGrpSpPr>
        <p:grpSpPr>
          <a:xfrm>
            <a:off x="5889910" y="1676548"/>
            <a:ext cx="6323944" cy="4444512"/>
            <a:chOff x="5889910" y="1676548"/>
            <a:chExt cx="6323944" cy="444451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4D652BD-C23D-1763-95D4-3EE7DCD1AA89}"/>
                </a:ext>
              </a:extLst>
            </p:cNvPr>
            <p:cNvGrpSpPr/>
            <p:nvPr/>
          </p:nvGrpSpPr>
          <p:grpSpPr>
            <a:xfrm>
              <a:off x="5889910" y="1676548"/>
              <a:ext cx="5615291" cy="4444512"/>
              <a:chOff x="5889910" y="1676548"/>
              <a:chExt cx="5615291" cy="4444512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DBA757A1-930F-330D-4159-8A3E4780CB76}"/>
                  </a:ext>
                </a:extLst>
              </p:cNvPr>
              <p:cNvGrpSpPr/>
              <p:nvPr/>
            </p:nvGrpSpPr>
            <p:grpSpPr>
              <a:xfrm>
                <a:off x="6332561" y="1676548"/>
                <a:ext cx="5172640" cy="4444512"/>
                <a:chOff x="6332561" y="1676548"/>
                <a:chExt cx="5172640" cy="4444512"/>
              </a:xfrm>
            </p:grpSpPr>
            <p:pic>
              <p:nvPicPr>
                <p:cNvPr id="6" name="Picture 5">
                  <a:extLst>
                    <a:ext uri="{FF2B5EF4-FFF2-40B4-BE49-F238E27FC236}">
                      <a16:creationId xmlns:a16="http://schemas.microsoft.com/office/drawing/2014/main" id="{37FBA09B-8275-8D57-95B9-AA9EA4D6CA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l="1764" r="9054"/>
                <a:stretch>
                  <a:fillRect/>
                </a:stretch>
              </p:blipFill>
              <p:spPr>
                <a:xfrm>
                  <a:off x="6332561" y="1922843"/>
                  <a:ext cx="4872252" cy="3869142"/>
                </a:xfrm>
                <a:prstGeom prst="rect">
                  <a:avLst/>
                </a:prstGeom>
              </p:spPr>
            </p:pic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43ADEE9-9341-3520-DA64-5045EB46544C}"/>
                    </a:ext>
                  </a:extLst>
                </p:cNvPr>
                <p:cNvSpPr txBox="1"/>
                <p:nvPr/>
              </p:nvSpPr>
              <p:spPr>
                <a:xfrm>
                  <a:off x="9258642" y="5036024"/>
                  <a:ext cx="133459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E" dirty="0"/>
                    <a:t>Logarithmic</a:t>
                  </a: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94371BB-1FB4-AE68-9B2B-EA7A81069F71}"/>
                    </a:ext>
                  </a:extLst>
                </p:cNvPr>
                <p:cNvSpPr txBox="1"/>
                <p:nvPr/>
              </p:nvSpPr>
              <p:spPr>
                <a:xfrm rot="20475444">
                  <a:off x="9342031" y="3859957"/>
                  <a:ext cx="216317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E" dirty="0"/>
                    <a:t>Linear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F8AD490-0F23-AADA-70AB-168D98EA7360}"/>
                    </a:ext>
                  </a:extLst>
                </p:cNvPr>
                <p:cNvSpPr txBox="1"/>
                <p:nvPr/>
              </p:nvSpPr>
              <p:spPr>
                <a:xfrm rot="17761636">
                  <a:off x="7237768" y="2573467"/>
                  <a:ext cx="216317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E" dirty="0" err="1"/>
                    <a:t>Linearithmic</a:t>
                  </a:r>
                  <a:endParaRPr lang="en-IE" dirty="0"/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EB7B5B1-4C1D-18CA-C8D0-A8BC28145C4C}"/>
                    </a:ext>
                  </a:extLst>
                </p:cNvPr>
                <p:cNvSpPr txBox="1"/>
                <p:nvPr/>
              </p:nvSpPr>
              <p:spPr>
                <a:xfrm rot="16691772">
                  <a:off x="6847482" y="2223658"/>
                  <a:ext cx="118218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E" dirty="0"/>
                    <a:t>Quadratic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6FF5EAE-F7F2-82CA-324D-C431F0384BE1}"/>
                    </a:ext>
                  </a:extLst>
                </p:cNvPr>
                <p:cNvSpPr txBox="1"/>
                <p:nvPr/>
              </p:nvSpPr>
              <p:spPr>
                <a:xfrm rot="16391509">
                  <a:off x="6384367" y="2343323"/>
                  <a:ext cx="13735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E" dirty="0"/>
                    <a:t>Exponential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883AE72-DC89-C1E9-B0DD-8F47A4A3DF74}"/>
                    </a:ext>
                  </a:extLst>
                </p:cNvPr>
                <p:cNvSpPr txBox="1"/>
                <p:nvPr/>
              </p:nvSpPr>
              <p:spPr>
                <a:xfrm>
                  <a:off x="7878305" y="5751728"/>
                  <a:ext cx="216317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E" b="1" dirty="0"/>
                    <a:t>Growth of input (n)</a:t>
                  </a:r>
                </a:p>
              </p:txBody>
            </p:sp>
          </p:grp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11109CA-D1CE-7DC8-F777-2106C58B812E}"/>
                  </a:ext>
                </a:extLst>
              </p:cNvPr>
              <p:cNvSpPr txBox="1"/>
              <p:nvPr/>
            </p:nvSpPr>
            <p:spPr>
              <a:xfrm rot="16200000">
                <a:off x="4856727" y="3626394"/>
                <a:ext cx="24356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E" b="1" dirty="0"/>
                  <a:t>Number of operations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8551EAD-6C7E-0179-BF6C-E204F410856E}"/>
                </a:ext>
              </a:extLst>
            </p:cNvPr>
            <p:cNvSpPr txBox="1"/>
            <p:nvPr/>
          </p:nvSpPr>
          <p:spPr>
            <a:xfrm>
              <a:off x="10879258" y="5315732"/>
              <a:ext cx="13345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b="1" dirty="0"/>
                <a:t>Constant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1302823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 Theme" id="{060A139A-D62C-4E51-99D9-5BBA43872587}" vid="{4CEDBC7D-39AC-4B45-A5EA-87DB4DFF3D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920</TotalTime>
  <Words>1561</Words>
  <Application>Microsoft Office PowerPoint</Application>
  <PresentationFormat>Widescreen</PresentationFormat>
  <Paragraphs>196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Calibri</vt:lpstr>
      <vt:lpstr>Calibri Light</vt:lpstr>
      <vt:lpstr>Cambria Math</vt:lpstr>
      <vt:lpstr>Default Theme</vt:lpstr>
      <vt:lpstr>Algorithm Analysis</vt:lpstr>
      <vt:lpstr>Revision: Properties of an Algorithm</vt:lpstr>
      <vt:lpstr>Comparing Algorithms</vt:lpstr>
      <vt:lpstr>Comparing Algorithms with Big O</vt:lpstr>
      <vt:lpstr>Big O Analysis</vt:lpstr>
      <vt:lpstr>The Big O Simplification Rule:</vt:lpstr>
      <vt:lpstr>Common Complexity Values</vt:lpstr>
      <vt:lpstr>Basic Complexities: Fixed Complexity</vt:lpstr>
      <vt:lpstr>Basic Complexities: Linear Complexity</vt:lpstr>
      <vt:lpstr>Another Example of Linear Complexity – Linear Search</vt:lpstr>
      <vt:lpstr>Basic Complexities: Quadratic Complexity</vt:lpstr>
      <vt:lpstr>Basic Complexities: Quadratic Complexity (2)</vt:lpstr>
      <vt:lpstr>The Maths Behind the Complexity</vt:lpstr>
      <vt:lpstr>Complex Complexities: Logarithmic Complexity</vt:lpstr>
      <vt:lpstr>Logarithmic Complexity - Example</vt:lpstr>
      <vt:lpstr>Logarithmic Complexity - Example</vt:lpstr>
      <vt:lpstr>Complex Complexities: Linearithmic Complexity</vt:lpstr>
      <vt:lpstr>Complex Complexities: Exponential Complexity</vt:lpstr>
      <vt:lpstr>Comparing Complexities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Algorithms &amp;  Big O Notation</dc:title>
  <dc:creator>michelle</dc:creator>
  <cp:lastModifiedBy>Michelle Graham</cp:lastModifiedBy>
  <cp:revision>58</cp:revision>
  <dcterms:created xsi:type="dcterms:W3CDTF">2018-10-03T19:53:18Z</dcterms:created>
  <dcterms:modified xsi:type="dcterms:W3CDTF">2026-10-04T23:18:52Z</dcterms:modified>
</cp:coreProperties>
</file>